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5143500" cx="9144000"/>
  <p:notesSz cx="6858000" cy="9144000"/>
  <p:embeddedFontLst>
    <p:embeddedFont>
      <p:font typeface="Anaheim"/>
      <p:regular r:id="rId33"/>
      <p:bold r:id="rId34"/>
    </p:embeddedFont>
    <p:embeddedFont>
      <p:font typeface="Bebas Neue"/>
      <p:regular r:id="rId35"/>
    </p:embeddedFont>
    <p:embeddedFont>
      <p:font typeface="Domine"/>
      <p:regular r:id="rId36"/>
      <p:bold r:id="rId37"/>
    </p:embeddedFont>
    <p:embeddedFont>
      <p:font typeface="Albert Sans"/>
      <p:regular r:id="rId38"/>
      <p:bold r:id="rId39"/>
      <p:italic r:id="rId40"/>
      <p:boldItalic r:id="rId41"/>
    </p:embeddedFont>
    <p:embeddedFont>
      <p:font typeface="PT Sans"/>
      <p:regular r:id="rId42"/>
      <p:bold r:id="rId43"/>
      <p:italic r:id="rId44"/>
      <p:boldItalic r:id="rId45"/>
    </p:embeddedFont>
    <p:embeddedFont>
      <p:font typeface="Unbounded"/>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AlbertSans-italic.fntdata"/><Relationship Id="rId20" Type="http://schemas.openxmlformats.org/officeDocument/2006/relationships/slide" Target="slides/slide16.xml"/><Relationship Id="rId42" Type="http://schemas.openxmlformats.org/officeDocument/2006/relationships/font" Target="fonts/PTSans-regular.fntdata"/><Relationship Id="rId41" Type="http://schemas.openxmlformats.org/officeDocument/2006/relationships/font" Target="fonts/AlbertSans-boldItalic.fntdata"/><Relationship Id="rId22" Type="http://schemas.openxmlformats.org/officeDocument/2006/relationships/slide" Target="slides/slide18.xml"/><Relationship Id="rId44" Type="http://schemas.openxmlformats.org/officeDocument/2006/relationships/font" Target="fonts/PTSans-italic.fntdata"/><Relationship Id="rId21" Type="http://schemas.openxmlformats.org/officeDocument/2006/relationships/slide" Target="slides/slide17.xml"/><Relationship Id="rId43" Type="http://schemas.openxmlformats.org/officeDocument/2006/relationships/font" Target="fonts/PTSans-bold.fntdata"/><Relationship Id="rId24" Type="http://schemas.openxmlformats.org/officeDocument/2006/relationships/slide" Target="slides/slide20.xml"/><Relationship Id="rId46" Type="http://schemas.openxmlformats.org/officeDocument/2006/relationships/font" Target="fonts/Unbounded-regular.fntdata"/><Relationship Id="rId23" Type="http://schemas.openxmlformats.org/officeDocument/2006/relationships/slide" Target="slides/slide19.xml"/><Relationship Id="rId45" Type="http://schemas.openxmlformats.org/officeDocument/2006/relationships/font" Target="fonts/PTSans-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47" Type="http://schemas.openxmlformats.org/officeDocument/2006/relationships/font" Target="fonts/Unbounded-bold.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Anaheim-regular.fnt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BebasNeue-regular.fntdata"/><Relationship Id="rId12" Type="http://schemas.openxmlformats.org/officeDocument/2006/relationships/slide" Target="slides/slide8.xml"/><Relationship Id="rId34" Type="http://schemas.openxmlformats.org/officeDocument/2006/relationships/font" Target="fonts/Anaheim-bold.fntdata"/><Relationship Id="rId15" Type="http://schemas.openxmlformats.org/officeDocument/2006/relationships/slide" Target="slides/slide11.xml"/><Relationship Id="rId37" Type="http://schemas.openxmlformats.org/officeDocument/2006/relationships/font" Target="fonts/Domine-bold.fntdata"/><Relationship Id="rId14" Type="http://schemas.openxmlformats.org/officeDocument/2006/relationships/slide" Target="slides/slide10.xml"/><Relationship Id="rId36" Type="http://schemas.openxmlformats.org/officeDocument/2006/relationships/font" Target="fonts/Domine-regular.fntdata"/><Relationship Id="rId17" Type="http://schemas.openxmlformats.org/officeDocument/2006/relationships/slide" Target="slides/slide13.xml"/><Relationship Id="rId39" Type="http://schemas.openxmlformats.org/officeDocument/2006/relationships/font" Target="fonts/AlbertSans-bold.fntdata"/><Relationship Id="rId16" Type="http://schemas.openxmlformats.org/officeDocument/2006/relationships/slide" Target="slides/slide12.xml"/><Relationship Id="rId38" Type="http://schemas.openxmlformats.org/officeDocument/2006/relationships/font" Target="fonts/AlbertSans-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84d99d1a7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184d99d1a7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2a784491f5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2a784491f5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2a784491f5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2a784491f5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26464ae8d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26464ae8d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2a784491f5f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2a784491f5f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2a784491f5f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2a784491f5f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2a784491f5f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2a784491f5f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2a784491f5f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2a784491f5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2a784491f5f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2a784491f5f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2a784491f5f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2a784491f5f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2a784491f5f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2a784491f5f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2a784491f5f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2a784491f5f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184d99d1a7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184d99d1a7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2a784491f5f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2a784491f5f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2a784491f5f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2a784491f5f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2a784491f5f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2a784491f5f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2a784491f5f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2a784491f5f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184d99d1a7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184d99d1a7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54dda1946d_4_2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54dda1946d_4_2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2a784491f5f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7" name="Google Shape;887;g2a784491f5f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2a784491f5f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2a784491f5f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2a784491f5f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2a784491f5f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2a784491f5f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2a784491f5f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615375" y="937400"/>
            <a:ext cx="4976100" cy="25614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615375" y="3792375"/>
            <a:ext cx="4976100" cy="47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2"/>
          <p:cNvSpPr/>
          <p:nvPr>
            <p:ph idx="2" type="pic"/>
          </p:nvPr>
        </p:nvSpPr>
        <p:spPr>
          <a:xfrm>
            <a:off x="5972275" y="0"/>
            <a:ext cx="3171600" cy="5143500"/>
          </a:xfrm>
          <a:prstGeom prst="rect">
            <a:avLst/>
          </a:prstGeom>
          <a:noFill/>
          <a:ln>
            <a:noFill/>
          </a:ln>
        </p:spPr>
      </p:sp>
      <p:grpSp>
        <p:nvGrpSpPr>
          <p:cNvPr id="12" name="Google Shape;12;p2"/>
          <p:cNvGrpSpPr/>
          <p:nvPr/>
        </p:nvGrpSpPr>
        <p:grpSpPr>
          <a:xfrm>
            <a:off x="720000" y="294667"/>
            <a:ext cx="722516" cy="244823"/>
            <a:chOff x="3705500" y="1678600"/>
            <a:chExt cx="2458375" cy="1229650"/>
          </a:xfrm>
        </p:grpSpPr>
        <p:sp>
          <p:nvSpPr>
            <p:cNvPr id="13" name="Google Shape;13;p2"/>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 name="Google Shape;25;p2"/>
          <p:cNvGrpSpPr/>
          <p:nvPr/>
        </p:nvGrpSpPr>
        <p:grpSpPr>
          <a:xfrm>
            <a:off x="4653999" y="4336446"/>
            <a:ext cx="807124" cy="807049"/>
            <a:chOff x="-2484951" y="3375496"/>
            <a:chExt cx="807124" cy="807049"/>
          </a:xfrm>
        </p:grpSpPr>
        <p:grpSp>
          <p:nvGrpSpPr>
            <p:cNvPr id="26" name="Google Shape;26;p2"/>
            <p:cNvGrpSpPr/>
            <p:nvPr/>
          </p:nvGrpSpPr>
          <p:grpSpPr>
            <a:xfrm>
              <a:off x="-2484951" y="3375496"/>
              <a:ext cx="403560" cy="403560"/>
              <a:chOff x="-2182000" y="2460775"/>
              <a:chExt cx="1679400" cy="1679400"/>
            </a:xfrm>
          </p:grpSpPr>
          <p:sp>
            <p:nvSpPr>
              <p:cNvPr id="27" name="Google Shape;27;p2"/>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 name="Google Shape;28;p2"/>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29" name="Google Shape;29;p2"/>
            <p:cNvGrpSpPr/>
            <p:nvPr/>
          </p:nvGrpSpPr>
          <p:grpSpPr>
            <a:xfrm>
              <a:off x="-2081387" y="3375496"/>
              <a:ext cx="403560" cy="403560"/>
              <a:chOff x="-2182000" y="2460775"/>
              <a:chExt cx="1679400" cy="1679400"/>
            </a:xfrm>
          </p:grpSpPr>
          <p:sp>
            <p:nvSpPr>
              <p:cNvPr id="30" name="Google Shape;30;p2"/>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 name="Google Shape;31;p2"/>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32" name="Google Shape;32;p2"/>
            <p:cNvGrpSpPr/>
            <p:nvPr/>
          </p:nvGrpSpPr>
          <p:grpSpPr>
            <a:xfrm>
              <a:off x="-2484951" y="3778985"/>
              <a:ext cx="403560" cy="403560"/>
              <a:chOff x="-2182000" y="2460775"/>
              <a:chExt cx="1679400" cy="1679400"/>
            </a:xfrm>
          </p:grpSpPr>
          <p:sp>
            <p:nvSpPr>
              <p:cNvPr id="33" name="Google Shape;33;p2"/>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 name="Google Shape;34;p2"/>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35" name="Google Shape;35;p2"/>
            <p:cNvGrpSpPr/>
            <p:nvPr/>
          </p:nvGrpSpPr>
          <p:grpSpPr>
            <a:xfrm>
              <a:off x="-2081387" y="3778985"/>
              <a:ext cx="403560" cy="403560"/>
              <a:chOff x="-2182000" y="2460775"/>
              <a:chExt cx="1679400" cy="1679400"/>
            </a:xfrm>
          </p:grpSpPr>
          <p:sp>
            <p:nvSpPr>
              <p:cNvPr id="36" name="Google Shape;36;p2"/>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 name="Google Shape;37;p2"/>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sp>
        <p:nvSpPr>
          <p:cNvPr id="38" name="Google Shape;38;p2"/>
          <p:cNvSpPr/>
          <p:nvPr/>
        </p:nvSpPr>
        <p:spPr>
          <a:xfrm>
            <a:off x="-1" y="365344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3"/>
          <p:cNvSpPr txBox="1"/>
          <p:nvPr>
            <p:ph type="title"/>
          </p:nvPr>
        </p:nvSpPr>
        <p:spPr>
          <a:xfrm>
            <a:off x="4047175" y="2018850"/>
            <a:ext cx="4383600" cy="1680300"/>
          </a:xfrm>
          <a:prstGeom prst="rect">
            <a:avLst/>
          </a:prstGeom>
        </p:spPr>
        <p:txBody>
          <a:bodyPr anchorCtr="0" anchor="b" bIns="91425" lIns="91425" spcFirstLastPara="1" rIns="91425" wrap="square" tIns="91425">
            <a:noAutofit/>
          </a:bodyPr>
          <a:lstStyle>
            <a:lvl1pPr lvl="0" algn="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1" name="Google Shape;41;p3"/>
          <p:cNvSpPr txBox="1"/>
          <p:nvPr>
            <p:ph hasCustomPrompt="1" idx="2" type="title"/>
          </p:nvPr>
        </p:nvSpPr>
        <p:spPr>
          <a:xfrm>
            <a:off x="6832075" y="775850"/>
            <a:ext cx="1598700" cy="8418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6000">
                <a:solidFill>
                  <a:schemeClr val="accent1"/>
                </a:solidFill>
                <a:highlight>
                  <a:schemeClr val="dk1"/>
                </a:highlight>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2" name="Google Shape;42;p3"/>
          <p:cNvSpPr/>
          <p:nvPr>
            <p:ph idx="3" type="pic"/>
          </p:nvPr>
        </p:nvSpPr>
        <p:spPr>
          <a:xfrm>
            <a:off x="0" y="0"/>
            <a:ext cx="3171600" cy="5143500"/>
          </a:xfrm>
          <a:prstGeom prst="rect">
            <a:avLst/>
          </a:prstGeom>
          <a:noFill/>
          <a:ln>
            <a:noFill/>
          </a:ln>
        </p:spPr>
      </p:sp>
      <p:sp>
        <p:nvSpPr>
          <p:cNvPr id="43" name="Google Shape;43;p3"/>
          <p:cNvSpPr/>
          <p:nvPr/>
        </p:nvSpPr>
        <p:spPr>
          <a:xfrm flipH="1">
            <a:off x="7701086" y="365344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4" name="Shape 44"/>
        <p:cNvGrpSpPr/>
        <p:nvPr/>
      </p:nvGrpSpPr>
      <p:grpSpPr>
        <a:xfrm>
          <a:off x="0" y="0"/>
          <a:ext cx="0" cy="0"/>
          <a:chOff x="0" y="0"/>
          <a:chExt cx="0" cy="0"/>
        </a:xfrm>
      </p:grpSpPr>
      <p:sp>
        <p:nvSpPr>
          <p:cNvPr id="45" name="Google Shape;45;p4"/>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46" name="Google Shape;46;p4"/>
          <p:cNvSpPr txBox="1"/>
          <p:nvPr>
            <p:ph idx="1" type="body"/>
          </p:nvPr>
        </p:nvSpPr>
        <p:spPr>
          <a:xfrm>
            <a:off x="720000" y="1215751"/>
            <a:ext cx="7704000" cy="4632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47" name="Google Shape;47;p4"/>
          <p:cNvSpPr/>
          <p:nvPr/>
        </p:nvSpPr>
        <p:spPr>
          <a:xfrm>
            <a:off x="-1228100" y="-28975"/>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7701086" y="365344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4"/>
          <p:cNvGrpSpPr/>
          <p:nvPr/>
        </p:nvGrpSpPr>
        <p:grpSpPr>
          <a:xfrm>
            <a:off x="720000" y="4603992"/>
            <a:ext cx="722516" cy="244823"/>
            <a:chOff x="3705500" y="1678600"/>
            <a:chExt cx="2458375" cy="1229650"/>
          </a:xfrm>
        </p:grpSpPr>
        <p:sp>
          <p:nvSpPr>
            <p:cNvPr id="50" name="Google Shape;50;p4"/>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5"/>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64" name="Google Shape;64;p5"/>
          <p:cNvSpPr txBox="1"/>
          <p:nvPr>
            <p:ph idx="1" type="subTitle"/>
          </p:nvPr>
        </p:nvSpPr>
        <p:spPr>
          <a:xfrm>
            <a:off x="4987830" y="3059679"/>
            <a:ext cx="2968500" cy="1251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5" name="Google Shape;65;p5"/>
          <p:cNvSpPr txBox="1"/>
          <p:nvPr>
            <p:ph idx="2" type="subTitle"/>
          </p:nvPr>
        </p:nvSpPr>
        <p:spPr>
          <a:xfrm>
            <a:off x="1187675" y="3059679"/>
            <a:ext cx="2968500" cy="1251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6" name="Google Shape;66;p5"/>
          <p:cNvSpPr txBox="1"/>
          <p:nvPr>
            <p:ph idx="3" type="subTitle"/>
          </p:nvPr>
        </p:nvSpPr>
        <p:spPr>
          <a:xfrm>
            <a:off x="1187675" y="2535075"/>
            <a:ext cx="2968500" cy="415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7" name="Google Shape;67;p5"/>
          <p:cNvSpPr txBox="1"/>
          <p:nvPr>
            <p:ph idx="4" type="subTitle"/>
          </p:nvPr>
        </p:nvSpPr>
        <p:spPr>
          <a:xfrm>
            <a:off x="4987830" y="2535075"/>
            <a:ext cx="2968500" cy="415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8" name="Google Shape;68;p5"/>
          <p:cNvSpPr/>
          <p:nvPr/>
        </p:nvSpPr>
        <p:spPr>
          <a:xfrm>
            <a:off x="-1" y="365344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 name="Google Shape;69;p5"/>
          <p:cNvGrpSpPr/>
          <p:nvPr/>
        </p:nvGrpSpPr>
        <p:grpSpPr>
          <a:xfrm>
            <a:off x="7708250" y="4603992"/>
            <a:ext cx="722516" cy="244823"/>
            <a:chOff x="3705500" y="1678600"/>
            <a:chExt cx="2458375" cy="1229650"/>
          </a:xfrm>
        </p:grpSpPr>
        <p:sp>
          <p:nvSpPr>
            <p:cNvPr id="70" name="Google Shape;70;p5"/>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 name="Google Shape;82;p5"/>
          <p:cNvSpPr/>
          <p:nvPr/>
        </p:nvSpPr>
        <p:spPr>
          <a:xfrm>
            <a:off x="6095925" y="-1133600"/>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sp>
        <p:nvSpPr>
          <p:cNvPr id="84" name="Google Shape;84;p6"/>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85" name="Google Shape;85;p6"/>
          <p:cNvSpPr/>
          <p:nvPr/>
        </p:nvSpPr>
        <p:spPr>
          <a:xfrm flipH="1">
            <a:off x="7701086" y="365344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1228100" y="521225"/>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 name="Google Shape;87;p6"/>
          <p:cNvGrpSpPr/>
          <p:nvPr/>
        </p:nvGrpSpPr>
        <p:grpSpPr>
          <a:xfrm>
            <a:off x="720000" y="4745267"/>
            <a:ext cx="722516" cy="244823"/>
            <a:chOff x="3705500" y="1678600"/>
            <a:chExt cx="2458375" cy="1229650"/>
          </a:xfrm>
        </p:grpSpPr>
        <p:sp>
          <p:nvSpPr>
            <p:cNvPr id="88" name="Google Shape;88;p6"/>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6"/>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0" name="Shape 100"/>
        <p:cNvGrpSpPr/>
        <p:nvPr/>
      </p:nvGrpSpPr>
      <p:grpSpPr>
        <a:xfrm>
          <a:off x="0" y="0"/>
          <a:ext cx="0" cy="0"/>
          <a:chOff x="0" y="0"/>
          <a:chExt cx="0" cy="0"/>
        </a:xfrm>
      </p:grpSpPr>
      <p:sp>
        <p:nvSpPr>
          <p:cNvPr id="101" name="Google Shape;101;p7"/>
          <p:cNvSpPr txBox="1"/>
          <p:nvPr>
            <p:ph type="title"/>
          </p:nvPr>
        </p:nvSpPr>
        <p:spPr>
          <a:xfrm>
            <a:off x="713225" y="517671"/>
            <a:ext cx="2598900" cy="1136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102" name="Google Shape;102;p7"/>
          <p:cNvSpPr txBox="1"/>
          <p:nvPr>
            <p:ph idx="1" type="subTitle"/>
          </p:nvPr>
        </p:nvSpPr>
        <p:spPr>
          <a:xfrm>
            <a:off x="713225" y="1770548"/>
            <a:ext cx="4160400" cy="17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Source Sans Pro"/>
              <a:buChar char="●"/>
              <a:defRPr/>
            </a:lvl1pPr>
            <a:lvl2pPr lvl="1" rtl="0" algn="ctr">
              <a:lnSpc>
                <a:spcPct val="100000"/>
              </a:lnSpc>
              <a:spcBef>
                <a:spcPts val="0"/>
              </a:spcBef>
              <a:spcAft>
                <a:spcPts val="0"/>
              </a:spcAft>
              <a:buClr>
                <a:srgbClr val="E76A28"/>
              </a:buClr>
              <a:buSzPts val="1200"/>
              <a:buFont typeface="Nunito Light"/>
              <a:buChar char="○"/>
              <a:defRPr/>
            </a:lvl2pPr>
            <a:lvl3pPr lvl="2" rtl="0" algn="ctr">
              <a:lnSpc>
                <a:spcPct val="100000"/>
              </a:lnSpc>
              <a:spcBef>
                <a:spcPts val="1600"/>
              </a:spcBef>
              <a:spcAft>
                <a:spcPts val="0"/>
              </a:spcAft>
              <a:buClr>
                <a:srgbClr val="E76A28"/>
              </a:buClr>
              <a:buSzPts val="1200"/>
              <a:buFont typeface="Nunito Light"/>
              <a:buChar char="■"/>
              <a:defRPr/>
            </a:lvl3pPr>
            <a:lvl4pPr lvl="3" rtl="0" algn="ctr">
              <a:lnSpc>
                <a:spcPct val="100000"/>
              </a:lnSpc>
              <a:spcBef>
                <a:spcPts val="1600"/>
              </a:spcBef>
              <a:spcAft>
                <a:spcPts val="0"/>
              </a:spcAft>
              <a:buClr>
                <a:srgbClr val="E76A28"/>
              </a:buClr>
              <a:buSzPts val="1200"/>
              <a:buFont typeface="Nunito Light"/>
              <a:buChar char="●"/>
              <a:defRPr/>
            </a:lvl4pPr>
            <a:lvl5pPr lvl="4" rtl="0" algn="ctr">
              <a:lnSpc>
                <a:spcPct val="100000"/>
              </a:lnSpc>
              <a:spcBef>
                <a:spcPts val="1600"/>
              </a:spcBef>
              <a:spcAft>
                <a:spcPts val="0"/>
              </a:spcAft>
              <a:buClr>
                <a:srgbClr val="E76A28"/>
              </a:buClr>
              <a:buSzPts val="1200"/>
              <a:buFont typeface="Nunito Light"/>
              <a:buChar char="○"/>
              <a:defRPr/>
            </a:lvl5pPr>
            <a:lvl6pPr lvl="5" rtl="0" algn="ctr">
              <a:lnSpc>
                <a:spcPct val="100000"/>
              </a:lnSpc>
              <a:spcBef>
                <a:spcPts val="1600"/>
              </a:spcBef>
              <a:spcAft>
                <a:spcPts val="0"/>
              </a:spcAft>
              <a:buClr>
                <a:srgbClr val="999999"/>
              </a:buClr>
              <a:buSzPts val="1200"/>
              <a:buFont typeface="Nunito Light"/>
              <a:buChar char="■"/>
              <a:defRPr/>
            </a:lvl6pPr>
            <a:lvl7pPr lvl="6" rtl="0" algn="ctr">
              <a:lnSpc>
                <a:spcPct val="100000"/>
              </a:lnSpc>
              <a:spcBef>
                <a:spcPts val="1600"/>
              </a:spcBef>
              <a:spcAft>
                <a:spcPts val="0"/>
              </a:spcAft>
              <a:buClr>
                <a:srgbClr val="999999"/>
              </a:buClr>
              <a:buSzPts val="1200"/>
              <a:buFont typeface="Nunito Light"/>
              <a:buChar char="●"/>
              <a:defRPr/>
            </a:lvl7pPr>
            <a:lvl8pPr lvl="7" rtl="0" algn="ctr">
              <a:lnSpc>
                <a:spcPct val="100000"/>
              </a:lnSpc>
              <a:spcBef>
                <a:spcPts val="1600"/>
              </a:spcBef>
              <a:spcAft>
                <a:spcPts val="0"/>
              </a:spcAft>
              <a:buClr>
                <a:srgbClr val="999999"/>
              </a:buClr>
              <a:buSzPts val="1200"/>
              <a:buFont typeface="Nunito Light"/>
              <a:buChar char="○"/>
              <a:defRPr/>
            </a:lvl8pPr>
            <a:lvl9pPr lvl="8" rtl="0" algn="ctr">
              <a:lnSpc>
                <a:spcPct val="100000"/>
              </a:lnSpc>
              <a:spcBef>
                <a:spcPts val="1600"/>
              </a:spcBef>
              <a:spcAft>
                <a:spcPts val="1600"/>
              </a:spcAft>
              <a:buClr>
                <a:srgbClr val="999999"/>
              </a:buClr>
              <a:buSzPts val="1200"/>
              <a:buFont typeface="Nunito Light"/>
              <a:buChar char="■"/>
              <a:defRPr/>
            </a:lvl9pPr>
          </a:lstStyle>
          <a:p/>
        </p:txBody>
      </p:sp>
      <p:sp>
        <p:nvSpPr>
          <p:cNvPr id="103" name="Google Shape;103;p7"/>
          <p:cNvSpPr/>
          <p:nvPr>
            <p:ph idx="2" type="pic"/>
          </p:nvPr>
        </p:nvSpPr>
        <p:spPr>
          <a:xfrm>
            <a:off x="5972275" y="0"/>
            <a:ext cx="3171600" cy="5143500"/>
          </a:xfrm>
          <a:prstGeom prst="rect">
            <a:avLst/>
          </a:prstGeom>
          <a:noFill/>
          <a:ln>
            <a:noFill/>
          </a:ln>
        </p:spPr>
      </p:sp>
      <p:sp>
        <p:nvSpPr>
          <p:cNvPr id="104" name="Google Shape;104;p7"/>
          <p:cNvSpPr/>
          <p:nvPr/>
        </p:nvSpPr>
        <p:spPr>
          <a:xfrm>
            <a:off x="-1" y="365344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 name="Google Shape;105;p7"/>
          <p:cNvGrpSpPr/>
          <p:nvPr/>
        </p:nvGrpSpPr>
        <p:grpSpPr>
          <a:xfrm>
            <a:off x="4738600" y="294667"/>
            <a:ext cx="722516" cy="244823"/>
            <a:chOff x="3705500" y="1678600"/>
            <a:chExt cx="2458375" cy="1229650"/>
          </a:xfrm>
        </p:grpSpPr>
        <p:sp>
          <p:nvSpPr>
            <p:cNvPr id="106" name="Google Shape;106;p7"/>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7"/>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8" name="Shape 118"/>
        <p:cNvGrpSpPr/>
        <p:nvPr/>
      </p:nvGrpSpPr>
      <p:grpSpPr>
        <a:xfrm>
          <a:off x="0" y="0"/>
          <a:ext cx="0" cy="0"/>
          <a:chOff x="0" y="0"/>
          <a:chExt cx="0" cy="0"/>
        </a:xfrm>
      </p:grpSpPr>
      <p:sp>
        <p:nvSpPr>
          <p:cNvPr id="119" name="Google Shape;119;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20" name="Google Shape;120;p8"/>
          <p:cNvSpPr/>
          <p:nvPr/>
        </p:nvSpPr>
        <p:spPr>
          <a:xfrm>
            <a:off x="6992775" y="4538650"/>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a:off x="-1" y="365344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rot="10800000">
            <a:off x="7684636" y="8"/>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 name="Google Shape;123;p8"/>
          <p:cNvGrpSpPr/>
          <p:nvPr/>
        </p:nvGrpSpPr>
        <p:grpSpPr>
          <a:xfrm>
            <a:off x="720000" y="294667"/>
            <a:ext cx="722516" cy="244823"/>
            <a:chOff x="3705500" y="1678600"/>
            <a:chExt cx="2458375" cy="1229650"/>
          </a:xfrm>
        </p:grpSpPr>
        <p:sp>
          <p:nvSpPr>
            <p:cNvPr id="124" name="Google Shape;124;p8"/>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6" name="Shape 136"/>
        <p:cNvGrpSpPr/>
        <p:nvPr/>
      </p:nvGrpSpPr>
      <p:grpSpPr>
        <a:xfrm>
          <a:off x="0" y="0"/>
          <a:ext cx="0" cy="0"/>
          <a:chOff x="0" y="0"/>
          <a:chExt cx="0" cy="0"/>
        </a:xfrm>
      </p:grpSpPr>
      <p:sp>
        <p:nvSpPr>
          <p:cNvPr id="137" name="Google Shape;137;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15000"/>
            </a:lvl1pPr>
            <a:lvl2pPr lvl="1" rtl="0" algn="ctr">
              <a:spcBef>
                <a:spcPts val="0"/>
              </a:spcBef>
              <a:spcAft>
                <a:spcPts val="0"/>
              </a:spcAft>
              <a:buSzPts val="2500"/>
              <a:buNone/>
              <a:defRPr/>
            </a:lvl2pPr>
            <a:lvl3pPr lvl="2" rtl="0" algn="ctr">
              <a:spcBef>
                <a:spcPts val="0"/>
              </a:spcBef>
              <a:spcAft>
                <a:spcPts val="0"/>
              </a:spcAft>
              <a:buSzPts val="2500"/>
              <a:buNone/>
              <a:defRPr/>
            </a:lvl3pPr>
            <a:lvl4pPr lvl="3" rtl="0" algn="ctr">
              <a:spcBef>
                <a:spcPts val="0"/>
              </a:spcBef>
              <a:spcAft>
                <a:spcPts val="0"/>
              </a:spcAft>
              <a:buSzPts val="2500"/>
              <a:buNone/>
              <a:defRPr/>
            </a:lvl4pPr>
            <a:lvl5pPr lvl="4" rtl="0" algn="ctr">
              <a:spcBef>
                <a:spcPts val="0"/>
              </a:spcBef>
              <a:spcAft>
                <a:spcPts val="0"/>
              </a:spcAft>
              <a:buSzPts val="2500"/>
              <a:buNone/>
              <a:defRPr/>
            </a:lvl5pPr>
            <a:lvl6pPr lvl="5" rtl="0" algn="ctr">
              <a:spcBef>
                <a:spcPts val="0"/>
              </a:spcBef>
              <a:spcAft>
                <a:spcPts val="0"/>
              </a:spcAft>
              <a:buSzPts val="2500"/>
              <a:buNone/>
              <a:defRPr/>
            </a:lvl6pPr>
            <a:lvl7pPr lvl="6" rtl="0" algn="ctr">
              <a:spcBef>
                <a:spcPts val="0"/>
              </a:spcBef>
              <a:spcAft>
                <a:spcPts val="0"/>
              </a:spcAft>
              <a:buSzPts val="2500"/>
              <a:buNone/>
              <a:defRPr/>
            </a:lvl7pPr>
            <a:lvl8pPr lvl="7" rtl="0" algn="ctr">
              <a:spcBef>
                <a:spcPts val="0"/>
              </a:spcBef>
              <a:spcAft>
                <a:spcPts val="0"/>
              </a:spcAft>
              <a:buSzPts val="2500"/>
              <a:buNone/>
              <a:defRPr/>
            </a:lvl8pPr>
            <a:lvl9pPr lvl="8" rtl="0" algn="ctr">
              <a:spcBef>
                <a:spcPts val="0"/>
              </a:spcBef>
              <a:spcAft>
                <a:spcPts val="0"/>
              </a:spcAft>
              <a:buSzPts val="2500"/>
              <a:buNone/>
              <a:defRPr/>
            </a:lvl9pPr>
          </a:lstStyle>
          <a:p/>
        </p:txBody>
      </p:sp>
      <p:sp>
        <p:nvSpPr>
          <p:cNvPr id="138" name="Google Shape;138;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39" name="Google Shape;139;p9"/>
          <p:cNvSpPr/>
          <p:nvPr/>
        </p:nvSpPr>
        <p:spPr>
          <a:xfrm flipH="1">
            <a:off x="478127" y="4538650"/>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
          <p:cNvSpPr/>
          <p:nvPr/>
        </p:nvSpPr>
        <p:spPr>
          <a:xfrm flipH="1">
            <a:off x="7684636" y="365344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
          <p:cNvSpPr/>
          <p:nvPr/>
        </p:nvSpPr>
        <p:spPr>
          <a:xfrm flipH="1" rot="10800000">
            <a:off x="-1" y="8"/>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 name="Google Shape;142;p9"/>
          <p:cNvGrpSpPr/>
          <p:nvPr/>
        </p:nvGrpSpPr>
        <p:grpSpPr>
          <a:xfrm flipH="1">
            <a:off x="7701486" y="294667"/>
            <a:ext cx="722516" cy="244823"/>
            <a:chOff x="3705500" y="1678600"/>
            <a:chExt cx="2458375" cy="1229650"/>
          </a:xfrm>
        </p:grpSpPr>
        <p:sp>
          <p:nvSpPr>
            <p:cNvPr id="143" name="Google Shape;143;p9"/>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9"/>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9"/>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9"/>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9"/>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9"/>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9"/>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5" name="Shape 155"/>
        <p:cNvGrpSpPr/>
        <p:nvPr/>
      </p:nvGrpSpPr>
      <p:grpSpPr>
        <a:xfrm>
          <a:off x="0" y="0"/>
          <a:ext cx="0" cy="0"/>
          <a:chOff x="0" y="0"/>
          <a:chExt cx="0" cy="0"/>
        </a:xfrm>
      </p:grpSpPr>
      <p:sp>
        <p:nvSpPr>
          <p:cNvPr id="156" name="Google Shape;156;p10"/>
          <p:cNvSpPr txBox="1"/>
          <p:nvPr>
            <p:ph type="title"/>
          </p:nvPr>
        </p:nvSpPr>
        <p:spPr>
          <a:xfrm>
            <a:off x="720000" y="4014450"/>
            <a:ext cx="7704000" cy="5727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2500"/>
              <a:buNone/>
              <a:defRPr/>
            </a:lvl1pPr>
            <a:lvl2pPr lvl="1" rtl="0" algn="ctr">
              <a:spcBef>
                <a:spcPts val="0"/>
              </a:spcBef>
              <a:spcAft>
                <a:spcPts val="0"/>
              </a:spcAft>
              <a:buSzPts val="2500"/>
              <a:buNone/>
              <a:defRPr/>
            </a:lvl2pPr>
            <a:lvl3pPr lvl="2" rtl="0" algn="ctr">
              <a:spcBef>
                <a:spcPts val="0"/>
              </a:spcBef>
              <a:spcAft>
                <a:spcPts val="0"/>
              </a:spcAft>
              <a:buSzPts val="2500"/>
              <a:buNone/>
              <a:defRPr/>
            </a:lvl3pPr>
            <a:lvl4pPr lvl="3" rtl="0" algn="ctr">
              <a:spcBef>
                <a:spcPts val="0"/>
              </a:spcBef>
              <a:spcAft>
                <a:spcPts val="0"/>
              </a:spcAft>
              <a:buSzPts val="2500"/>
              <a:buNone/>
              <a:defRPr/>
            </a:lvl4pPr>
            <a:lvl5pPr lvl="4" rtl="0" algn="ctr">
              <a:spcBef>
                <a:spcPts val="0"/>
              </a:spcBef>
              <a:spcAft>
                <a:spcPts val="0"/>
              </a:spcAft>
              <a:buSzPts val="2500"/>
              <a:buNone/>
              <a:defRPr/>
            </a:lvl5pPr>
            <a:lvl6pPr lvl="5" rtl="0" algn="ctr">
              <a:spcBef>
                <a:spcPts val="0"/>
              </a:spcBef>
              <a:spcAft>
                <a:spcPts val="0"/>
              </a:spcAft>
              <a:buSzPts val="2500"/>
              <a:buNone/>
              <a:defRPr/>
            </a:lvl6pPr>
            <a:lvl7pPr lvl="6" rtl="0" algn="ctr">
              <a:spcBef>
                <a:spcPts val="0"/>
              </a:spcBef>
              <a:spcAft>
                <a:spcPts val="0"/>
              </a:spcAft>
              <a:buSzPts val="2500"/>
              <a:buNone/>
              <a:defRPr/>
            </a:lvl7pPr>
            <a:lvl8pPr lvl="7" rtl="0" algn="ctr">
              <a:spcBef>
                <a:spcPts val="0"/>
              </a:spcBef>
              <a:spcAft>
                <a:spcPts val="0"/>
              </a:spcAft>
              <a:buSzPts val="2500"/>
              <a:buNone/>
              <a:defRPr/>
            </a:lvl8pPr>
            <a:lvl9pPr lvl="8" rtl="0" algn="ctr">
              <a:spcBef>
                <a:spcPts val="0"/>
              </a:spcBef>
              <a:spcAft>
                <a:spcPts val="0"/>
              </a:spcAft>
              <a:buSzPts val="2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7" name="Shape 157"/>
        <p:cNvGrpSpPr/>
        <p:nvPr/>
      </p:nvGrpSpPr>
      <p:grpSpPr>
        <a:xfrm>
          <a:off x="0" y="0"/>
          <a:ext cx="0" cy="0"/>
          <a:chOff x="0" y="0"/>
          <a:chExt cx="0" cy="0"/>
        </a:xfrm>
      </p:grpSpPr>
      <p:sp>
        <p:nvSpPr>
          <p:cNvPr id="158" name="Google Shape;158;p11"/>
          <p:cNvSpPr txBox="1"/>
          <p:nvPr>
            <p:ph hasCustomPrompt="1" type="title"/>
          </p:nvPr>
        </p:nvSpPr>
        <p:spPr>
          <a:xfrm>
            <a:off x="1284000" y="1761075"/>
            <a:ext cx="6576000" cy="10167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4600">
                <a:highlight>
                  <a:schemeClr val="accent1"/>
                </a:highlight>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59" name="Google Shape;159;p11"/>
          <p:cNvSpPr txBox="1"/>
          <p:nvPr>
            <p:ph idx="1" type="subTitle"/>
          </p:nvPr>
        </p:nvSpPr>
        <p:spPr>
          <a:xfrm>
            <a:off x="1284000" y="3084925"/>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grpSp>
        <p:nvGrpSpPr>
          <p:cNvPr id="160" name="Google Shape;160;p11"/>
          <p:cNvGrpSpPr/>
          <p:nvPr/>
        </p:nvGrpSpPr>
        <p:grpSpPr>
          <a:xfrm>
            <a:off x="720000" y="294667"/>
            <a:ext cx="722516" cy="244823"/>
            <a:chOff x="3705500" y="1678600"/>
            <a:chExt cx="2458375" cy="1229650"/>
          </a:xfrm>
        </p:grpSpPr>
        <p:sp>
          <p:nvSpPr>
            <p:cNvPr id="161" name="Google Shape;161;p11"/>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1"/>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1"/>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1"/>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1"/>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3" name="Google Shape;173;p11"/>
          <p:cNvSpPr/>
          <p:nvPr/>
        </p:nvSpPr>
        <p:spPr>
          <a:xfrm rot="10800000">
            <a:off x="7701086" y="8"/>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1"/>
          <p:cNvSpPr/>
          <p:nvPr/>
        </p:nvSpPr>
        <p:spPr>
          <a:xfrm>
            <a:off x="6992775" y="4538650"/>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1"/>
          <p:cNvSpPr/>
          <p:nvPr/>
        </p:nvSpPr>
        <p:spPr>
          <a:xfrm>
            <a:off x="-1" y="365344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76" name="Shape 17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77" name="Shape 177"/>
        <p:cNvGrpSpPr/>
        <p:nvPr/>
      </p:nvGrpSpPr>
      <p:grpSpPr>
        <a:xfrm>
          <a:off x="0" y="0"/>
          <a:ext cx="0" cy="0"/>
          <a:chOff x="0" y="0"/>
          <a:chExt cx="0" cy="0"/>
        </a:xfrm>
      </p:grpSpPr>
      <p:sp>
        <p:nvSpPr>
          <p:cNvPr id="178" name="Google Shape;178;p13"/>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179" name="Google Shape;179;p13"/>
          <p:cNvSpPr txBox="1"/>
          <p:nvPr>
            <p:ph hasCustomPrompt="1" idx="2" type="title"/>
          </p:nvPr>
        </p:nvSpPr>
        <p:spPr>
          <a:xfrm>
            <a:off x="818400" y="1404675"/>
            <a:ext cx="9888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accent1"/>
                </a:solidFill>
                <a:highlight>
                  <a:schemeClr val="dk1"/>
                </a:high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0" name="Google Shape;180;p13"/>
          <p:cNvSpPr txBox="1"/>
          <p:nvPr>
            <p:ph hasCustomPrompt="1" idx="3" type="title"/>
          </p:nvPr>
        </p:nvSpPr>
        <p:spPr>
          <a:xfrm>
            <a:off x="818400" y="3131774"/>
            <a:ext cx="9888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accent1"/>
                </a:solidFill>
                <a:highlight>
                  <a:schemeClr val="dk1"/>
                </a:high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1" name="Google Shape;181;p13"/>
          <p:cNvSpPr txBox="1"/>
          <p:nvPr>
            <p:ph hasCustomPrompt="1" idx="4" type="title"/>
          </p:nvPr>
        </p:nvSpPr>
        <p:spPr>
          <a:xfrm>
            <a:off x="3517674" y="1404675"/>
            <a:ext cx="9888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accent1"/>
                </a:solidFill>
                <a:highlight>
                  <a:schemeClr val="dk1"/>
                </a:high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2" name="Google Shape;182;p13"/>
          <p:cNvSpPr txBox="1"/>
          <p:nvPr>
            <p:ph hasCustomPrompt="1" idx="5" type="title"/>
          </p:nvPr>
        </p:nvSpPr>
        <p:spPr>
          <a:xfrm>
            <a:off x="3517674" y="3131771"/>
            <a:ext cx="9888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accent1"/>
                </a:solidFill>
                <a:highlight>
                  <a:schemeClr val="dk1"/>
                </a:high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3" name="Google Shape;183;p13"/>
          <p:cNvSpPr txBox="1"/>
          <p:nvPr>
            <p:ph hasCustomPrompt="1" idx="6" type="title"/>
          </p:nvPr>
        </p:nvSpPr>
        <p:spPr>
          <a:xfrm>
            <a:off x="6216949" y="1404675"/>
            <a:ext cx="9888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accent1"/>
                </a:solidFill>
                <a:highlight>
                  <a:schemeClr val="dk1"/>
                </a:high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4" name="Google Shape;184;p13"/>
          <p:cNvSpPr txBox="1"/>
          <p:nvPr>
            <p:ph hasCustomPrompt="1" idx="7" type="title"/>
          </p:nvPr>
        </p:nvSpPr>
        <p:spPr>
          <a:xfrm>
            <a:off x="6216949" y="3131771"/>
            <a:ext cx="9888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accent1"/>
                </a:solidFill>
                <a:highlight>
                  <a:schemeClr val="dk1"/>
                </a:high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5" name="Google Shape;185;p13"/>
          <p:cNvSpPr txBox="1"/>
          <p:nvPr>
            <p:ph idx="1" type="subTitle"/>
          </p:nvPr>
        </p:nvSpPr>
        <p:spPr>
          <a:xfrm>
            <a:off x="720000" y="2192675"/>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6" name="Google Shape;186;p13"/>
          <p:cNvSpPr txBox="1"/>
          <p:nvPr>
            <p:ph idx="8" type="subTitle"/>
          </p:nvPr>
        </p:nvSpPr>
        <p:spPr>
          <a:xfrm>
            <a:off x="3419275" y="2192675"/>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7" name="Google Shape;187;p13"/>
          <p:cNvSpPr txBox="1"/>
          <p:nvPr>
            <p:ph idx="9" type="subTitle"/>
          </p:nvPr>
        </p:nvSpPr>
        <p:spPr>
          <a:xfrm>
            <a:off x="6118550" y="2192675"/>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8" name="Google Shape;188;p13"/>
          <p:cNvSpPr txBox="1"/>
          <p:nvPr>
            <p:ph idx="13" type="subTitle"/>
          </p:nvPr>
        </p:nvSpPr>
        <p:spPr>
          <a:xfrm>
            <a:off x="720000" y="3919825"/>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9" name="Google Shape;189;p13"/>
          <p:cNvSpPr txBox="1"/>
          <p:nvPr>
            <p:ph idx="14" type="subTitle"/>
          </p:nvPr>
        </p:nvSpPr>
        <p:spPr>
          <a:xfrm>
            <a:off x="3419275" y="3919825"/>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0" name="Google Shape;190;p13"/>
          <p:cNvSpPr txBox="1"/>
          <p:nvPr>
            <p:ph idx="15" type="subTitle"/>
          </p:nvPr>
        </p:nvSpPr>
        <p:spPr>
          <a:xfrm>
            <a:off x="6118550" y="3919825"/>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1" name="Google Shape;191;p13"/>
          <p:cNvSpPr/>
          <p:nvPr/>
        </p:nvSpPr>
        <p:spPr>
          <a:xfrm rot="10800000">
            <a:off x="7701086" y="-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2" name="Google Shape;192;p13"/>
          <p:cNvGrpSpPr/>
          <p:nvPr/>
        </p:nvGrpSpPr>
        <p:grpSpPr>
          <a:xfrm>
            <a:off x="720000" y="4603992"/>
            <a:ext cx="722516" cy="244823"/>
            <a:chOff x="3705500" y="1678600"/>
            <a:chExt cx="2458375" cy="1229650"/>
          </a:xfrm>
        </p:grpSpPr>
        <p:sp>
          <p:nvSpPr>
            <p:cNvPr id="193" name="Google Shape;193;p13"/>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3"/>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3"/>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3"/>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3"/>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3"/>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3"/>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3"/>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3"/>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3"/>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3"/>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3"/>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5" name="Google Shape;205;p13"/>
          <p:cNvSpPr/>
          <p:nvPr/>
        </p:nvSpPr>
        <p:spPr>
          <a:xfrm>
            <a:off x="6757675" y="4604000"/>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06" name="Shape 206"/>
        <p:cNvGrpSpPr/>
        <p:nvPr/>
      </p:nvGrpSpPr>
      <p:grpSpPr>
        <a:xfrm>
          <a:off x="0" y="0"/>
          <a:ext cx="0" cy="0"/>
          <a:chOff x="0" y="0"/>
          <a:chExt cx="0" cy="0"/>
        </a:xfrm>
      </p:grpSpPr>
      <p:sp>
        <p:nvSpPr>
          <p:cNvPr id="207" name="Google Shape;207;p14"/>
          <p:cNvSpPr txBox="1"/>
          <p:nvPr>
            <p:ph type="title"/>
          </p:nvPr>
        </p:nvSpPr>
        <p:spPr>
          <a:xfrm>
            <a:off x="713150" y="3506875"/>
            <a:ext cx="4671600" cy="510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208" name="Google Shape;208;p14"/>
          <p:cNvSpPr txBox="1"/>
          <p:nvPr>
            <p:ph idx="1" type="subTitle"/>
          </p:nvPr>
        </p:nvSpPr>
        <p:spPr>
          <a:xfrm>
            <a:off x="713225" y="1304925"/>
            <a:ext cx="4671600" cy="204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3000"/>
              <a:buNone/>
              <a:defRPr sz="29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sp>
        <p:nvSpPr>
          <p:cNvPr id="209" name="Google Shape;209;p14"/>
          <p:cNvSpPr/>
          <p:nvPr>
            <p:ph idx="2" type="pic"/>
          </p:nvPr>
        </p:nvSpPr>
        <p:spPr>
          <a:xfrm>
            <a:off x="5972275" y="0"/>
            <a:ext cx="3171600" cy="5143500"/>
          </a:xfrm>
          <a:prstGeom prst="rect">
            <a:avLst/>
          </a:prstGeom>
          <a:noFill/>
          <a:ln>
            <a:noFill/>
          </a:ln>
        </p:spPr>
      </p:sp>
      <p:sp>
        <p:nvSpPr>
          <p:cNvPr id="210" name="Google Shape;210;p14"/>
          <p:cNvSpPr/>
          <p:nvPr/>
        </p:nvSpPr>
        <p:spPr>
          <a:xfrm>
            <a:off x="-1" y="365344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1" name="Google Shape;211;p14"/>
          <p:cNvGrpSpPr/>
          <p:nvPr/>
        </p:nvGrpSpPr>
        <p:grpSpPr>
          <a:xfrm>
            <a:off x="4534399" y="4336446"/>
            <a:ext cx="807124" cy="807049"/>
            <a:chOff x="-2484951" y="3375496"/>
            <a:chExt cx="807124" cy="807049"/>
          </a:xfrm>
        </p:grpSpPr>
        <p:grpSp>
          <p:nvGrpSpPr>
            <p:cNvPr id="212" name="Google Shape;212;p14"/>
            <p:cNvGrpSpPr/>
            <p:nvPr/>
          </p:nvGrpSpPr>
          <p:grpSpPr>
            <a:xfrm>
              <a:off x="-2484951" y="3375496"/>
              <a:ext cx="403560" cy="403560"/>
              <a:chOff x="-2182000" y="2460775"/>
              <a:chExt cx="1679400" cy="1679400"/>
            </a:xfrm>
          </p:grpSpPr>
          <p:sp>
            <p:nvSpPr>
              <p:cNvPr id="213" name="Google Shape;213;p14"/>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4" name="Google Shape;214;p14"/>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215" name="Google Shape;215;p14"/>
            <p:cNvGrpSpPr/>
            <p:nvPr/>
          </p:nvGrpSpPr>
          <p:grpSpPr>
            <a:xfrm>
              <a:off x="-2081387" y="3375496"/>
              <a:ext cx="403560" cy="403560"/>
              <a:chOff x="-2182000" y="2460775"/>
              <a:chExt cx="1679400" cy="1679400"/>
            </a:xfrm>
          </p:grpSpPr>
          <p:sp>
            <p:nvSpPr>
              <p:cNvPr id="216" name="Google Shape;216;p14"/>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7" name="Google Shape;217;p14"/>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218" name="Google Shape;218;p14"/>
            <p:cNvGrpSpPr/>
            <p:nvPr/>
          </p:nvGrpSpPr>
          <p:grpSpPr>
            <a:xfrm>
              <a:off x="-2484951" y="3778985"/>
              <a:ext cx="403560" cy="403560"/>
              <a:chOff x="-2182000" y="2460775"/>
              <a:chExt cx="1679400" cy="1679400"/>
            </a:xfrm>
          </p:grpSpPr>
          <p:sp>
            <p:nvSpPr>
              <p:cNvPr id="219" name="Google Shape;219;p14"/>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0" name="Google Shape;220;p14"/>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221" name="Google Shape;221;p14"/>
            <p:cNvGrpSpPr/>
            <p:nvPr/>
          </p:nvGrpSpPr>
          <p:grpSpPr>
            <a:xfrm>
              <a:off x="-2081387" y="3778985"/>
              <a:ext cx="403560" cy="403560"/>
              <a:chOff x="-2182000" y="2460775"/>
              <a:chExt cx="1679400" cy="1679400"/>
            </a:xfrm>
          </p:grpSpPr>
          <p:sp>
            <p:nvSpPr>
              <p:cNvPr id="222" name="Google Shape;222;p14"/>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3" name="Google Shape;223;p14"/>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grpSp>
        <p:nvGrpSpPr>
          <p:cNvPr id="224" name="Google Shape;224;p14"/>
          <p:cNvGrpSpPr/>
          <p:nvPr/>
        </p:nvGrpSpPr>
        <p:grpSpPr>
          <a:xfrm>
            <a:off x="713150" y="539492"/>
            <a:ext cx="722516" cy="244823"/>
            <a:chOff x="3705500" y="1678600"/>
            <a:chExt cx="2458375" cy="1229650"/>
          </a:xfrm>
        </p:grpSpPr>
        <p:sp>
          <p:nvSpPr>
            <p:cNvPr id="225" name="Google Shape;225;p14"/>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4"/>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4"/>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4"/>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4"/>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4"/>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4"/>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4"/>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4"/>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4"/>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4"/>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4"/>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237" name="Shape 237"/>
        <p:cNvGrpSpPr/>
        <p:nvPr/>
      </p:nvGrpSpPr>
      <p:grpSpPr>
        <a:xfrm>
          <a:off x="0" y="0"/>
          <a:ext cx="0" cy="0"/>
          <a:chOff x="0" y="0"/>
          <a:chExt cx="0" cy="0"/>
        </a:xfrm>
      </p:grpSpPr>
      <p:sp>
        <p:nvSpPr>
          <p:cNvPr id="238" name="Google Shape;238;p15"/>
          <p:cNvSpPr txBox="1"/>
          <p:nvPr>
            <p:ph type="title"/>
          </p:nvPr>
        </p:nvSpPr>
        <p:spPr>
          <a:xfrm>
            <a:off x="713225" y="528626"/>
            <a:ext cx="2801100" cy="9219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239" name="Google Shape;239;p15"/>
          <p:cNvSpPr txBox="1"/>
          <p:nvPr>
            <p:ph idx="1" type="subTitle"/>
          </p:nvPr>
        </p:nvSpPr>
        <p:spPr>
          <a:xfrm>
            <a:off x="713225" y="1461400"/>
            <a:ext cx="2801100" cy="684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40" name="Google Shape;240;p15"/>
          <p:cNvSpPr/>
          <p:nvPr/>
        </p:nvSpPr>
        <p:spPr>
          <a:xfrm>
            <a:off x="0" y="365344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1" name="Google Shape;241;p15"/>
          <p:cNvGrpSpPr/>
          <p:nvPr/>
        </p:nvGrpSpPr>
        <p:grpSpPr>
          <a:xfrm flipH="1">
            <a:off x="7717937" y="4745267"/>
            <a:ext cx="722516" cy="244823"/>
            <a:chOff x="3705500" y="1678600"/>
            <a:chExt cx="2458375" cy="1229650"/>
          </a:xfrm>
        </p:grpSpPr>
        <p:sp>
          <p:nvSpPr>
            <p:cNvPr id="242" name="Google Shape;242;p15"/>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5"/>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5"/>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5"/>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5"/>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5"/>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5"/>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5"/>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5"/>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BODY_1">
    <p:spTree>
      <p:nvGrpSpPr>
        <p:cNvPr id="254" name="Shape 254"/>
        <p:cNvGrpSpPr/>
        <p:nvPr/>
      </p:nvGrpSpPr>
      <p:grpSpPr>
        <a:xfrm>
          <a:off x="0" y="0"/>
          <a:ext cx="0" cy="0"/>
          <a:chOff x="0" y="0"/>
          <a:chExt cx="0" cy="0"/>
        </a:xfrm>
      </p:grpSpPr>
      <p:sp>
        <p:nvSpPr>
          <p:cNvPr id="255" name="Google Shape;255;p16"/>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256" name="Google Shape;256;p16"/>
          <p:cNvSpPr txBox="1"/>
          <p:nvPr>
            <p:ph idx="1" type="body"/>
          </p:nvPr>
        </p:nvSpPr>
        <p:spPr>
          <a:xfrm>
            <a:off x="720000" y="1093925"/>
            <a:ext cx="7704000" cy="35100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Source Sans Pro"/>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257" name="Google Shape;257;p16"/>
          <p:cNvSpPr/>
          <p:nvPr/>
        </p:nvSpPr>
        <p:spPr>
          <a:xfrm>
            <a:off x="0" y="365344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6"/>
          <p:cNvSpPr/>
          <p:nvPr/>
        </p:nvSpPr>
        <p:spPr>
          <a:xfrm flipH="1">
            <a:off x="8715453" y="521225"/>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9" name="Google Shape;259;p16"/>
          <p:cNvGrpSpPr/>
          <p:nvPr/>
        </p:nvGrpSpPr>
        <p:grpSpPr>
          <a:xfrm flipH="1">
            <a:off x="7717937" y="4745267"/>
            <a:ext cx="722516" cy="244823"/>
            <a:chOff x="3705500" y="1678600"/>
            <a:chExt cx="2458375" cy="1229650"/>
          </a:xfrm>
        </p:grpSpPr>
        <p:sp>
          <p:nvSpPr>
            <p:cNvPr id="260" name="Google Shape;260;p16"/>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6"/>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6"/>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6"/>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6"/>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6"/>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6"/>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6"/>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6"/>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6"/>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6"/>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6"/>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72" name="Shape 272"/>
        <p:cNvGrpSpPr/>
        <p:nvPr/>
      </p:nvGrpSpPr>
      <p:grpSpPr>
        <a:xfrm>
          <a:off x="0" y="0"/>
          <a:ext cx="0" cy="0"/>
          <a:chOff x="0" y="0"/>
          <a:chExt cx="0" cy="0"/>
        </a:xfrm>
      </p:grpSpPr>
      <p:sp>
        <p:nvSpPr>
          <p:cNvPr id="273" name="Google Shape;273;p17"/>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274" name="Google Shape;274;p17"/>
          <p:cNvSpPr txBox="1"/>
          <p:nvPr>
            <p:ph idx="1" type="subTitle"/>
          </p:nvPr>
        </p:nvSpPr>
        <p:spPr>
          <a:xfrm>
            <a:off x="880388" y="2910728"/>
            <a:ext cx="2209500" cy="120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75" name="Google Shape;275;p17"/>
          <p:cNvSpPr txBox="1"/>
          <p:nvPr>
            <p:ph idx="2" type="subTitle"/>
          </p:nvPr>
        </p:nvSpPr>
        <p:spPr>
          <a:xfrm>
            <a:off x="3467248" y="2910728"/>
            <a:ext cx="2209500" cy="120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76" name="Google Shape;276;p17"/>
          <p:cNvSpPr txBox="1"/>
          <p:nvPr>
            <p:ph idx="3" type="subTitle"/>
          </p:nvPr>
        </p:nvSpPr>
        <p:spPr>
          <a:xfrm>
            <a:off x="6054116" y="2910728"/>
            <a:ext cx="2209500" cy="120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77" name="Google Shape;277;p17"/>
          <p:cNvSpPr txBox="1"/>
          <p:nvPr>
            <p:ph idx="4" type="subTitle"/>
          </p:nvPr>
        </p:nvSpPr>
        <p:spPr>
          <a:xfrm>
            <a:off x="880400" y="2491575"/>
            <a:ext cx="2209500" cy="45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8" name="Google Shape;278;p17"/>
          <p:cNvSpPr txBox="1"/>
          <p:nvPr>
            <p:ph idx="5" type="subTitle"/>
          </p:nvPr>
        </p:nvSpPr>
        <p:spPr>
          <a:xfrm>
            <a:off x="3467264" y="2491575"/>
            <a:ext cx="2209500" cy="45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9" name="Google Shape;279;p17"/>
          <p:cNvSpPr txBox="1"/>
          <p:nvPr>
            <p:ph idx="6" type="subTitle"/>
          </p:nvPr>
        </p:nvSpPr>
        <p:spPr>
          <a:xfrm>
            <a:off x="6054128" y="2491575"/>
            <a:ext cx="2209500" cy="45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80" name="Google Shape;280;p17"/>
          <p:cNvGrpSpPr/>
          <p:nvPr/>
        </p:nvGrpSpPr>
        <p:grpSpPr>
          <a:xfrm>
            <a:off x="4210738" y="4603992"/>
            <a:ext cx="722516" cy="244823"/>
            <a:chOff x="3705500" y="1678600"/>
            <a:chExt cx="2458375" cy="1229650"/>
          </a:xfrm>
        </p:grpSpPr>
        <p:sp>
          <p:nvSpPr>
            <p:cNvPr id="281" name="Google Shape;281;p17"/>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7"/>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7"/>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7"/>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7"/>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7"/>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7"/>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7"/>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7"/>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7"/>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7"/>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7"/>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3" name="Google Shape;293;p17"/>
          <p:cNvSpPr/>
          <p:nvPr/>
        </p:nvSpPr>
        <p:spPr>
          <a:xfrm>
            <a:off x="-953100" y="447800"/>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7"/>
          <p:cNvSpPr/>
          <p:nvPr/>
        </p:nvSpPr>
        <p:spPr>
          <a:xfrm rot="10800000">
            <a:off x="7701086" y="-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95" name="Shape 295"/>
        <p:cNvGrpSpPr/>
        <p:nvPr/>
      </p:nvGrpSpPr>
      <p:grpSpPr>
        <a:xfrm>
          <a:off x="0" y="0"/>
          <a:ext cx="0" cy="0"/>
          <a:chOff x="0" y="0"/>
          <a:chExt cx="0" cy="0"/>
        </a:xfrm>
      </p:grpSpPr>
      <p:sp>
        <p:nvSpPr>
          <p:cNvPr id="296" name="Google Shape;296;p18"/>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297" name="Google Shape;297;p18"/>
          <p:cNvSpPr txBox="1"/>
          <p:nvPr>
            <p:ph idx="1" type="subTitle"/>
          </p:nvPr>
        </p:nvSpPr>
        <p:spPr>
          <a:xfrm>
            <a:off x="1705713" y="1937935"/>
            <a:ext cx="26478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98" name="Google Shape;298;p18"/>
          <p:cNvSpPr txBox="1"/>
          <p:nvPr>
            <p:ph idx="2" type="subTitle"/>
          </p:nvPr>
        </p:nvSpPr>
        <p:spPr>
          <a:xfrm>
            <a:off x="5665283" y="1937935"/>
            <a:ext cx="26478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99" name="Google Shape;299;p18"/>
          <p:cNvSpPr txBox="1"/>
          <p:nvPr>
            <p:ph idx="3" type="subTitle"/>
          </p:nvPr>
        </p:nvSpPr>
        <p:spPr>
          <a:xfrm>
            <a:off x="1705713" y="3598510"/>
            <a:ext cx="26478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00" name="Google Shape;300;p18"/>
          <p:cNvSpPr txBox="1"/>
          <p:nvPr>
            <p:ph idx="4" type="subTitle"/>
          </p:nvPr>
        </p:nvSpPr>
        <p:spPr>
          <a:xfrm>
            <a:off x="5665283" y="3598510"/>
            <a:ext cx="26478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01" name="Google Shape;301;p18"/>
          <p:cNvSpPr txBox="1"/>
          <p:nvPr>
            <p:ph idx="5" type="subTitle"/>
          </p:nvPr>
        </p:nvSpPr>
        <p:spPr>
          <a:xfrm>
            <a:off x="1705725" y="1418325"/>
            <a:ext cx="2647800" cy="414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2" name="Google Shape;302;p18"/>
          <p:cNvSpPr txBox="1"/>
          <p:nvPr>
            <p:ph idx="6" type="subTitle"/>
          </p:nvPr>
        </p:nvSpPr>
        <p:spPr>
          <a:xfrm>
            <a:off x="1705725" y="3079000"/>
            <a:ext cx="2647800" cy="414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3" name="Google Shape;303;p18"/>
          <p:cNvSpPr txBox="1"/>
          <p:nvPr>
            <p:ph idx="7" type="subTitle"/>
          </p:nvPr>
        </p:nvSpPr>
        <p:spPr>
          <a:xfrm>
            <a:off x="5665253" y="1418325"/>
            <a:ext cx="2647800" cy="414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4" name="Google Shape;304;p18"/>
          <p:cNvSpPr txBox="1"/>
          <p:nvPr>
            <p:ph idx="8" type="subTitle"/>
          </p:nvPr>
        </p:nvSpPr>
        <p:spPr>
          <a:xfrm>
            <a:off x="5665253" y="3079000"/>
            <a:ext cx="2647800" cy="414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5" name="Google Shape;305;p18"/>
          <p:cNvSpPr/>
          <p:nvPr/>
        </p:nvSpPr>
        <p:spPr>
          <a:xfrm>
            <a:off x="6095925" y="-1133600"/>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8"/>
          <p:cNvSpPr/>
          <p:nvPr/>
        </p:nvSpPr>
        <p:spPr>
          <a:xfrm flipH="1">
            <a:off x="7701086" y="365344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7" name="Google Shape;307;p18"/>
          <p:cNvGrpSpPr/>
          <p:nvPr/>
        </p:nvGrpSpPr>
        <p:grpSpPr>
          <a:xfrm>
            <a:off x="720000" y="4603992"/>
            <a:ext cx="722516" cy="244823"/>
            <a:chOff x="3705500" y="1678600"/>
            <a:chExt cx="2458375" cy="1229650"/>
          </a:xfrm>
        </p:grpSpPr>
        <p:sp>
          <p:nvSpPr>
            <p:cNvPr id="308" name="Google Shape;308;p18"/>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8"/>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8"/>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8"/>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8"/>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8"/>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8"/>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8"/>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8"/>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8"/>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8"/>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8"/>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20" name="Shape 320"/>
        <p:cNvGrpSpPr/>
        <p:nvPr/>
      </p:nvGrpSpPr>
      <p:grpSpPr>
        <a:xfrm>
          <a:off x="0" y="0"/>
          <a:ext cx="0" cy="0"/>
          <a:chOff x="0" y="0"/>
          <a:chExt cx="0" cy="0"/>
        </a:xfrm>
      </p:grpSpPr>
      <p:sp>
        <p:nvSpPr>
          <p:cNvPr id="321" name="Google Shape;321;p19"/>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322" name="Google Shape;322;p19"/>
          <p:cNvSpPr txBox="1"/>
          <p:nvPr>
            <p:ph idx="1" type="subTitle"/>
          </p:nvPr>
        </p:nvSpPr>
        <p:spPr>
          <a:xfrm>
            <a:off x="713325" y="1862576"/>
            <a:ext cx="2258100" cy="89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23" name="Google Shape;323;p19"/>
          <p:cNvSpPr txBox="1"/>
          <p:nvPr>
            <p:ph idx="2" type="subTitle"/>
          </p:nvPr>
        </p:nvSpPr>
        <p:spPr>
          <a:xfrm>
            <a:off x="3443000" y="1862576"/>
            <a:ext cx="2258100" cy="89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24" name="Google Shape;324;p19"/>
          <p:cNvSpPr txBox="1"/>
          <p:nvPr>
            <p:ph idx="3" type="subTitle"/>
          </p:nvPr>
        </p:nvSpPr>
        <p:spPr>
          <a:xfrm>
            <a:off x="885738" y="3440451"/>
            <a:ext cx="19005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25" name="Google Shape;325;p19"/>
          <p:cNvSpPr txBox="1"/>
          <p:nvPr>
            <p:ph idx="4" type="subTitle"/>
          </p:nvPr>
        </p:nvSpPr>
        <p:spPr>
          <a:xfrm>
            <a:off x="3621750" y="3440451"/>
            <a:ext cx="19005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26" name="Google Shape;326;p19"/>
          <p:cNvSpPr txBox="1"/>
          <p:nvPr>
            <p:ph idx="5" type="subTitle"/>
          </p:nvPr>
        </p:nvSpPr>
        <p:spPr>
          <a:xfrm>
            <a:off x="6172672" y="1862576"/>
            <a:ext cx="2258100" cy="89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27" name="Google Shape;327;p19"/>
          <p:cNvSpPr txBox="1"/>
          <p:nvPr>
            <p:ph idx="6" type="subTitle"/>
          </p:nvPr>
        </p:nvSpPr>
        <p:spPr>
          <a:xfrm>
            <a:off x="6357760" y="3440451"/>
            <a:ext cx="19005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28" name="Google Shape;328;p19"/>
          <p:cNvSpPr txBox="1"/>
          <p:nvPr>
            <p:ph idx="7" type="subTitle"/>
          </p:nvPr>
        </p:nvSpPr>
        <p:spPr>
          <a:xfrm>
            <a:off x="717775" y="1344975"/>
            <a:ext cx="2249100" cy="4080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9" name="Google Shape;329;p19"/>
          <p:cNvSpPr txBox="1"/>
          <p:nvPr>
            <p:ph idx="8" type="subTitle"/>
          </p:nvPr>
        </p:nvSpPr>
        <p:spPr>
          <a:xfrm>
            <a:off x="3447442" y="1344975"/>
            <a:ext cx="2249100" cy="4080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0" name="Google Shape;330;p19"/>
          <p:cNvSpPr txBox="1"/>
          <p:nvPr>
            <p:ph idx="9" type="subTitle"/>
          </p:nvPr>
        </p:nvSpPr>
        <p:spPr>
          <a:xfrm>
            <a:off x="6177106" y="1344975"/>
            <a:ext cx="2249100" cy="4080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1" name="Google Shape;331;p19"/>
          <p:cNvSpPr txBox="1"/>
          <p:nvPr>
            <p:ph idx="13" type="subTitle"/>
          </p:nvPr>
        </p:nvSpPr>
        <p:spPr>
          <a:xfrm>
            <a:off x="717775" y="3224425"/>
            <a:ext cx="2249100" cy="4080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2" name="Google Shape;332;p19"/>
          <p:cNvSpPr txBox="1"/>
          <p:nvPr>
            <p:ph idx="14" type="subTitle"/>
          </p:nvPr>
        </p:nvSpPr>
        <p:spPr>
          <a:xfrm>
            <a:off x="3447442" y="3224425"/>
            <a:ext cx="2249100" cy="4080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3" name="Google Shape;333;p19"/>
          <p:cNvSpPr txBox="1"/>
          <p:nvPr>
            <p:ph idx="15" type="subTitle"/>
          </p:nvPr>
        </p:nvSpPr>
        <p:spPr>
          <a:xfrm>
            <a:off x="6177106" y="3224425"/>
            <a:ext cx="2249100" cy="4080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Unbounded"/>
                <a:ea typeface="Unbounded"/>
                <a:cs typeface="Unbounded"/>
                <a:sym typeface="Unbounde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334" name="Google Shape;334;p19"/>
          <p:cNvGrpSpPr/>
          <p:nvPr/>
        </p:nvGrpSpPr>
        <p:grpSpPr>
          <a:xfrm>
            <a:off x="8669633" y="383783"/>
            <a:ext cx="244823" cy="722516"/>
            <a:chOff x="8669633" y="4365146"/>
            <a:chExt cx="244823" cy="722516"/>
          </a:xfrm>
        </p:grpSpPr>
        <p:sp>
          <p:nvSpPr>
            <p:cNvPr id="335" name="Google Shape;335;p19"/>
            <p:cNvSpPr/>
            <p:nvPr/>
          </p:nvSpPr>
          <p:spPr>
            <a:xfrm flipH="1" rot="-5400000">
              <a:off x="8784341" y="4498975"/>
              <a:ext cx="15408" cy="244823"/>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9"/>
            <p:cNvSpPr/>
            <p:nvPr/>
          </p:nvSpPr>
          <p:spPr>
            <a:xfrm flipH="1" rot="-5400000">
              <a:off x="8787666" y="4371338"/>
              <a:ext cx="8758" cy="244823"/>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9"/>
            <p:cNvSpPr/>
            <p:nvPr/>
          </p:nvSpPr>
          <p:spPr>
            <a:xfrm flipH="1" rot="-5400000">
              <a:off x="8785961" y="4435158"/>
              <a:ext cx="12167" cy="244823"/>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9"/>
            <p:cNvSpPr/>
            <p:nvPr/>
          </p:nvSpPr>
          <p:spPr>
            <a:xfrm flipH="1" rot="-5400000">
              <a:off x="8789374" y="4307521"/>
              <a:ext cx="5342" cy="244823"/>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9"/>
            <p:cNvSpPr/>
            <p:nvPr/>
          </p:nvSpPr>
          <p:spPr>
            <a:xfrm flipH="1" rot="-5400000">
              <a:off x="8791079" y="4243700"/>
              <a:ext cx="1932" cy="244823"/>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9"/>
            <p:cNvSpPr/>
            <p:nvPr/>
          </p:nvSpPr>
          <p:spPr>
            <a:xfrm flipH="1" rot="-5400000">
              <a:off x="8782640" y="4562791"/>
              <a:ext cx="18810" cy="244823"/>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9"/>
            <p:cNvSpPr/>
            <p:nvPr/>
          </p:nvSpPr>
          <p:spPr>
            <a:xfrm flipH="1" rot="-5400000">
              <a:off x="8775855" y="4818018"/>
              <a:ext cx="32380" cy="244823"/>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9"/>
            <p:cNvSpPr/>
            <p:nvPr/>
          </p:nvSpPr>
          <p:spPr>
            <a:xfrm flipH="1" rot="-5400000">
              <a:off x="8774154" y="4881834"/>
              <a:ext cx="35782" cy="244823"/>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9"/>
            <p:cNvSpPr/>
            <p:nvPr/>
          </p:nvSpPr>
          <p:spPr>
            <a:xfrm flipH="1" rot="-5400000">
              <a:off x="8780932" y="4626608"/>
              <a:ext cx="22226" cy="244823"/>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9"/>
            <p:cNvSpPr/>
            <p:nvPr/>
          </p:nvSpPr>
          <p:spPr>
            <a:xfrm flipH="1" rot="-5400000">
              <a:off x="8772446" y="4945651"/>
              <a:ext cx="39199" cy="244823"/>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9"/>
            <p:cNvSpPr/>
            <p:nvPr/>
          </p:nvSpPr>
          <p:spPr>
            <a:xfrm flipH="1" rot="-5400000">
              <a:off x="8779224" y="4690425"/>
              <a:ext cx="25643" cy="244823"/>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9"/>
            <p:cNvSpPr/>
            <p:nvPr/>
          </p:nvSpPr>
          <p:spPr>
            <a:xfrm flipH="1" rot="-5400000">
              <a:off x="8777519" y="4754245"/>
              <a:ext cx="29052" cy="244823"/>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7" name="Google Shape;347;p19"/>
          <p:cNvSpPr/>
          <p:nvPr/>
        </p:nvSpPr>
        <p:spPr>
          <a:xfrm flipH="1">
            <a:off x="8424004" y="4604000"/>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9"/>
          <p:cNvSpPr/>
          <p:nvPr/>
        </p:nvSpPr>
        <p:spPr>
          <a:xfrm flipH="1" rot="10800000">
            <a:off x="0" y="-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49" name="Shape 349"/>
        <p:cNvGrpSpPr/>
        <p:nvPr/>
      </p:nvGrpSpPr>
      <p:grpSpPr>
        <a:xfrm>
          <a:off x="0" y="0"/>
          <a:ext cx="0" cy="0"/>
          <a:chOff x="0" y="0"/>
          <a:chExt cx="0" cy="0"/>
        </a:xfrm>
      </p:grpSpPr>
      <p:sp>
        <p:nvSpPr>
          <p:cNvPr id="350" name="Google Shape;350;p20"/>
          <p:cNvSpPr txBox="1"/>
          <p:nvPr>
            <p:ph hasCustomPrompt="1" type="title"/>
          </p:nvPr>
        </p:nvSpPr>
        <p:spPr>
          <a:xfrm>
            <a:off x="4493225" y="3335404"/>
            <a:ext cx="3763500" cy="7689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3200">
                <a:solidFill>
                  <a:schemeClr val="accent1"/>
                </a:solidFill>
                <a:highlight>
                  <a:schemeClr val="dk1"/>
                </a:highlight>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51" name="Google Shape;351;p20"/>
          <p:cNvSpPr txBox="1"/>
          <p:nvPr>
            <p:ph idx="1" type="subTitle"/>
          </p:nvPr>
        </p:nvSpPr>
        <p:spPr>
          <a:xfrm>
            <a:off x="4493238" y="4104301"/>
            <a:ext cx="3763500" cy="3012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dk1"/>
              </a:buClr>
              <a:buSzPts val="1200"/>
              <a:buFont typeface="PT Sans"/>
              <a:buNone/>
              <a:defRPr sz="16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352" name="Google Shape;352;p20"/>
          <p:cNvSpPr txBox="1"/>
          <p:nvPr>
            <p:ph hasCustomPrompt="1" idx="2" type="title"/>
          </p:nvPr>
        </p:nvSpPr>
        <p:spPr>
          <a:xfrm>
            <a:off x="4493238" y="738000"/>
            <a:ext cx="3763500" cy="7689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3200">
                <a:solidFill>
                  <a:schemeClr val="accent1"/>
                </a:solidFill>
                <a:highlight>
                  <a:schemeClr val="dk1"/>
                </a:highlight>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53" name="Google Shape;353;p20"/>
          <p:cNvSpPr txBox="1"/>
          <p:nvPr>
            <p:ph idx="3" type="subTitle"/>
          </p:nvPr>
        </p:nvSpPr>
        <p:spPr>
          <a:xfrm>
            <a:off x="4493238" y="1506909"/>
            <a:ext cx="3763500" cy="3012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dk1"/>
              </a:buClr>
              <a:buSzPts val="1200"/>
              <a:buFont typeface="PT Sans"/>
              <a:buNone/>
              <a:defRPr sz="16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354" name="Google Shape;354;p20"/>
          <p:cNvSpPr txBox="1"/>
          <p:nvPr>
            <p:ph hasCustomPrompt="1" idx="4" type="title"/>
          </p:nvPr>
        </p:nvSpPr>
        <p:spPr>
          <a:xfrm>
            <a:off x="4493225" y="2036707"/>
            <a:ext cx="3763500" cy="7689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3200">
                <a:highlight>
                  <a:schemeClr val="accent1"/>
                </a:highlight>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55" name="Google Shape;355;p20"/>
          <p:cNvSpPr txBox="1"/>
          <p:nvPr>
            <p:ph idx="5" type="subTitle"/>
          </p:nvPr>
        </p:nvSpPr>
        <p:spPr>
          <a:xfrm>
            <a:off x="4493238" y="2805604"/>
            <a:ext cx="3763500" cy="3012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dk1"/>
              </a:buClr>
              <a:buSzPts val="1200"/>
              <a:buFont typeface="PT Sans"/>
              <a:buNone/>
              <a:defRPr sz="16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356" name="Google Shape;356;p20"/>
          <p:cNvSpPr/>
          <p:nvPr>
            <p:ph idx="6" type="pic"/>
          </p:nvPr>
        </p:nvSpPr>
        <p:spPr>
          <a:xfrm>
            <a:off x="0" y="0"/>
            <a:ext cx="3171600" cy="51435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57" name="Shape 357"/>
        <p:cNvGrpSpPr/>
        <p:nvPr/>
      </p:nvGrpSpPr>
      <p:grpSpPr>
        <a:xfrm>
          <a:off x="0" y="0"/>
          <a:ext cx="0" cy="0"/>
          <a:chOff x="0" y="0"/>
          <a:chExt cx="0" cy="0"/>
        </a:xfrm>
      </p:grpSpPr>
      <p:sp>
        <p:nvSpPr>
          <p:cNvPr id="358" name="Google Shape;358;p21"/>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359" name="Google Shape;359;p21"/>
          <p:cNvSpPr/>
          <p:nvPr/>
        </p:nvSpPr>
        <p:spPr>
          <a:xfrm>
            <a:off x="0" y="365344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1"/>
          <p:cNvSpPr/>
          <p:nvPr/>
        </p:nvSpPr>
        <p:spPr>
          <a:xfrm flipH="1">
            <a:off x="8715453" y="521225"/>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1" name="Google Shape;361;p21"/>
          <p:cNvGrpSpPr/>
          <p:nvPr/>
        </p:nvGrpSpPr>
        <p:grpSpPr>
          <a:xfrm flipH="1">
            <a:off x="7717937" y="4745267"/>
            <a:ext cx="722516" cy="244823"/>
            <a:chOff x="3705500" y="1678600"/>
            <a:chExt cx="2458375" cy="1229650"/>
          </a:xfrm>
        </p:grpSpPr>
        <p:sp>
          <p:nvSpPr>
            <p:cNvPr id="362" name="Google Shape;362;p21"/>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1"/>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1"/>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1"/>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1"/>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1"/>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1"/>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1"/>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1"/>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1"/>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1"/>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1"/>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374" name="Shape 374"/>
        <p:cNvGrpSpPr/>
        <p:nvPr/>
      </p:nvGrpSpPr>
      <p:grpSpPr>
        <a:xfrm>
          <a:off x="0" y="0"/>
          <a:ext cx="0" cy="0"/>
          <a:chOff x="0" y="0"/>
          <a:chExt cx="0" cy="0"/>
        </a:xfrm>
      </p:grpSpPr>
      <p:sp>
        <p:nvSpPr>
          <p:cNvPr id="375" name="Google Shape;375;p22"/>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376" name="Google Shape;376;p22"/>
          <p:cNvSpPr/>
          <p:nvPr/>
        </p:nvSpPr>
        <p:spPr>
          <a:xfrm rot="10800000">
            <a:off x="7684636" y="-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2"/>
          <p:cNvSpPr/>
          <p:nvPr/>
        </p:nvSpPr>
        <p:spPr>
          <a:xfrm>
            <a:off x="720000" y="4832600"/>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8" name="Google Shape;378;p22"/>
          <p:cNvGrpSpPr/>
          <p:nvPr/>
        </p:nvGrpSpPr>
        <p:grpSpPr>
          <a:xfrm rot="-5400000">
            <a:off x="25475" y="778342"/>
            <a:ext cx="722516" cy="244823"/>
            <a:chOff x="3705500" y="1678600"/>
            <a:chExt cx="2458375" cy="1229650"/>
          </a:xfrm>
        </p:grpSpPr>
        <p:sp>
          <p:nvSpPr>
            <p:cNvPr id="379" name="Google Shape;379;p22"/>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2"/>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2"/>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2"/>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2"/>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2"/>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2"/>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2"/>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2"/>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2"/>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2"/>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2"/>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91" name="Shape 391"/>
        <p:cNvGrpSpPr/>
        <p:nvPr/>
      </p:nvGrpSpPr>
      <p:grpSpPr>
        <a:xfrm>
          <a:off x="0" y="0"/>
          <a:ext cx="0" cy="0"/>
          <a:chOff x="0" y="0"/>
          <a:chExt cx="0" cy="0"/>
        </a:xfrm>
      </p:grpSpPr>
      <p:sp>
        <p:nvSpPr>
          <p:cNvPr id="392" name="Google Shape;392;p23"/>
          <p:cNvSpPr txBox="1"/>
          <p:nvPr>
            <p:ph type="title"/>
          </p:nvPr>
        </p:nvSpPr>
        <p:spPr>
          <a:xfrm>
            <a:off x="2051825" y="801000"/>
            <a:ext cx="5040300" cy="950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500"/>
              <a:buNone/>
              <a:defRPr sz="5000"/>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393" name="Google Shape;393;p23"/>
          <p:cNvSpPr txBox="1"/>
          <p:nvPr>
            <p:ph idx="1" type="subTitle"/>
          </p:nvPr>
        </p:nvSpPr>
        <p:spPr>
          <a:xfrm>
            <a:off x="2845550" y="1827219"/>
            <a:ext cx="3452700" cy="950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94" name="Google Shape;394;p23"/>
          <p:cNvSpPr txBox="1"/>
          <p:nvPr/>
        </p:nvSpPr>
        <p:spPr>
          <a:xfrm>
            <a:off x="1904850" y="3764350"/>
            <a:ext cx="53343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Source Sans Pro"/>
                <a:ea typeface="Source Sans Pro"/>
                <a:cs typeface="Source Sans Pro"/>
                <a:sym typeface="Source Sans Pro"/>
              </a:rPr>
              <a:t>CREDITS:</a:t>
            </a:r>
            <a:r>
              <a:rPr lang="en" sz="1200">
                <a:solidFill>
                  <a:schemeClr val="dk1"/>
                </a:solidFill>
                <a:latin typeface="Source Sans Pro"/>
                <a:ea typeface="Source Sans Pro"/>
                <a:cs typeface="Source Sans Pro"/>
                <a:sym typeface="Source Sans Pro"/>
              </a:rPr>
              <a:t> This presentation template was created by </a:t>
            </a:r>
            <a:r>
              <a:rPr b="1" lang="en" sz="1200">
                <a:solidFill>
                  <a:schemeClr val="dk1"/>
                </a:solidFill>
                <a:uFill>
                  <a:noFill/>
                </a:uFill>
                <a:latin typeface="Source Sans Pro"/>
                <a:ea typeface="Source Sans Pro"/>
                <a:cs typeface="Source Sans Pro"/>
                <a:sym typeface="Source Sans Pro"/>
                <a:hlinkClick r:id="rId2">
                  <a:extLst>
                    <a:ext uri="{A12FA001-AC4F-418D-AE19-62706E023703}">
                      <ahyp:hlinkClr val="tx"/>
                    </a:ext>
                  </a:extLst>
                </a:hlinkClick>
              </a:rPr>
              <a:t>Slidesgo</a:t>
            </a:r>
            <a:r>
              <a:rPr lang="en" sz="1200">
                <a:solidFill>
                  <a:schemeClr val="dk1"/>
                </a:solidFill>
                <a:latin typeface="Source Sans Pro"/>
                <a:ea typeface="Source Sans Pro"/>
                <a:cs typeface="Source Sans Pro"/>
                <a:sym typeface="Source Sans Pro"/>
              </a:rPr>
              <a:t>, and includes icons by </a:t>
            </a:r>
            <a:r>
              <a:rPr b="1" lang="en" sz="1200">
                <a:solidFill>
                  <a:schemeClr val="dk1"/>
                </a:solidFill>
                <a:uFill>
                  <a:noFill/>
                </a:uFill>
                <a:latin typeface="Source Sans Pro"/>
                <a:ea typeface="Source Sans Pro"/>
                <a:cs typeface="Source Sans Pro"/>
                <a:sym typeface="Source Sans Pro"/>
                <a:hlinkClick r:id="rId3">
                  <a:extLst>
                    <a:ext uri="{A12FA001-AC4F-418D-AE19-62706E023703}">
                      <ahyp:hlinkClr val="tx"/>
                    </a:ext>
                  </a:extLst>
                </a:hlinkClick>
              </a:rPr>
              <a:t>Flaticon</a:t>
            </a:r>
            <a:r>
              <a:rPr lang="en" sz="1200">
                <a:solidFill>
                  <a:schemeClr val="dk1"/>
                </a:solidFill>
                <a:latin typeface="Source Sans Pro"/>
                <a:ea typeface="Source Sans Pro"/>
                <a:cs typeface="Source Sans Pro"/>
                <a:sym typeface="Source Sans Pro"/>
              </a:rPr>
              <a:t>, and infographics &amp; images by </a:t>
            </a:r>
            <a:r>
              <a:rPr b="1" lang="en" sz="1200">
                <a:solidFill>
                  <a:schemeClr val="dk1"/>
                </a:solidFill>
                <a:uFill>
                  <a:noFill/>
                </a:uFill>
                <a:latin typeface="Source Sans Pro"/>
                <a:ea typeface="Source Sans Pro"/>
                <a:cs typeface="Source Sans Pro"/>
                <a:sym typeface="Source Sans Pro"/>
                <a:hlinkClick r:id="rId4">
                  <a:extLst>
                    <a:ext uri="{A12FA001-AC4F-418D-AE19-62706E023703}">
                      <ahyp:hlinkClr val="tx"/>
                    </a:ext>
                  </a:extLst>
                </a:hlinkClick>
              </a:rPr>
              <a:t>Freepik</a:t>
            </a:r>
            <a:r>
              <a:rPr lang="en" sz="1200">
                <a:solidFill>
                  <a:schemeClr val="dk1"/>
                </a:solidFill>
                <a:latin typeface="Source Sans Pro"/>
                <a:ea typeface="Source Sans Pro"/>
                <a:cs typeface="Source Sans Pro"/>
                <a:sym typeface="Source Sans Pro"/>
              </a:rPr>
              <a:t> </a:t>
            </a:r>
            <a:endParaRPr b="1" sz="1200">
              <a:solidFill>
                <a:schemeClr val="dk1"/>
              </a:solidFill>
              <a:latin typeface="Source Sans Pro"/>
              <a:ea typeface="Source Sans Pro"/>
              <a:cs typeface="Source Sans Pro"/>
              <a:sym typeface="Source Sans Pro"/>
            </a:endParaRPr>
          </a:p>
        </p:txBody>
      </p:sp>
      <p:sp>
        <p:nvSpPr>
          <p:cNvPr id="395" name="Google Shape;395;p23"/>
          <p:cNvSpPr/>
          <p:nvPr/>
        </p:nvSpPr>
        <p:spPr>
          <a:xfrm>
            <a:off x="6992775" y="4538650"/>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3"/>
          <p:cNvSpPr/>
          <p:nvPr/>
        </p:nvSpPr>
        <p:spPr>
          <a:xfrm>
            <a:off x="-1" y="365344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3"/>
          <p:cNvSpPr/>
          <p:nvPr/>
        </p:nvSpPr>
        <p:spPr>
          <a:xfrm rot="10800000">
            <a:off x="7684636" y="8"/>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8" name="Google Shape;398;p23"/>
          <p:cNvGrpSpPr/>
          <p:nvPr/>
        </p:nvGrpSpPr>
        <p:grpSpPr>
          <a:xfrm>
            <a:off x="720000" y="294667"/>
            <a:ext cx="722516" cy="244823"/>
            <a:chOff x="3705500" y="1678600"/>
            <a:chExt cx="2458375" cy="1229650"/>
          </a:xfrm>
        </p:grpSpPr>
        <p:sp>
          <p:nvSpPr>
            <p:cNvPr id="399" name="Google Shape;399;p23"/>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3"/>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3"/>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3"/>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3"/>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3"/>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3"/>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3"/>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3"/>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3"/>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3"/>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3"/>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411" name="Shape 411"/>
        <p:cNvGrpSpPr/>
        <p:nvPr/>
      </p:nvGrpSpPr>
      <p:grpSpPr>
        <a:xfrm>
          <a:off x="0" y="0"/>
          <a:ext cx="0" cy="0"/>
          <a:chOff x="0" y="0"/>
          <a:chExt cx="0" cy="0"/>
        </a:xfrm>
      </p:grpSpPr>
      <p:sp>
        <p:nvSpPr>
          <p:cNvPr id="412" name="Google Shape;412;p24"/>
          <p:cNvSpPr/>
          <p:nvPr/>
        </p:nvSpPr>
        <p:spPr>
          <a:xfrm>
            <a:off x="0" y="365344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4"/>
          <p:cNvSpPr/>
          <p:nvPr/>
        </p:nvSpPr>
        <p:spPr>
          <a:xfrm flipH="1">
            <a:off x="8715453" y="521225"/>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4" name="Google Shape;414;p24"/>
          <p:cNvGrpSpPr/>
          <p:nvPr/>
        </p:nvGrpSpPr>
        <p:grpSpPr>
          <a:xfrm flipH="1">
            <a:off x="7717937" y="4745267"/>
            <a:ext cx="722516" cy="244823"/>
            <a:chOff x="3705500" y="1678600"/>
            <a:chExt cx="2458375" cy="1229650"/>
          </a:xfrm>
        </p:grpSpPr>
        <p:sp>
          <p:nvSpPr>
            <p:cNvPr id="415" name="Google Shape;415;p24"/>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4"/>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4"/>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4"/>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4"/>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4"/>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4"/>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4"/>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4"/>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4"/>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4"/>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4"/>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427" name="Shape 427"/>
        <p:cNvGrpSpPr/>
        <p:nvPr/>
      </p:nvGrpSpPr>
      <p:grpSpPr>
        <a:xfrm>
          <a:off x="0" y="0"/>
          <a:ext cx="0" cy="0"/>
          <a:chOff x="0" y="0"/>
          <a:chExt cx="0" cy="0"/>
        </a:xfrm>
      </p:grpSpPr>
      <p:sp>
        <p:nvSpPr>
          <p:cNvPr id="428" name="Google Shape;428;p25"/>
          <p:cNvSpPr/>
          <p:nvPr/>
        </p:nvSpPr>
        <p:spPr>
          <a:xfrm flipH="1">
            <a:off x="478127" y="4538650"/>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5"/>
          <p:cNvSpPr/>
          <p:nvPr/>
        </p:nvSpPr>
        <p:spPr>
          <a:xfrm flipH="1">
            <a:off x="7684636" y="3653445"/>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5"/>
          <p:cNvSpPr/>
          <p:nvPr/>
        </p:nvSpPr>
        <p:spPr>
          <a:xfrm flipH="1" rot="10800000">
            <a:off x="-1" y="8"/>
            <a:ext cx="1459367" cy="1490074"/>
          </a:xfrm>
          <a:custGeom>
            <a:rect b="b" l="l" r="r" t="t"/>
            <a:pathLst>
              <a:path extrusionOk="0" h="57794" w="56603">
                <a:moveTo>
                  <a:pt x="1" y="1"/>
                </a:moveTo>
                <a:lnTo>
                  <a:pt x="1" y="57794"/>
                </a:lnTo>
                <a:lnTo>
                  <a:pt x="56603" y="57794"/>
                </a:lnTo>
                <a:cubicBezTo>
                  <a:pt x="25349" y="57794"/>
                  <a:pt x="1" y="3192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1" name="Google Shape;431;p25"/>
          <p:cNvGrpSpPr/>
          <p:nvPr/>
        </p:nvGrpSpPr>
        <p:grpSpPr>
          <a:xfrm flipH="1">
            <a:off x="7701486" y="294667"/>
            <a:ext cx="722516" cy="244823"/>
            <a:chOff x="3705500" y="1678600"/>
            <a:chExt cx="2458375" cy="1229650"/>
          </a:xfrm>
        </p:grpSpPr>
        <p:sp>
          <p:nvSpPr>
            <p:cNvPr id="432" name="Google Shape;432;p25"/>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5"/>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5"/>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5"/>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5"/>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5"/>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5"/>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5"/>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5"/>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5"/>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5"/>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5"/>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212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Font typeface="Unbounded"/>
              <a:buNone/>
              <a:defRPr b="1" sz="2500">
                <a:solidFill>
                  <a:schemeClr val="dk1"/>
                </a:solidFill>
                <a:latin typeface="Unbounded"/>
                <a:ea typeface="Unbounded"/>
                <a:cs typeface="Unbounded"/>
                <a:sym typeface="Unbounded"/>
              </a:defRPr>
            </a:lvl1pPr>
            <a:lvl2pPr lvl="1" rtl="0">
              <a:spcBef>
                <a:spcPts val="0"/>
              </a:spcBef>
              <a:spcAft>
                <a:spcPts val="0"/>
              </a:spcAft>
              <a:buClr>
                <a:schemeClr val="dk1"/>
              </a:buClr>
              <a:buSzPts val="2500"/>
              <a:buFont typeface="Unbounded"/>
              <a:buNone/>
              <a:defRPr b="1" sz="2500">
                <a:solidFill>
                  <a:schemeClr val="dk1"/>
                </a:solidFill>
                <a:latin typeface="Unbounded"/>
                <a:ea typeface="Unbounded"/>
                <a:cs typeface="Unbounded"/>
                <a:sym typeface="Unbounded"/>
              </a:defRPr>
            </a:lvl2pPr>
            <a:lvl3pPr lvl="2" rtl="0">
              <a:spcBef>
                <a:spcPts val="0"/>
              </a:spcBef>
              <a:spcAft>
                <a:spcPts val="0"/>
              </a:spcAft>
              <a:buClr>
                <a:schemeClr val="dk1"/>
              </a:buClr>
              <a:buSzPts val="2500"/>
              <a:buFont typeface="Unbounded"/>
              <a:buNone/>
              <a:defRPr b="1" sz="2500">
                <a:solidFill>
                  <a:schemeClr val="dk1"/>
                </a:solidFill>
                <a:latin typeface="Unbounded"/>
                <a:ea typeface="Unbounded"/>
                <a:cs typeface="Unbounded"/>
                <a:sym typeface="Unbounded"/>
              </a:defRPr>
            </a:lvl3pPr>
            <a:lvl4pPr lvl="3" rtl="0">
              <a:spcBef>
                <a:spcPts val="0"/>
              </a:spcBef>
              <a:spcAft>
                <a:spcPts val="0"/>
              </a:spcAft>
              <a:buClr>
                <a:schemeClr val="dk1"/>
              </a:buClr>
              <a:buSzPts val="2500"/>
              <a:buFont typeface="Unbounded"/>
              <a:buNone/>
              <a:defRPr b="1" sz="2500">
                <a:solidFill>
                  <a:schemeClr val="dk1"/>
                </a:solidFill>
                <a:latin typeface="Unbounded"/>
                <a:ea typeface="Unbounded"/>
                <a:cs typeface="Unbounded"/>
                <a:sym typeface="Unbounded"/>
              </a:defRPr>
            </a:lvl4pPr>
            <a:lvl5pPr lvl="4" rtl="0">
              <a:spcBef>
                <a:spcPts val="0"/>
              </a:spcBef>
              <a:spcAft>
                <a:spcPts val="0"/>
              </a:spcAft>
              <a:buClr>
                <a:schemeClr val="dk1"/>
              </a:buClr>
              <a:buSzPts val="2500"/>
              <a:buFont typeface="Unbounded"/>
              <a:buNone/>
              <a:defRPr b="1" sz="2500">
                <a:solidFill>
                  <a:schemeClr val="dk1"/>
                </a:solidFill>
                <a:latin typeface="Unbounded"/>
                <a:ea typeface="Unbounded"/>
                <a:cs typeface="Unbounded"/>
                <a:sym typeface="Unbounded"/>
              </a:defRPr>
            </a:lvl5pPr>
            <a:lvl6pPr lvl="5" rtl="0">
              <a:spcBef>
                <a:spcPts val="0"/>
              </a:spcBef>
              <a:spcAft>
                <a:spcPts val="0"/>
              </a:spcAft>
              <a:buClr>
                <a:schemeClr val="dk1"/>
              </a:buClr>
              <a:buSzPts val="2500"/>
              <a:buFont typeface="Unbounded"/>
              <a:buNone/>
              <a:defRPr b="1" sz="2500">
                <a:solidFill>
                  <a:schemeClr val="dk1"/>
                </a:solidFill>
                <a:latin typeface="Unbounded"/>
                <a:ea typeface="Unbounded"/>
                <a:cs typeface="Unbounded"/>
                <a:sym typeface="Unbounded"/>
              </a:defRPr>
            </a:lvl6pPr>
            <a:lvl7pPr lvl="6" rtl="0">
              <a:spcBef>
                <a:spcPts val="0"/>
              </a:spcBef>
              <a:spcAft>
                <a:spcPts val="0"/>
              </a:spcAft>
              <a:buClr>
                <a:schemeClr val="dk1"/>
              </a:buClr>
              <a:buSzPts val="2500"/>
              <a:buFont typeface="Unbounded"/>
              <a:buNone/>
              <a:defRPr b="1" sz="2500">
                <a:solidFill>
                  <a:schemeClr val="dk1"/>
                </a:solidFill>
                <a:latin typeface="Unbounded"/>
                <a:ea typeface="Unbounded"/>
                <a:cs typeface="Unbounded"/>
                <a:sym typeface="Unbounded"/>
              </a:defRPr>
            </a:lvl7pPr>
            <a:lvl8pPr lvl="7" rtl="0">
              <a:spcBef>
                <a:spcPts val="0"/>
              </a:spcBef>
              <a:spcAft>
                <a:spcPts val="0"/>
              </a:spcAft>
              <a:buClr>
                <a:schemeClr val="dk1"/>
              </a:buClr>
              <a:buSzPts val="2500"/>
              <a:buFont typeface="Unbounded"/>
              <a:buNone/>
              <a:defRPr b="1" sz="2500">
                <a:solidFill>
                  <a:schemeClr val="dk1"/>
                </a:solidFill>
                <a:latin typeface="Unbounded"/>
                <a:ea typeface="Unbounded"/>
                <a:cs typeface="Unbounded"/>
                <a:sym typeface="Unbounded"/>
              </a:defRPr>
            </a:lvl8pPr>
            <a:lvl9pPr lvl="8" rtl="0">
              <a:spcBef>
                <a:spcPts val="0"/>
              </a:spcBef>
              <a:spcAft>
                <a:spcPts val="0"/>
              </a:spcAft>
              <a:buClr>
                <a:schemeClr val="dk1"/>
              </a:buClr>
              <a:buSzPts val="2500"/>
              <a:buFont typeface="Unbounded"/>
              <a:buNone/>
              <a:defRPr b="1" sz="2500">
                <a:solidFill>
                  <a:schemeClr val="dk1"/>
                </a:solidFill>
                <a:latin typeface="Unbounded"/>
                <a:ea typeface="Unbounded"/>
                <a:cs typeface="Unbounded"/>
                <a:sym typeface="Unbounded"/>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Source Sans Pro"/>
              <a:buChar char="●"/>
              <a:defRPr sz="1200">
                <a:solidFill>
                  <a:schemeClr val="dk1"/>
                </a:solidFill>
                <a:latin typeface="Source Sans Pro"/>
                <a:ea typeface="Source Sans Pro"/>
                <a:cs typeface="Source Sans Pro"/>
                <a:sym typeface="Source Sans Pro"/>
              </a:defRPr>
            </a:lvl1pPr>
            <a:lvl2pPr indent="-304800" lvl="1" marL="914400">
              <a:lnSpc>
                <a:spcPct val="100000"/>
              </a:lnSpc>
              <a:spcBef>
                <a:spcPts val="1600"/>
              </a:spcBef>
              <a:spcAft>
                <a:spcPts val="0"/>
              </a:spcAft>
              <a:buClr>
                <a:schemeClr val="dk1"/>
              </a:buClr>
              <a:buSzPts val="1200"/>
              <a:buFont typeface="Source Sans Pro"/>
              <a:buChar char="○"/>
              <a:defRPr sz="1200">
                <a:solidFill>
                  <a:schemeClr val="dk1"/>
                </a:solidFill>
                <a:latin typeface="Source Sans Pro"/>
                <a:ea typeface="Source Sans Pro"/>
                <a:cs typeface="Source Sans Pro"/>
                <a:sym typeface="Source Sans Pro"/>
              </a:defRPr>
            </a:lvl2pPr>
            <a:lvl3pPr indent="-304800" lvl="2" marL="1371600">
              <a:lnSpc>
                <a:spcPct val="100000"/>
              </a:lnSpc>
              <a:spcBef>
                <a:spcPts val="1600"/>
              </a:spcBef>
              <a:spcAft>
                <a:spcPts val="0"/>
              </a:spcAft>
              <a:buClr>
                <a:schemeClr val="dk1"/>
              </a:buClr>
              <a:buSzPts val="1200"/>
              <a:buFont typeface="Source Sans Pro"/>
              <a:buChar char="■"/>
              <a:defRPr sz="1200">
                <a:solidFill>
                  <a:schemeClr val="dk1"/>
                </a:solidFill>
                <a:latin typeface="Source Sans Pro"/>
                <a:ea typeface="Source Sans Pro"/>
                <a:cs typeface="Source Sans Pro"/>
                <a:sym typeface="Source Sans Pro"/>
              </a:defRPr>
            </a:lvl3pPr>
            <a:lvl4pPr indent="-304800" lvl="3" marL="1828800">
              <a:lnSpc>
                <a:spcPct val="100000"/>
              </a:lnSpc>
              <a:spcBef>
                <a:spcPts val="1600"/>
              </a:spcBef>
              <a:spcAft>
                <a:spcPts val="0"/>
              </a:spcAft>
              <a:buClr>
                <a:schemeClr val="dk1"/>
              </a:buClr>
              <a:buSzPts val="1200"/>
              <a:buFont typeface="Source Sans Pro"/>
              <a:buChar char="●"/>
              <a:defRPr sz="1200">
                <a:solidFill>
                  <a:schemeClr val="dk1"/>
                </a:solidFill>
                <a:latin typeface="Source Sans Pro"/>
                <a:ea typeface="Source Sans Pro"/>
                <a:cs typeface="Source Sans Pro"/>
                <a:sym typeface="Source Sans Pro"/>
              </a:defRPr>
            </a:lvl4pPr>
            <a:lvl5pPr indent="-304800" lvl="4" marL="2286000">
              <a:lnSpc>
                <a:spcPct val="100000"/>
              </a:lnSpc>
              <a:spcBef>
                <a:spcPts val="1600"/>
              </a:spcBef>
              <a:spcAft>
                <a:spcPts val="0"/>
              </a:spcAft>
              <a:buClr>
                <a:schemeClr val="dk1"/>
              </a:buClr>
              <a:buSzPts val="1200"/>
              <a:buFont typeface="Source Sans Pro"/>
              <a:buChar char="○"/>
              <a:defRPr sz="1200">
                <a:solidFill>
                  <a:schemeClr val="dk1"/>
                </a:solidFill>
                <a:latin typeface="Source Sans Pro"/>
                <a:ea typeface="Source Sans Pro"/>
                <a:cs typeface="Source Sans Pro"/>
                <a:sym typeface="Source Sans Pro"/>
              </a:defRPr>
            </a:lvl5pPr>
            <a:lvl6pPr indent="-304800" lvl="5" marL="2743200">
              <a:lnSpc>
                <a:spcPct val="100000"/>
              </a:lnSpc>
              <a:spcBef>
                <a:spcPts val="1600"/>
              </a:spcBef>
              <a:spcAft>
                <a:spcPts val="0"/>
              </a:spcAft>
              <a:buClr>
                <a:schemeClr val="dk1"/>
              </a:buClr>
              <a:buSzPts val="1200"/>
              <a:buFont typeface="Source Sans Pro"/>
              <a:buChar char="■"/>
              <a:defRPr sz="1200">
                <a:solidFill>
                  <a:schemeClr val="dk1"/>
                </a:solidFill>
                <a:latin typeface="Source Sans Pro"/>
                <a:ea typeface="Source Sans Pro"/>
                <a:cs typeface="Source Sans Pro"/>
                <a:sym typeface="Source Sans Pro"/>
              </a:defRPr>
            </a:lvl6pPr>
            <a:lvl7pPr indent="-304800" lvl="6" marL="3200400">
              <a:lnSpc>
                <a:spcPct val="100000"/>
              </a:lnSpc>
              <a:spcBef>
                <a:spcPts val="1600"/>
              </a:spcBef>
              <a:spcAft>
                <a:spcPts val="0"/>
              </a:spcAft>
              <a:buClr>
                <a:schemeClr val="dk1"/>
              </a:buClr>
              <a:buSzPts val="1200"/>
              <a:buFont typeface="Source Sans Pro"/>
              <a:buChar char="●"/>
              <a:defRPr sz="1200">
                <a:solidFill>
                  <a:schemeClr val="dk1"/>
                </a:solidFill>
                <a:latin typeface="Source Sans Pro"/>
                <a:ea typeface="Source Sans Pro"/>
                <a:cs typeface="Source Sans Pro"/>
                <a:sym typeface="Source Sans Pro"/>
              </a:defRPr>
            </a:lvl7pPr>
            <a:lvl8pPr indent="-304800" lvl="7" marL="3657600">
              <a:lnSpc>
                <a:spcPct val="100000"/>
              </a:lnSpc>
              <a:spcBef>
                <a:spcPts val="1600"/>
              </a:spcBef>
              <a:spcAft>
                <a:spcPts val="0"/>
              </a:spcAft>
              <a:buClr>
                <a:schemeClr val="dk1"/>
              </a:buClr>
              <a:buSzPts val="1200"/>
              <a:buFont typeface="Source Sans Pro"/>
              <a:buChar char="○"/>
              <a:defRPr sz="1200">
                <a:solidFill>
                  <a:schemeClr val="dk1"/>
                </a:solidFill>
                <a:latin typeface="Source Sans Pro"/>
                <a:ea typeface="Source Sans Pro"/>
                <a:cs typeface="Source Sans Pro"/>
                <a:sym typeface="Source Sans Pro"/>
              </a:defRPr>
            </a:lvl8pPr>
            <a:lvl9pPr indent="-304800" lvl="8" marL="4114800">
              <a:lnSpc>
                <a:spcPct val="100000"/>
              </a:lnSpc>
              <a:spcBef>
                <a:spcPts val="1600"/>
              </a:spcBef>
              <a:spcAft>
                <a:spcPts val="1600"/>
              </a:spcAft>
              <a:buClr>
                <a:schemeClr val="dk1"/>
              </a:buClr>
              <a:buSzPts val="1200"/>
              <a:buFont typeface="Source Sans Pro"/>
              <a:buChar char="■"/>
              <a:defRPr sz="1200">
                <a:solidFill>
                  <a:schemeClr val="dk1"/>
                </a:solidFill>
                <a:latin typeface="Source Sans Pro"/>
                <a:ea typeface="Source Sans Pro"/>
                <a:cs typeface="Source Sans Pro"/>
                <a:sym typeface="Source Sans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hyperlink" Target="https://www.seoptimer.com/glengroup.ca" TargetMode="External"/><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hyperlink" Target="https://www.seoptimer.com/www.karasgroup.ca" TargetMode="External"/><Relationship Id="rId4"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7.jpg"/><Relationship Id="rId4" Type="http://schemas.openxmlformats.org/officeDocument/2006/relationships/hyperlink" Target="https://drive.google.com/file/d/1ZXHA8Cq9xWEqyaYu5wEfPDNPyptfBK75/view?usp=sharing" TargetMode="External"/><Relationship Id="rId5" Type="http://schemas.openxmlformats.org/officeDocument/2006/relationships/image" Target="../media/image13.jpg"/><Relationship Id="rId6" Type="http://schemas.openxmlformats.org/officeDocument/2006/relationships/image" Target="../media/image17.jpg"/><Relationship Id="rId7"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s://www.seoptimer.com/glentraffic.ca" TargetMode="External"/><Relationship Id="rId4"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hyperlink" Target="https://www.seoptimer.com/glentraffic.ca" TargetMode="External"/><Relationship Id="rId4"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hyperlink" Target="https://www.seoptimer.com/glenhomes.ca" TargetMode="External"/><Relationship Id="rId4"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hyperlink" Target="https://glenhomes.ca/"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grpSp>
        <p:nvGrpSpPr>
          <p:cNvPr id="448" name="Google Shape;448;p26"/>
          <p:cNvGrpSpPr/>
          <p:nvPr/>
        </p:nvGrpSpPr>
        <p:grpSpPr>
          <a:xfrm>
            <a:off x="722025" y="875325"/>
            <a:ext cx="4739100" cy="2772550"/>
            <a:chOff x="722025" y="875325"/>
            <a:chExt cx="4739100" cy="2772550"/>
          </a:xfrm>
        </p:grpSpPr>
        <p:cxnSp>
          <p:nvCxnSpPr>
            <p:cNvPr id="449" name="Google Shape;449;p26"/>
            <p:cNvCxnSpPr/>
            <p:nvPr/>
          </p:nvCxnSpPr>
          <p:spPr>
            <a:xfrm>
              <a:off x="722025" y="3647875"/>
              <a:ext cx="4739100" cy="0"/>
            </a:xfrm>
            <a:prstGeom prst="straightConnector1">
              <a:avLst/>
            </a:prstGeom>
            <a:noFill/>
            <a:ln cap="flat" cmpd="sng" w="9525">
              <a:solidFill>
                <a:schemeClr val="dk1"/>
              </a:solidFill>
              <a:prstDash val="solid"/>
              <a:round/>
              <a:headEnd len="med" w="med" type="none"/>
              <a:tailEnd len="med" w="med" type="none"/>
            </a:ln>
          </p:spPr>
        </p:cxnSp>
        <p:cxnSp>
          <p:nvCxnSpPr>
            <p:cNvPr id="450" name="Google Shape;450;p26"/>
            <p:cNvCxnSpPr/>
            <p:nvPr/>
          </p:nvCxnSpPr>
          <p:spPr>
            <a:xfrm>
              <a:off x="722025" y="875325"/>
              <a:ext cx="4739100" cy="0"/>
            </a:xfrm>
            <a:prstGeom prst="straightConnector1">
              <a:avLst/>
            </a:prstGeom>
            <a:noFill/>
            <a:ln cap="flat" cmpd="sng" w="9525">
              <a:solidFill>
                <a:schemeClr val="dk1"/>
              </a:solidFill>
              <a:prstDash val="solid"/>
              <a:round/>
              <a:headEnd len="med" w="med" type="none"/>
              <a:tailEnd len="med" w="med" type="none"/>
            </a:ln>
          </p:spPr>
        </p:cxnSp>
      </p:grpSp>
      <p:sp>
        <p:nvSpPr>
          <p:cNvPr id="451" name="Google Shape;451;p26"/>
          <p:cNvSpPr txBox="1"/>
          <p:nvPr>
            <p:ph type="ctrTitle"/>
          </p:nvPr>
        </p:nvSpPr>
        <p:spPr>
          <a:xfrm>
            <a:off x="615375" y="937400"/>
            <a:ext cx="4976100" cy="2561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800"/>
              <a:t>Digital Marketing Plan for Glen Group of Companies</a:t>
            </a:r>
            <a:endParaRPr sz="2100">
              <a:highlight>
                <a:schemeClr val="accent1"/>
              </a:highlight>
            </a:endParaRPr>
          </a:p>
        </p:txBody>
      </p:sp>
      <p:sp>
        <p:nvSpPr>
          <p:cNvPr id="452" name="Google Shape;452;p26"/>
          <p:cNvSpPr txBox="1"/>
          <p:nvPr>
            <p:ph idx="1" type="subTitle"/>
          </p:nvPr>
        </p:nvSpPr>
        <p:spPr>
          <a:xfrm>
            <a:off x="615375" y="3792375"/>
            <a:ext cx="4976100" cy="475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Srijan Mishra</a:t>
            </a:r>
            <a:endParaRPr/>
          </a:p>
        </p:txBody>
      </p:sp>
      <p:sp>
        <p:nvSpPr>
          <p:cNvPr id="453" name="Google Shape;453;p26"/>
          <p:cNvSpPr/>
          <p:nvPr/>
        </p:nvSpPr>
        <p:spPr>
          <a:xfrm>
            <a:off x="5144175" y="-1133600"/>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4" name="Google Shape;454;p26"/>
          <p:cNvPicPr preferRelativeResize="0"/>
          <p:nvPr/>
        </p:nvPicPr>
        <p:blipFill>
          <a:blip r:embed="rId3">
            <a:alphaModFix/>
          </a:blip>
          <a:stretch>
            <a:fillRect/>
          </a:stretch>
        </p:blipFill>
        <p:spPr>
          <a:xfrm>
            <a:off x="6392900" y="1146538"/>
            <a:ext cx="2143125" cy="2143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grpSp>
        <p:nvGrpSpPr>
          <p:cNvPr id="459" name="Google Shape;459;p27"/>
          <p:cNvGrpSpPr/>
          <p:nvPr/>
        </p:nvGrpSpPr>
        <p:grpSpPr>
          <a:xfrm>
            <a:off x="719991" y="2058784"/>
            <a:ext cx="1933553" cy="572809"/>
            <a:chOff x="722025" y="875325"/>
            <a:chExt cx="4739100" cy="2772550"/>
          </a:xfrm>
        </p:grpSpPr>
        <p:cxnSp>
          <p:nvCxnSpPr>
            <p:cNvPr id="460" name="Google Shape;460;p27"/>
            <p:cNvCxnSpPr/>
            <p:nvPr/>
          </p:nvCxnSpPr>
          <p:spPr>
            <a:xfrm>
              <a:off x="722025" y="3647875"/>
              <a:ext cx="4739100" cy="0"/>
            </a:xfrm>
            <a:prstGeom prst="straightConnector1">
              <a:avLst/>
            </a:prstGeom>
            <a:noFill/>
            <a:ln cap="flat" cmpd="sng" w="9525">
              <a:solidFill>
                <a:schemeClr val="dk1"/>
              </a:solidFill>
              <a:prstDash val="solid"/>
              <a:round/>
              <a:headEnd len="med" w="med" type="none"/>
              <a:tailEnd len="med" w="med" type="none"/>
            </a:ln>
          </p:spPr>
        </p:cxnSp>
        <p:cxnSp>
          <p:nvCxnSpPr>
            <p:cNvPr id="461" name="Google Shape;461;p27"/>
            <p:cNvCxnSpPr/>
            <p:nvPr/>
          </p:nvCxnSpPr>
          <p:spPr>
            <a:xfrm>
              <a:off x="722025" y="875325"/>
              <a:ext cx="4739100" cy="0"/>
            </a:xfrm>
            <a:prstGeom prst="straightConnector1">
              <a:avLst/>
            </a:prstGeom>
            <a:noFill/>
            <a:ln cap="flat" cmpd="sng" w="9525">
              <a:solidFill>
                <a:schemeClr val="dk1"/>
              </a:solidFill>
              <a:prstDash val="solid"/>
              <a:round/>
              <a:headEnd len="med" w="med" type="none"/>
              <a:tailEnd len="med" w="med" type="none"/>
            </a:ln>
          </p:spPr>
        </p:cxnSp>
      </p:grpSp>
      <p:grpSp>
        <p:nvGrpSpPr>
          <p:cNvPr id="462" name="Google Shape;462;p27"/>
          <p:cNvGrpSpPr/>
          <p:nvPr/>
        </p:nvGrpSpPr>
        <p:grpSpPr>
          <a:xfrm>
            <a:off x="719991" y="3785884"/>
            <a:ext cx="1933553" cy="572809"/>
            <a:chOff x="722025" y="875325"/>
            <a:chExt cx="4739100" cy="2772550"/>
          </a:xfrm>
        </p:grpSpPr>
        <p:cxnSp>
          <p:nvCxnSpPr>
            <p:cNvPr id="463" name="Google Shape;463;p27"/>
            <p:cNvCxnSpPr/>
            <p:nvPr/>
          </p:nvCxnSpPr>
          <p:spPr>
            <a:xfrm>
              <a:off x="722025" y="3647875"/>
              <a:ext cx="4739100" cy="0"/>
            </a:xfrm>
            <a:prstGeom prst="straightConnector1">
              <a:avLst/>
            </a:prstGeom>
            <a:noFill/>
            <a:ln cap="flat" cmpd="sng" w="9525">
              <a:solidFill>
                <a:schemeClr val="dk1"/>
              </a:solidFill>
              <a:prstDash val="solid"/>
              <a:round/>
              <a:headEnd len="med" w="med" type="none"/>
              <a:tailEnd len="med" w="med" type="none"/>
            </a:ln>
          </p:spPr>
        </p:cxnSp>
        <p:cxnSp>
          <p:nvCxnSpPr>
            <p:cNvPr id="464" name="Google Shape;464;p27"/>
            <p:cNvCxnSpPr/>
            <p:nvPr/>
          </p:nvCxnSpPr>
          <p:spPr>
            <a:xfrm>
              <a:off x="722025" y="875325"/>
              <a:ext cx="4739100" cy="0"/>
            </a:xfrm>
            <a:prstGeom prst="straightConnector1">
              <a:avLst/>
            </a:prstGeom>
            <a:noFill/>
            <a:ln cap="flat" cmpd="sng" w="9525">
              <a:solidFill>
                <a:schemeClr val="dk1"/>
              </a:solidFill>
              <a:prstDash val="solid"/>
              <a:round/>
              <a:headEnd len="med" w="med" type="none"/>
              <a:tailEnd len="med" w="med" type="none"/>
            </a:ln>
          </p:spPr>
        </p:cxnSp>
      </p:grpSp>
      <p:grpSp>
        <p:nvGrpSpPr>
          <p:cNvPr id="465" name="Google Shape;465;p27"/>
          <p:cNvGrpSpPr/>
          <p:nvPr/>
        </p:nvGrpSpPr>
        <p:grpSpPr>
          <a:xfrm>
            <a:off x="3419278" y="2058784"/>
            <a:ext cx="1933553" cy="572809"/>
            <a:chOff x="722025" y="875325"/>
            <a:chExt cx="4739100" cy="2772550"/>
          </a:xfrm>
        </p:grpSpPr>
        <p:cxnSp>
          <p:nvCxnSpPr>
            <p:cNvPr id="466" name="Google Shape;466;p27"/>
            <p:cNvCxnSpPr/>
            <p:nvPr/>
          </p:nvCxnSpPr>
          <p:spPr>
            <a:xfrm>
              <a:off x="722025" y="3647875"/>
              <a:ext cx="4739100" cy="0"/>
            </a:xfrm>
            <a:prstGeom prst="straightConnector1">
              <a:avLst/>
            </a:prstGeom>
            <a:noFill/>
            <a:ln cap="flat" cmpd="sng" w="9525">
              <a:solidFill>
                <a:schemeClr val="dk1"/>
              </a:solidFill>
              <a:prstDash val="solid"/>
              <a:round/>
              <a:headEnd len="med" w="med" type="none"/>
              <a:tailEnd len="med" w="med" type="none"/>
            </a:ln>
          </p:spPr>
        </p:cxnSp>
        <p:cxnSp>
          <p:nvCxnSpPr>
            <p:cNvPr id="467" name="Google Shape;467;p27"/>
            <p:cNvCxnSpPr/>
            <p:nvPr/>
          </p:nvCxnSpPr>
          <p:spPr>
            <a:xfrm>
              <a:off x="722025" y="875325"/>
              <a:ext cx="4739100" cy="0"/>
            </a:xfrm>
            <a:prstGeom prst="straightConnector1">
              <a:avLst/>
            </a:prstGeom>
            <a:noFill/>
            <a:ln cap="flat" cmpd="sng" w="9525">
              <a:solidFill>
                <a:schemeClr val="dk1"/>
              </a:solidFill>
              <a:prstDash val="solid"/>
              <a:round/>
              <a:headEnd len="med" w="med" type="none"/>
              <a:tailEnd len="med" w="med" type="none"/>
            </a:ln>
          </p:spPr>
        </p:cxnSp>
      </p:grpSp>
      <p:grpSp>
        <p:nvGrpSpPr>
          <p:cNvPr id="468" name="Google Shape;468;p27"/>
          <p:cNvGrpSpPr/>
          <p:nvPr/>
        </p:nvGrpSpPr>
        <p:grpSpPr>
          <a:xfrm>
            <a:off x="6118541" y="2058784"/>
            <a:ext cx="1933553" cy="572809"/>
            <a:chOff x="722025" y="875325"/>
            <a:chExt cx="4739100" cy="2772550"/>
          </a:xfrm>
        </p:grpSpPr>
        <p:cxnSp>
          <p:nvCxnSpPr>
            <p:cNvPr id="469" name="Google Shape;469;p27"/>
            <p:cNvCxnSpPr/>
            <p:nvPr/>
          </p:nvCxnSpPr>
          <p:spPr>
            <a:xfrm>
              <a:off x="722025" y="3647875"/>
              <a:ext cx="4739100" cy="0"/>
            </a:xfrm>
            <a:prstGeom prst="straightConnector1">
              <a:avLst/>
            </a:prstGeom>
            <a:noFill/>
            <a:ln cap="flat" cmpd="sng" w="9525">
              <a:solidFill>
                <a:schemeClr val="dk1"/>
              </a:solidFill>
              <a:prstDash val="solid"/>
              <a:round/>
              <a:headEnd len="med" w="med" type="none"/>
              <a:tailEnd len="med" w="med" type="none"/>
            </a:ln>
          </p:spPr>
        </p:cxnSp>
        <p:cxnSp>
          <p:nvCxnSpPr>
            <p:cNvPr id="470" name="Google Shape;470;p27"/>
            <p:cNvCxnSpPr/>
            <p:nvPr/>
          </p:nvCxnSpPr>
          <p:spPr>
            <a:xfrm>
              <a:off x="722025" y="875325"/>
              <a:ext cx="4739100" cy="0"/>
            </a:xfrm>
            <a:prstGeom prst="straightConnector1">
              <a:avLst/>
            </a:prstGeom>
            <a:noFill/>
            <a:ln cap="flat" cmpd="sng" w="9525">
              <a:solidFill>
                <a:schemeClr val="dk1"/>
              </a:solidFill>
              <a:prstDash val="solid"/>
              <a:round/>
              <a:headEnd len="med" w="med" type="none"/>
              <a:tailEnd len="med" w="med" type="none"/>
            </a:ln>
          </p:spPr>
        </p:cxnSp>
      </p:grpSp>
      <p:grpSp>
        <p:nvGrpSpPr>
          <p:cNvPr id="471" name="Google Shape;471;p27"/>
          <p:cNvGrpSpPr/>
          <p:nvPr/>
        </p:nvGrpSpPr>
        <p:grpSpPr>
          <a:xfrm>
            <a:off x="3233291" y="3741509"/>
            <a:ext cx="1933553" cy="572809"/>
            <a:chOff x="722025" y="875325"/>
            <a:chExt cx="4739100" cy="2772550"/>
          </a:xfrm>
        </p:grpSpPr>
        <p:cxnSp>
          <p:nvCxnSpPr>
            <p:cNvPr id="472" name="Google Shape;472;p27"/>
            <p:cNvCxnSpPr/>
            <p:nvPr/>
          </p:nvCxnSpPr>
          <p:spPr>
            <a:xfrm>
              <a:off x="722025" y="3647875"/>
              <a:ext cx="4739100" cy="0"/>
            </a:xfrm>
            <a:prstGeom prst="straightConnector1">
              <a:avLst/>
            </a:prstGeom>
            <a:noFill/>
            <a:ln cap="flat" cmpd="sng" w="9525">
              <a:solidFill>
                <a:schemeClr val="dk1"/>
              </a:solidFill>
              <a:prstDash val="solid"/>
              <a:round/>
              <a:headEnd len="med" w="med" type="none"/>
              <a:tailEnd len="med" w="med" type="none"/>
            </a:ln>
          </p:spPr>
        </p:cxnSp>
        <p:cxnSp>
          <p:nvCxnSpPr>
            <p:cNvPr id="473" name="Google Shape;473;p27"/>
            <p:cNvCxnSpPr/>
            <p:nvPr/>
          </p:nvCxnSpPr>
          <p:spPr>
            <a:xfrm>
              <a:off x="722025" y="875325"/>
              <a:ext cx="4739100" cy="0"/>
            </a:xfrm>
            <a:prstGeom prst="straightConnector1">
              <a:avLst/>
            </a:prstGeom>
            <a:noFill/>
            <a:ln cap="flat" cmpd="sng" w="9525">
              <a:solidFill>
                <a:schemeClr val="dk1"/>
              </a:solidFill>
              <a:prstDash val="solid"/>
              <a:round/>
              <a:headEnd len="med" w="med" type="none"/>
              <a:tailEnd len="med" w="med" type="none"/>
            </a:ln>
          </p:spPr>
        </p:cxnSp>
      </p:grpSp>
      <p:sp>
        <p:nvSpPr>
          <p:cNvPr id="474" name="Google Shape;474;p27"/>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a:t>
            </a:r>
            <a:r>
              <a:rPr lang="en">
                <a:highlight>
                  <a:schemeClr val="accent1"/>
                </a:highlight>
              </a:rPr>
              <a:t>CONTENTS</a:t>
            </a:r>
            <a:endParaRPr>
              <a:highlight>
                <a:schemeClr val="accent1"/>
              </a:highlight>
            </a:endParaRPr>
          </a:p>
        </p:txBody>
      </p:sp>
      <p:sp>
        <p:nvSpPr>
          <p:cNvPr id="475" name="Google Shape;475;p27"/>
          <p:cNvSpPr txBox="1"/>
          <p:nvPr>
            <p:ph idx="2" type="title"/>
          </p:nvPr>
        </p:nvSpPr>
        <p:spPr>
          <a:xfrm>
            <a:off x="818400" y="1404675"/>
            <a:ext cx="9888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476" name="Google Shape;476;p27"/>
          <p:cNvSpPr txBox="1"/>
          <p:nvPr>
            <p:ph idx="3" type="title"/>
          </p:nvPr>
        </p:nvSpPr>
        <p:spPr>
          <a:xfrm>
            <a:off x="818400" y="3131774"/>
            <a:ext cx="9888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477" name="Google Shape;477;p27"/>
          <p:cNvSpPr txBox="1"/>
          <p:nvPr>
            <p:ph idx="4" type="title"/>
          </p:nvPr>
        </p:nvSpPr>
        <p:spPr>
          <a:xfrm>
            <a:off x="3517674" y="1404675"/>
            <a:ext cx="9888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478" name="Google Shape;478;p27"/>
          <p:cNvSpPr txBox="1"/>
          <p:nvPr>
            <p:ph idx="6" type="title"/>
          </p:nvPr>
        </p:nvSpPr>
        <p:spPr>
          <a:xfrm>
            <a:off x="6216949" y="1404675"/>
            <a:ext cx="9888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479" name="Google Shape;479;p27"/>
          <p:cNvSpPr txBox="1"/>
          <p:nvPr>
            <p:ph idx="7" type="title"/>
          </p:nvPr>
        </p:nvSpPr>
        <p:spPr>
          <a:xfrm>
            <a:off x="3331699" y="3087396"/>
            <a:ext cx="9888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06</a:t>
            </a:r>
            <a:endParaRPr/>
          </a:p>
        </p:txBody>
      </p:sp>
      <p:sp>
        <p:nvSpPr>
          <p:cNvPr id="480" name="Google Shape;480;p27"/>
          <p:cNvSpPr txBox="1"/>
          <p:nvPr>
            <p:ph idx="1" type="subTitle"/>
          </p:nvPr>
        </p:nvSpPr>
        <p:spPr>
          <a:xfrm>
            <a:off x="720000" y="2294775"/>
            <a:ext cx="2157000" cy="394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500"/>
              <a:t>Website Analysis</a:t>
            </a:r>
            <a:endParaRPr sz="1500"/>
          </a:p>
        </p:txBody>
      </p:sp>
      <p:sp>
        <p:nvSpPr>
          <p:cNvPr id="481" name="Google Shape;481;p27"/>
          <p:cNvSpPr txBox="1"/>
          <p:nvPr>
            <p:ph idx="8" type="subTitle"/>
          </p:nvPr>
        </p:nvSpPr>
        <p:spPr>
          <a:xfrm>
            <a:off x="3419250" y="2294775"/>
            <a:ext cx="2305500" cy="394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500"/>
              <a:t>Social Media Analysis</a:t>
            </a:r>
            <a:endParaRPr sz="1500"/>
          </a:p>
        </p:txBody>
      </p:sp>
      <p:sp>
        <p:nvSpPr>
          <p:cNvPr id="482" name="Google Shape;482;p27"/>
          <p:cNvSpPr txBox="1"/>
          <p:nvPr>
            <p:ph idx="9" type="subTitle"/>
          </p:nvPr>
        </p:nvSpPr>
        <p:spPr>
          <a:xfrm>
            <a:off x="6118550" y="2268875"/>
            <a:ext cx="2305500" cy="394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500"/>
              <a:t>Target </a:t>
            </a:r>
            <a:endParaRPr sz="1500"/>
          </a:p>
          <a:p>
            <a:pPr indent="0" lvl="0" marL="0" rtl="0" algn="l">
              <a:spcBef>
                <a:spcPts val="0"/>
              </a:spcBef>
              <a:spcAft>
                <a:spcPts val="0"/>
              </a:spcAft>
              <a:buNone/>
            </a:pPr>
            <a:r>
              <a:rPr lang="en" sz="1500"/>
              <a:t>Audience</a:t>
            </a:r>
            <a:endParaRPr sz="1500"/>
          </a:p>
        </p:txBody>
      </p:sp>
      <p:sp>
        <p:nvSpPr>
          <p:cNvPr id="483" name="Google Shape;483;p27"/>
          <p:cNvSpPr txBox="1"/>
          <p:nvPr>
            <p:ph idx="13" type="subTitle"/>
          </p:nvPr>
        </p:nvSpPr>
        <p:spPr>
          <a:xfrm>
            <a:off x="720000" y="3919825"/>
            <a:ext cx="2305500" cy="394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500"/>
              <a:t>Strategy</a:t>
            </a:r>
            <a:endParaRPr sz="1500"/>
          </a:p>
        </p:txBody>
      </p:sp>
      <p:sp>
        <p:nvSpPr>
          <p:cNvPr id="484" name="Google Shape;484;p27"/>
          <p:cNvSpPr txBox="1"/>
          <p:nvPr>
            <p:ph idx="15" type="subTitle"/>
          </p:nvPr>
        </p:nvSpPr>
        <p:spPr>
          <a:xfrm>
            <a:off x="3233300" y="3875450"/>
            <a:ext cx="2305500" cy="394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500"/>
              <a:t>Resources</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pic>
        <p:nvPicPr>
          <p:cNvPr id="489" name="Google Shape;489;p28"/>
          <p:cNvPicPr preferRelativeResize="0"/>
          <p:nvPr/>
        </p:nvPicPr>
        <p:blipFill rotWithShape="1">
          <a:blip r:embed="rId3">
            <a:alphaModFix/>
          </a:blip>
          <a:srcRect b="2075" l="27032" r="14556" t="0"/>
          <a:stretch/>
        </p:blipFill>
        <p:spPr>
          <a:xfrm>
            <a:off x="5461125" y="0"/>
            <a:ext cx="3671173" cy="5143502"/>
          </a:xfrm>
          <a:prstGeom prst="rect">
            <a:avLst/>
          </a:prstGeom>
          <a:noFill/>
          <a:ln>
            <a:noFill/>
          </a:ln>
          <a:effectLst>
            <a:reflection blurRad="0" dir="5400000" dist="38100" endA="0" endPos="30000" fadeDir="5400012" kx="0" rotWithShape="0" algn="bl" stPos="0" sy="-100000" ky="0"/>
          </a:effectLst>
        </p:spPr>
      </p:pic>
      <p:sp>
        <p:nvSpPr>
          <p:cNvPr id="490" name="Google Shape;490;p28"/>
          <p:cNvSpPr txBox="1"/>
          <p:nvPr>
            <p:ph type="title"/>
          </p:nvPr>
        </p:nvSpPr>
        <p:spPr>
          <a:xfrm>
            <a:off x="713225" y="517671"/>
            <a:ext cx="2598900" cy="113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Goal &amp; Objective</a:t>
            </a:r>
            <a:endParaRPr>
              <a:highlight>
                <a:schemeClr val="accent1"/>
              </a:highlight>
            </a:endParaRPr>
          </a:p>
        </p:txBody>
      </p:sp>
      <p:sp>
        <p:nvSpPr>
          <p:cNvPr id="491" name="Google Shape;491;p28"/>
          <p:cNvSpPr txBox="1"/>
          <p:nvPr>
            <p:ph idx="1" type="subTitle"/>
          </p:nvPr>
        </p:nvSpPr>
        <p:spPr>
          <a:xfrm>
            <a:off x="713225" y="1770550"/>
            <a:ext cx="4420500" cy="192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t>Some of the basic goals include:</a:t>
            </a:r>
            <a:endParaRPr sz="1500"/>
          </a:p>
          <a:p>
            <a:pPr indent="-323850" lvl="0" marL="457200" rtl="0" algn="l">
              <a:spcBef>
                <a:spcPts val="1000"/>
              </a:spcBef>
              <a:spcAft>
                <a:spcPts val="0"/>
              </a:spcAft>
              <a:buSzPts val="1500"/>
              <a:buChar char="●"/>
            </a:pPr>
            <a:r>
              <a:rPr lang="en" sz="1500"/>
              <a:t>Generating organic traffic</a:t>
            </a:r>
            <a:endParaRPr sz="1500"/>
          </a:p>
          <a:p>
            <a:pPr indent="-323850" lvl="0" marL="457200" rtl="0" algn="l">
              <a:spcBef>
                <a:spcPts val="0"/>
              </a:spcBef>
              <a:spcAft>
                <a:spcPts val="0"/>
              </a:spcAft>
              <a:buSzPts val="1500"/>
              <a:buChar char="●"/>
            </a:pPr>
            <a:r>
              <a:rPr lang="en" sz="1500"/>
              <a:t>Generating more quality leads</a:t>
            </a:r>
            <a:endParaRPr sz="1500"/>
          </a:p>
          <a:p>
            <a:pPr indent="-323850" lvl="0" marL="457200" rtl="0" algn="l">
              <a:spcBef>
                <a:spcPts val="0"/>
              </a:spcBef>
              <a:spcAft>
                <a:spcPts val="0"/>
              </a:spcAft>
              <a:buSzPts val="1500"/>
              <a:buChar char="●"/>
            </a:pPr>
            <a:r>
              <a:rPr lang="en" sz="1500"/>
              <a:t>Building brand awareness and digital presence</a:t>
            </a:r>
            <a:endParaRPr sz="1500"/>
          </a:p>
          <a:p>
            <a:pPr indent="-323850" lvl="0" marL="457200" rtl="0" algn="l">
              <a:spcBef>
                <a:spcPts val="0"/>
              </a:spcBef>
              <a:spcAft>
                <a:spcPts val="0"/>
              </a:spcAft>
              <a:buSzPts val="1500"/>
              <a:buChar char="●"/>
            </a:pPr>
            <a:r>
              <a:rPr lang="en" sz="1500"/>
              <a:t>Build brand authority </a:t>
            </a:r>
            <a:endParaRPr sz="1500"/>
          </a:p>
          <a:p>
            <a:pPr indent="-323850" lvl="0" marL="457200" rtl="0" algn="l">
              <a:spcBef>
                <a:spcPts val="0"/>
              </a:spcBef>
              <a:spcAft>
                <a:spcPts val="0"/>
              </a:spcAft>
              <a:buSzPts val="1500"/>
              <a:buChar char="●"/>
            </a:pPr>
            <a:r>
              <a:rPr lang="en" sz="1500"/>
              <a:t>Explore new platforms to generate leads</a:t>
            </a:r>
            <a:endParaRPr sz="1500"/>
          </a:p>
        </p:txBody>
      </p:sp>
      <p:sp>
        <p:nvSpPr>
          <p:cNvPr id="492" name="Google Shape;492;p28"/>
          <p:cNvSpPr/>
          <p:nvPr/>
        </p:nvSpPr>
        <p:spPr>
          <a:xfrm>
            <a:off x="7835800" y="-713825"/>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3" name="Google Shape;493;p28"/>
          <p:cNvGrpSpPr/>
          <p:nvPr/>
        </p:nvGrpSpPr>
        <p:grpSpPr>
          <a:xfrm>
            <a:off x="4653999" y="3796946"/>
            <a:ext cx="807124" cy="807049"/>
            <a:chOff x="-2484951" y="3375496"/>
            <a:chExt cx="807124" cy="807049"/>
          </a:xfrm>
        </p:grpSpPr>
        <p:grpSp>
          <p:nvGrpSpPr>
            <p:cNvPr id="494" name="Google Shape;494;p28"/>
            <p:cNvGrpSpPr/>
            <p:nvPr/>
          </p:nvGrpSpPr>
          <p:grpSpPr>
            <a:xfrm>
              <a:off x="-2484951" y="3375496"/>
              <a:ext cx="403560" cy="403560"/>
              <a:chOff x="-2182000" y="2460775"/>
              <a:chExt cx="1679400" cy="1679400"/>
            </a:xfrm>
          </p:grpSpPr>
          <p:sp>
            <p:nvSpPr>
              <p:cNvPr id="495" name="Google Shape;495;p28"/>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6" name="Google Shape;496;p28"/>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497" name="Google Shape;497;p28"/>
            <p:cNvGrpSpPr/>
            <p:nvPr/>
          </p:nvGrpSpPr>
          <p:grpSpPr>
            <a:xfrm>
              <a:off x="-2081387" y="3375496"/>
              <a:ext cx="403560" cy="403560"/>
              <a:chOff x="-2182000" y="2460775"/>
              <a:chExt cx="1679400" cy="1679400"/>
            </a:xfrm>
          </p:grpSpPr>
          <p:sp>
            <p:nvSpPr>
              <p:cNvPr id="498" name="Google Shape;498;p28"/>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9" name="Google Shape;499;p28"/>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500" name="Google Shape;500;p28"/>
            <p:cNvGrpSpPr/>
            <p:nvPr/>
          </p:nvGrpSpPr>
          <p:grpSpPr>
            <a:xfrm>
              <a:off x="-2484951" y="3778985"/>
              <a:ext cx="403560" cy="403560"/>
              <a:chOff x="-2182000" y="2460775"/>
              <a:chExt cx="1679400" cy="1679400"/>
            </a:xfrm>
          </p:grpSpPr>
          <p:sp>
            <p:nvSpPr>
              <p:cNvPr id="501" name="Google Shape;501;p28"/>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2" name="Google Shape;502;p28"/>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503" name="Google Shape;503;p28"/>
            <p:cNvGrpSpPr/>
            <p:nvPr/>
          </p:nvGrpSpPr>
          <p:grpSpPr>
            <a:xfrm>
              <a:off x="-2081387" y="3778985"/>
              <a:ext cx="403560" cy="403560"/>
              <a:chOff x="-2182000" y="2460775"/>
              <a:chExt cx="1679400" cy="1679400"/>
            </a:xfrm>
          </p:grpSpPr>
          <p:sp>
            <p:nvSpPr>
              <p:cNvPr id="504" name="Google Shape;504;p28"/>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5" name="Google Shape;505;p28"/>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29"/>
          <p:cNvSpPr txBox="1"/>
          <p:nvPr>
            <p:ph type="title"/>
          </p:nvPr>
        </p:nvSpPr>
        <p:spPr>
          <a:xfrm>
            <a:off x="4047175" y="2018850"/>
            <a:ext cx="4383600" cy="16803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Website</a:t>
            </a:r>
            <a:r>
              <a:rPr lang="en"/>
              <a:t> </a:t>
            </a:r>
            <a:r>
              <a:rPr lang="en">
                <a:highlight>
                  <a:schemeClr val="accent1"/>
                </a:highlight>
              </a:rPr>
              <a:t>Analysis</a:t>
            </a:r>
            <a:endParaRPr>
              <a:highlight>
                <a:schemeClr val="accent1"/>
              </a:highlight>
            </a:endParaRPr>
          </a:p>
        </p:txBody>
      </p:sp>
      <p:sp>
        <p:nvSpPr>
          <p:cNvPr id="511" name="Google Shape;511;p29"/>
          <p:cNvSpPr txBox="1"/>
          <p:nvPr>
            <p:ph idx="2" type="title"/>
          </p:nvPr>
        </p:nvSpPr>
        <p:spPr>
          <a:xfrm>
            <a:off x="6832075" y="775850"/>
            <a:ext cx="1598700" cy="841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01</a:t>
            </a:r>
            <a:endParaRPr/>
          </a:p>
        </p:txBody>
      </p:sp>
      <p:pic>
        <p:nvPicPr>
          <p:cNvPr id="512" name="Google Shape;512;p29"/>
          <p:cNvPicPr preferRelativeResize="0"/>
          <p:nvPr>
            <p:ph idx="3" type="pic"/>
          </p:nvPr>
        </p:nvPicPr>
        <p:blipFill rotWithShape="1">
          <a:blip r:embed="rId3">
            <a:alphaModFix/>
          </a:blip>
          <a:srcRect b="0" l="11407" r="48818" t="0"/>
          <a:stretch/>
        </p:blipFill>
        <p:spPr>
          <a:xfrm>
            <a:off x="0" y="0"/>
            <a:ext cx="3171599" cy="5143502"/>
          </a:xfrm>
          <a:prstGeom prst="rect">
            <a:avLst/>
          </a:prstGeom>
        </p:spPr>
      </p:pic>
      <p:grpSp>
        <p:nvGrpSpPr>
          <p:cNvPr id="513" name="Google Shape;513;p29"/>
          <p:cNvGrpSpPr/>
          <p:nvPr/>
        </p:nvGrpSpPr>
        <p:grpSpPr>
          <a:xfrm>
            <a:off x="4529150" y="1854000"/>
            <a:ext cx="3749400" cy="2065075"/>
            <a:chOff x="4529150" y="1854000"/>
            <a:chExt cx="3749400" cy="2065075"/>
          </a:xfrm>
        </p:grpSpPr>
        <p:cxnSp>
          <p:nvCxnSpPr>
            <p:cNvPr id="514" name="Google Shape;514;p29"/>
            <p:cNvCxnSpPr/>
            <p:nvPr/>
          </p:nvCxnSpPr>
          <p:spPr>
            <a:xfrm>
              <a:off x="4529150" y="3919075"/>
              <a:ext cx="3749400" cy="0"/>
            </a:xfrm>
            <a:prstGeom prst="straightConnector1">
              <a:avLst/>
            </a:prstGeom>
            <a:noFill/>
            <a:ln cap="flat" cmpd="sng" w="9525">
              <a:solidFill>
                <a:schemeClr val="dk1"/>
              </a:solidFill>
              <a:prstDash val="solid"/>
              <a:round/>
              <a:headEnd len="med" w="med" type="none"/>
              <a:tailEnd len="med" w="med" type="none"/>
            </a:ln>
          </p:spPr>
        </p:cxnSp>
        <p:cxnSp>
          <p:nvCxnSpPr>
            <p:cNvPr id="515" name="Google Shape;515;p29"/>
            <p:cNvCxnSpPr/>
            <p:nvPr/>
          </p:nvCxnSpPr>
          <p:spPr>
            <a:xfrm>
              <a:off x="4529150" y="1854000"/>
              <a:ext cx="3749400" cy="0"/>
            </a:xfrm>
            <a:prstGeom prst="straightConnector1">
              <a:avLst/>
            </a:prstGeom>
            <a:noFill/>
            <a:ln cap="flat" cmpd="sng" w="9525">
              <a:solidFill>
                <a:schemeClr val="dk1"/>
              </a:solidFill>
              <a:prstDash val="solid"/>
              <a:round/>
              <a:headEnd len="med" w="med" type="none"/>
              <a:tailEnd len="med" w="med" type="none"/>
            </a:ln>
          </p:spPr>
        </p:cxnSp>
      </p:grpSp>
      <p:sp>
        <p:nvSpPr>
          <p:cNvPr id="516" name="Google Shape;516;p29"/>
          <p:cNvSpPr/>
          <p:nvPr/>
        </p:nvSpPr>
        <p:spPr>
          <a:xfrm>
            <a:off x="2374075" y="-1133600"/>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7" name="Google Shape;517;p29"/>
          <p:cNvGrpSpPr/>
          <p:nvPr/>
        </p:nvGrpSpPr>
        <p:grpSpPr>
          <a:xfrm rot="5400000">
            <a:off x="3534325" y="1221867"/>
            <a:ext cx="722516" cy="244823"/>
            <a:chOff x="3705500" y="1678600"/>
            <a:chExt cx="2458375" cy="1229650"/>
          </a:xfrm>
        </p:grpSpPr>
        <p:sp>
          <p:nvSpPr>
            <p:cNvPr id="518" name="Google Shape;518;p29"/>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9"/>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9"/>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9"/>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9"/>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9"/>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9"/>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9"/>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9"/>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9"/>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9"/>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9"/>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 name="Google Shape;530;p29"/>
          <p:cNvGrpSpPr/>
          <p:nvPr/>
        </p:nvGrpSpPr>
        <p:grpSpPr>
          <a:xfrm>
            <a:off x="3773174" y="4336446"/>
            <a:ext cx="807124" cy="807049"/>
            <a:chOff x="-2484951" y="3375496"/>
            <a:chExt cx="807124" cy="807049"/>
          </a:xfrm>
        </p:grpSpPr>
        <p:grpSp>
          <p:nvGrpSpPr>
            <p:cNvPr id="531" name="Google Shape;531;p29"/>
            <p:cNvGrpSpPr/>
            <p:nvPr/>
          </p:nvGrpSpPr>
          <p:grpSpPr>
            <a:xfrm>
              <a:off x="-2484951" y="3375496"/>
              <a:ext cx="403560" cy="403560"/>
              <a:chOff x="-2182000" y="2460775"/>
              <a:chExt cx="1679400" cy="1679400"/>
            </a:xfrm>
          </p:grpSpPr>
          <p:sp>
            <p:nvSpPr>
              <p:cNvPr id="532" name="Google Shape;532;p29"/>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3" name="Google Shape;533;p29"/>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534" name="Google Shape;534;p29"/>
            <p:cNvGrpSpPr/>
            <p:nvPr/>
          </p:nvGrpSpPr>
          <p:grpSpPr>
            <a:xfrm>
              <a:off x="-2081387" y="3375496"/>
              <a:ext cx="403560" cy="403560"/>
              <a:chOff x="-2182000" y="2460775"/>
              <a:chExt cx="1679400" cy="1679400"/>
            </a:xfrm>
          </p:grpSpPr>
          <p:sp>
            <p:nvSpPr>
              <p:cNvPr id="535" name="Google Shape;535;p29"/>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6" name="Google Shape;536;p29"/>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537" name="Google Shape;537;p29"/>
            <p:cNvGrpSpPr/>
            <p:nvPr/>
          </p:nvGrpSpPr>
          <p:grpSpPr>
            <a:xfrm>
              <a:off x="-2484951" y="3778985"/>
              <a:ext cx="403560" cy="403560"/>
              <a:chOff x="-2182000" y="2460775"/>
              <a:chExt cx="1679400" cy="1679400"/>
            </a:xfrm>
          </p:grpSpPr>
          <p:sp>
            <p:nvSpPr>
              <p:cNvPr id="538" name="Google Shape;538;p29"/>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9" name="Google Shape;539;p29"/>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540" name="Google Shape;540;p29"/>
            <p:cNvGrpSpPr/>
            <p:nvPr/>
          </p:nvGrpSpPr>
          <p:grpSpPr>
            <a:xfrm>
              <a:off x="-2081387" y="3778985"/>
              <a:ext cx="403560" cy="403560"/>
              <a:chOff x="-2182000" y="2460775"/>
              <a:chExt cx="1679400" cy="1679400"/>
            </a:xfrm>
          </p:grpSpPr>
          <p:sp>
            <p:nvSpPr>
              <p:cNvPr id="541" name="Google Shape;541;p29"/>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2" name="Google Shape;542;p29"/>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30"/>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a:t>
            </a:r>
            <a:r>
              <a:rPr lang="en"/>
              <a:t> </a:t>
            </a:r>
            <a:r>
              <a:rPr lang="en">
                <a:highlight>
                  <a:schemeClr val="accent1"/>
                </a:highlight>
              </a:rPr>
              <a:t>Provided</a:t>
            </a:r>
            <a:endParaRPr>
              <a:highlight>
                <a:schemeClr val="accent1"/>
              </a:highlight>
            </a:endParaRPr>
          </a:p>
        </p:txBody>
      </p:sp>
      <p:pic>
        <p:nvPicPr>
          <p:cNvPr id="548" name="Google Shape;548;p30"/>
          <p:cNvPicPr preferRelativeResize="0"/>
          <p:nvPr/>
        </p:nvPicPr>
        <p:blipFill>
          <a:blip r:embed="rId3">
            <a:alphaModFix/>
          </a:blip>
          <a:stretch>
            <a:fillRect/>
          </a:stretch>
        </p:blipFill>
        <p:spPr>
          <a:xfrm>
            <a:off x="903313" y="1093925"/>
            <a:ext cx="7337373" cy="33521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31"/>
          <p:cNvSpPr txBox="1"/>
          <p:nvPr>
            <p:ph type="title"/>
          </p:nvPr>
        </p:nvSpPr>
        <p:spPr>
          <a:xfrm>
            <a:off x="1280125" y="494475"/>
            <a:ext cx="6661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Glen Group of Companies: glengroup.ca</a:t>
            </a:r>
            <a:endParaRPr sz="2000">
              <a:highlight>
                <a:schemeClr val="accent1"/>
              </a:highlight>
            </a:endParaRPr>
          </a:p>
        </p:txBody>
      </p:sp>
      <p:sp>
        <p:nvSpPr>
          <p:cNvPr id="554" name="Google Shape;554;p31"/>
          <p:cNvSpPr txBox="1"/>
          <p:nvPr>
            <p:ph idx="1" type="subTitle"/>
          </p:nvPr>
        </p:nvSpPr>
        <p:spPr>
          <a:xfrm>
            <a:off x="503700" y="1263575"/>
            <a:ext cx="3229500" cy="342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Clear Value Proposition: </a:t>
            </a:r>
            <a:r>
              <a:rPr lang="en"/>
              <a:t>The website clearly communicates Glen Group's diverse range of services across various industries, emphasizing their commitment to client success and long-term relationships.</a:t>
            </a:r>
            <a:endParaRPr/>
          </a:p>
          <a:p>
            <a:pPr indent="0" lvl="0" marL="0" rtl="0" algn="l">
              <a:spcBef>
                <a:spcPts val="0"/>
              </a:spcBef>
              <a:spcAft>
                <a:spcPts val="0"/>
              </a:spcAft>
              <a:buNone/>
            </a:pPr>
            <a:r>
              <a:rPr b="1" lang="en"/>
              <a:t>Easy Navigation: </a:t>
            </a:r>
            <a:r>
              <a:rPr lang="en"/>
              <a:t>The website structure is straightforward, with intuitive menus and quick access to relevant information for each subsidiary.</a:t>
            </a:r>
            <a:endParaRPr/>
          </a:p>
          <a:p>
            <a:pPr indent="0" lvl="0" marL="0" rtl="0" algn="l">
              <a:spcBef>
                <a:spcPts val="0"/>
              </a:spcBef>
              <a:spcAft>
                <a:spcPts val="0"/>
              </a:spcAft>
              <a:buNone/>
            </a:pPr>
            <a:r>
              <a:rPr b="1" lang="en"/>
              <a:t>Mobile-Friendly Design:</a:t>
            </a:r>
            <a:r>
              <a:rPr lang="en"/>
              <a:t> The website adapts well to mobile devices, ensuring accessibility and usability on various platforms.</a:t>
            </a:r>
            <a:endParaRPr/>
          </a:p>
          <a:p>
            <a:pPr indent="0" lvl="0" marL="0" rtl="0" algn="l">
              <a:spcBef>
                <a:spcPts val="0"/>
              </a:spcBef>
              <a:spcAft>
                <a:spcPts val="0"/>
              </a:spcAft>
              <a:buNone/>
            </a:pPr>
            <a:r>
              <a:rPr b="1" lang="en"/>
              <a:t>Contact Information: </a:t>
            </a:r>
            <a:r>
              <a:rPr lang="en"/>
              <a:t>Contact details are readily available on various pages, including individual subsidiary pages and a dedicated contact form.</a:t>
            </a:r>
            <a:endParaRPr/>
          </a:p>
          <a:p>
            <a:pPr indent="0" lvl="0" marL="0" rtl="0" algn="l">
              <a:spcBef>
                <a:spcPts val="0"/>
              </a:spcBef>
              <a:spcAft>
                <a:spcPts val="0"/>
              </a:spcAft>
              <a:buNone/>
            </a:pPr>
            <a:r>
              <a:rPr b="1" lang="en"/>
              <a:t>Social Proof: </a:t>
            </a:r>
            <a:r>
              <a:rPr lang="en"/>
              <a:t>Testimonials and client logos add credibility and trust to the company's image.</a:t>
            </a:r>
            <a:endParaRPr/>
          </a:p>
          <a:p>
            <a:pPr indent="0" lvl="0" marL="0" rtl="0" algn="l">
              <a:spcBef>
                <a:spcPts val="0"/>
              </a:spcBef>
              <a:spcAft>
                <a:spcPts val="0"/>
              </a:spcAft>
              <a:buNone/>
            </a:pPr>
            <a:r>
              <a:t/>
            </a:r>
            <a:endParaRPr/>
          </a:p>
        </p:txBody>
      </p:sp>
      <p:pic>
        <p:nvPicPr>
          <p:cNvPr id="555" name="Google Shape;555;p31">
            <a:hlinkClick r:id="rId3"/>
          </p:cNvPr>
          <p:cNvPicPr preferRelativeResize="0"/>
          <p:nvPr/>
        </p:nvPicPr>
        <p:blipFill>
          <a:blip r:embed="rId4">
            <a:alphaModFix/>
          </a:blip>
          <a:stretch>
            <a:fillRect/>
          </a:stretch>
        </p:blipFill>
        <p:spPr>
          <a:xfrm>
            <a:off x="3864900" y="1286075"/>
            <a:ext cx="5071549" cy="3028549"/>
          </a:xfrm>
          <a:prstGeom prst="rect">
            <a:avLst/>
          </a:prstGeom>
          <a:noFill/>
          <a:ln>
            <a:noFill/>
          </a:ln>
        </p:spPr>
      </p:pic>
      <p:sp>
        <p:nvSpPr>
          <p:cNvPr id="556" name="Google Shape;556;p31"/>
          <p:cNvSpPr txBox="1"/>
          <p:nvPr>
            <p:ph idx="1" type="subTitle"/>
          </p:nvPr>
        </p:nvSpPr>
        <p:spPr>
          <a:xfrm>
            <a:off x="4599025" y="4298200"/>
            <a:ext cx="3603300" cy="6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Please click on the image above for a detailed report.</a:t>
            </a:r>
            <a:endParaRPr/>
          </a:p>
        </p:txBody>
      </p:sp>
      <p:sp>
        <p:nvSpPr>
          <p:cNvPr id="557" name="Google Shape;557;p31"/>
          <p:cNvSpPr txBox="1"/>
          <p:nvPr/>
        </p:nvSpPr>
        <p:spPr>
          <a:xfrm>
            <a:off x="3627475" y="863375"/>
            <a:ext cx="196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Strengths and Analysis</a:t>
            </a:r>
            <a:endParaRPr b="1">
              <a:solidFill>
                <a:schemeClr val="dk1"/>
              </a:solidFill>
              <a:latin typeface="Source Sans Pro"/>
              <a:ea typeface="Source Sans Pro"/>
              <a:cs typeface="Source Sans Pro"/>
              <a:sym typeface="Source Sans Pr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32"/>
          <p:cNvSpPr txBox="1"/>
          <p:nvPr>
            <p:ph type="title"/>
          </p:nvPr>
        </p:nvSpPr>
        <p:spPr>
          <a:xfrm>
            <a:off x="1357675" y="521225"/>
            <a:ext cx="6506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Glen Group of Companies: glengroup.ca</a:t>
            </a:r>
            <a:endParaRPr sz="2000">
              <a:highlight>
                <a:schemeClr val="accent1"/>
              </a:highlight>
            </a:endParaRPr>
          </a:p>
        </p:txBody>
      </p:sp>
      <p:sp>
        <p:nvSpPr>
          <p:cNvPr id="563" name="Google Shape;563;p32"/>
          <p:cNvSpPr txBox="1"/>
          <p:nvPr>
            <p:ph idx="1" type="subTitle"/>
          </p:nvPr>
        </p:nvSpPr>
        <p:spPr>
          <a:xfrm>
            <a:off x="1046125" y="1093925"/>
            <a:ext cx="7129200" cy="361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b="1" lang="en"/>
              <a:t>Website Speed</a:t>
            </a:r>
            <a:r>
              <a:rPr lang="en"/>
              <a:t>: Page loading times could be improved, especially for mobile users. Consider optimizing images and implementing caching mechanisms.</a:t>
            </a:r>
            <a:endParaRPr/>
          </a:p>
          <a:p>
            <a:pPr indent="0" lvl="0" marL="0" rtl="0" algn="l">
              <a:spcBef>
                <a:spcPts val="0"/>
              </a:spcBef>
              <a:spcAft>
                <a:spcPts val="0"/>
              </a:spcAft>
              <a:buNone/>
            </a:pPr>
            <a:r>
              <a:rPr b="1" lang="en"/>
              <a:t>Content Depth:</a:t>
            </a:r>
            <a:r>
              <a:rPr lang="en"/>
              <a:t> While the overall message is clear, some sections lack detailed information about specific services offered by each subsidiary. Consider adding case studies, project examples, or service brochures to showcase expertise.</a:t>
            </a:r>
            <a:endParaRPr/>
          </a:p>
          <a:p>
            <a:pPr indent="0" lvl="0" marL="0" rtl="0" algn="l">
              <a:spcBef>
                <a:spcPts val="0"/>
              </a:spcBef>
              <a:spcAft>
                <a:spcPts val="0"/>
              </a:spcAft>
              <a:buNone/>
            </a:pPr>
            <a:r>
              <a:rPr b="1" lang="en"/>
              <a:t>Visual Appeal</a:t>
            </a:r>
            <a:r>
              <a:rPr lang="en"/>
              <a:t>: The website's design, while functional, could benefit from a more modern and engaging aesthetic. Consider incorporating fresh visuals, bolder fonts, and color palettes that align with the company's brand identity.</a:t>
            </a:r>
            <a:endParaRPr/>
          </a:p>
          <a:p>
            <a:pPr indent="0" lvl="0" marL="0" rtl="0" algn="l">
              <a:spcBef>
                <a:spcPts val="0"/>
              </a:spcBef>
              <a:spcAft>
                <a:spcPts val="0"/>
              </a:spcAft>
              <a:buNone/>
            </a:pPr>
            <a:r>
              <a:rPr b="1" lang="en"/>
              <a:t>SEO Optimization:</a:t>
            </a:r>
            <a:r>
              <a:rPr lang="en"/>
              <a:t> While keywords are present, the website could benefit from further optimization for relevant search terms. Consider implementing proper meta descriptions, title tags, and internal linking strategies.</a:t>
            </a:r>
            <a:endParaRPr/>
          </a:p>
          <a:p>
            <a:pPr indent="0" lvl="0" marL="0" rtl="0" algn="l">
              <a:spcBef>
                <a:spcPts val="0"/>
              </a:spcBef>
              <a:spcAft>
                <a:spcPts val="0"/>
              </a:spcAft>
              <a:buNone/>
            </a:pPr>
            <a:r>
              <a:rPr b="1" lang="en"/>
              <a:t>Call to Action:</a:t>
            </a:r>
            <a:r>
              <a:rPr lang="en"/>
              <a:t> Make calls to action more prominent and persuasive throughout the website. Encourage users to contact for quotes, schedule consultations, or download informative resources.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Additional Notes:</a:t>
            </a:r>
            <a:endParaRPr/>
          </a:p>
          <a:p>
            <a:pPr indent="0" lvl="0" marL="0" rtl="0" algn="l">
              <a:spcBef>
                <a:spcPts val="0"/>
              </a:spcBef>
              <a:spcAft>
                <a:spcPts val="0"/>
              </a:spcAft>
              <a:buNone/>
            </a:pPr>
            <a:r>
              <a:rPr lang="en"/>
              <a:t>The "Hiring Fairs" and "Events" sections appear outdated, lacking information or links to current events.</a:t>
            </a:r>
            <a:endParaRPr/>
          </a:p>
          <a:p>
            <a:pPr indent="0" lvl="0" marL="0" rtl="0" algn="l">
              <a:spcBef>
                <a:spcPts val="0"/>
              </a:spcBef>
              <a:spcAft>
                <a:spcPts val="0"/>
              </a:spcAft>
              <a:buNone/>
            </a:pPr>
            <a:r>
              <a:rPr lang="en"/>
              <a:t>Consider incorporating blog posts or news articles to demonstrate expertise and attract organic traffic.</a:t>
            </a:r>
            <a:endParaRPr/>
          </a:p>
        </p:txBody>
      </p:sp>
      <p:sp>
        <p:nvSpPr>
          <p:cNvPr id="564" name="Google Shape;564;p32"/>
          <p:cNvSpPr txBox="1"/>
          <p:nvPr/>
        </p:nvSpPr>
        <p:spPr>
          <a:xfrm>
            <a:off x="3627475" y="939575"/>
            <a:ext cx="196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Scope of Improvement</a:t>
            </a:r>
            <a:endParaRPr b="1">
              <a:solidFill>
                <a:schemeClr val="dk1"/>
              </a:solidFill>
              <a:latin typeface="Source Sans Pro"/>
              <a:ea typeface="Source Sans Pro"/>
              <a:cs typeface="Source Sans Pro"/>
              <a:sym typeface="Source Sans Pr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33"/>
          <p:cNvSpPr txBox="1"/>
          <p:nvPr>
            <p:ph type="title"/>
          </p:nvPr>
        </p:nvSpPr>
        <p:spPr>
          <a:xfrm>
            <a:off x="2036250" y="484775"/>
            <a:ext cx="507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Karas Security: karasgroup.ca</a:t>
            </a:r>
            <a:endParaRPr sz="2000">
              <a:highlight>
                <a:schemeClr val="accent1"/>
              </a:highlight>
            </a:endParaRPr>
          </a:p>
        </p:txBody>
      </p:sp>
      <p:sp>
        <p:nvSpPr>
          <p:cNvPr id="570" name="Google Shape;570;p33"/>
          <p:cNvSpPr txBox="1"/>
          <p:nvPr>
            <p:ph idx="1" type="subTitle"/>
          </p:nvPr>
        </p:nvSpPr>
        <p:spPr>
          <a:xfrm>
            <a:off x="494000" y="1322525"/>
            <a:ext cx="3229500" cy="342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Compelling Value Proposition</a:t>
            </a:r>
            <a:r>
              <a:rPr lang="en"/>
              <a:t>: The website effectively highlights Karas Security's commitment to personalized security solutions and client safety, emphasizing their focus on trained and qualified professionals.</a:t>
            </a:r>
            <a:endParaRPr/>
          </a:p>
          <a:p>
            <a:pPr indent="0" lvl="0" marL="0" rtl="0" algn="l">
              <a:spcBef>
                <a:spcPts val="0"/>
              </a:spcBef>
              <a:spcAft>
                <a:spcPts val="0"/>
              </a:spcAft>
              <a:buNone/>
            </a:pPr>
            <a:r>
              <a:rPr b="1" lang="en"/>
              <a:t>Clear Service Overview: </a:t>
            </a:r>
            <a:r>
              <a:rPr lang="en"/>
              <a:t>Services are presented succinctly and categorized, simplifying navigation for potential clients.</a:t>
            </a:r>
            <a:endParaRPr/>
          </a:p>
          <a:p>
            <a:pPr indent="0" lvl="0" marL="0" rtl="0" algn="l">
              <a:spcBef>
                <a:spcPts val="0"/>
              </a:spcBef>
              <a:spcAft>
                <a:spcPts val="0"/>
              </a:spcAft>
              <a:buNone/>
            </a:pPr>
            <a:r>
              <a:rPr b="1" lang="en"/>
              <a:t>Strong Calls to Action: </a:t>
            </a:r>
            <a:r>
              <a:rPr lang="en"/>
              <a:t>Prominent calls to action encourage users to request quotes, contact for inquiries, or explore career opportunities..</a:t>
            </a:r>
            <a:endParaRPr/>
          </a:p>
          <a:p>
            <a:pPr indent="0" lvl="0" marL="0" rtl="0" algn="l">
              <a:spcBef>
                <a:spcPts val="0"/>
              </a:spcBef>
              <a:spcAft>
                <a:spcPts val="0"/>
              </a:spcAft>
              <a:buNone/>
            </a:pPr>
            <a:r>
              <a:rPr b="1" lang="en"/>
              <a:t>Visual Content:</a:t>
            </a:r>
            <a:r>
              <a:rPr lang="en"/>
              <a:t> Images and videos effectively showcase the security personnel in action, adding a human touch and realism.</a:t>
            </a:r>
            <a:endParaRPr/>
          </a:p>
          <a:p>
            <a:pPr indent="0" lvl="0" marL="0" rtl="0" algn="l">
              <a:spcBef>
                <a:spcPts val="0"/>
              </a:spcBef>
              <a:spcAft>
                <a:spcPts val="0"/>
              </a:spcAft>
              <a:buNone/>
            </a:pPr>
            <a:r>
              <a:rPr b="1" lang="en"/>
              <a:t>Mobile-Friendly Design: </a:t>
            </a:r>
            <a:r>
              <a:rPr lang="en"/>
              <a:t>The website adapts well to various screen sizes, ensuring accessibility on mobile devices.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71" name="Google Shape;571;p33"/>
          <p:cNvSpPr txBox="1"/>
          <p:nvPr>
            <p:ph idx="1" type="subTitle"/>
          </p:nvPr>
        </p:nvSpPr>
        <p:spPr>
          <a:xfrm>
            <a:off x="4599025" y="4298200"/>
            <a:ext cx="3603300" cy="6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Please click on the image above for a detailed report.</a:t>
            </a:r>
            <a:endParaRPr/>
          </a:p>
        </p:txBody>
      </p:sp>
      <p:sp>
        <p:nvSpPr>
          <p:cNvPr id="572" name="Google Shape;572;p33"/>
          <p:cNvSpPr txBox="1"/>
          <p:nvPr/>
        </p:nvSpPr>
        <p:spPr>
          <a:xfrm>
            <a:off x="3627475" y="863375"/>
            <a:ext cx="196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Strengths and Analysis</a:t>
            </a:r>
            <a:endParaRPr b="1">
              <a:solidFill>
                <a:schemeClr val="dk1"/>
              </a:solidFill>
              <a:latin typeface="Source Sans Pro"/>
              <a:ea typeface="Source Sans Pro"/>
              <a:cs typeface="Source Sans Pro"/>
              <a:sym typeface="Source Sans Pro"/>
            </a:endParaRPr>
          </a:p>
        </p:txBody>
      </p:sp>
      <p:pic>
        <p:nvPicPr>
          <p:cNvPr id="573" name="Google Shape;573;p33">
            <a:hlinkClick r:id="rId3"/>
          </p:cNvPr>
          <p:cNvPicPr preferRelativeResize="0"/>
          <p:nvPr/>
        </p:nvPicPr>
        <p:blipFill>
          <a:blip r:embed="rId4">
            <a:alphaModFix/>
          </a:blip>
          <a:stretch>
            <a:fillRect/>
          </a:stretch>
        </p:blipFill>
        <p:spPr>
          <a:xfrm>
            <a:off x="3972225" y="1322525"/>
            <a:ext cx="4974838" cy="2975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pic>
        <p:nvPicPr>
          <p:cNvPr id="578" name="Google Shape;578;p34"/>
          <p:cNvPicPr preferRelativeResize="0"/>
          <p:nvPr/>
        </p:nvPicPr>
        <p:blipFill rotWithShape="1">
          <a:blip r:embed="rId3">
            <a:alphaModFix/>
          </a:blip>
          <a:srcRect b="0" l="3605" r="0" t="0"/>
          <a:stretch/>
        </p:blipFill>
        <p:spPr>
          <a:xfrm>
            <a:off x="522825" y="3724888"/>
            <a:ext cx="4661302" cy="1155275"/>
          </a:xfrm>
          <a:prstGeom prst="rect">
            <a:avLst/>
          </a:prstGeom>
          <a:noFill/>
          <a:ln>
            <a:noFill/>
          </a:ln>
        </p:spPr>
      </p:pic>
      <p:sp>
        <p:nvSpPr>
          <p:cNvPr id="579" name="Google Shape;579;p34"/>
          <p:cNvSpPr txBox="1"/>
          <p:nvPr>
            <p:ph type="title"/>
          </p:nvPr>
        </p:nvSpPr>
        <p:spPr>
          <a:xfrm>
            <a:off x="2036250" y="484775"/>
            <a:ext cx="507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Karas Security: karasgroup.ca</a:t>
            </a:r>
            <a:endParaRPr sz="2000">
              <a:highlight>
                <a:schemeClr val="accent1"/>
              </a:highlight>
            </a:endParaRPr>
          </a:p>
        </p:txBody>
      </p:sp>
      <p:sp>
        <p:nvSpPr>
          <p:cNvPr id="580" name="Google Shape;580;p34"/>
          <p:cNvSpPr txBox="1"/>
          <p:nvPr>
            <p:ph idx="1" type="subTitle"/>
          </p:nvPr>
        </p:nvSpPr>
        <p:spPr>
          <a:xfrm>
            <a:off x="5592938" y="3724900"/>
            <a:ext cx="3111300" cy="6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u="sng">
                <a:solidFill>
                  <a:schemeClr val="hlink"/>
                </a:solidFill>
                <a:hlinkClick r:id="rId4"/>
              </a:rPr>
              <a:t>Please click here for a detailed report.</a:t>
            </a:r>
            <a:endParaRPr sz="1700"/>
          </a:p>
        </p:txBody>
      </p:sp>
      <p:sp>
        <p:nvSpPr>
          <p:cNvPr id="581" name="Google Shape;581;p34"/>
          <p:cNvSpPr txBox="1"/>
          <p:nvPr/>
        </p:nvSpPr>
        <p:spPr>
          <a:xfrm>
            <a:off x="3068100" y="881250"/>
            <a:ext cx="3007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1"/>
                </a:solidFill>
                <a:latin typeface="Source Sans Pro"/>
                <a:ea typeface="Source Sans Pro"/>
                <a:cs typeface="Source Sans Pro"/>
                <a:sym typeface="Source Sans Pro"/>
              </a:rPr>
              <a:t>Domain Authority &amp; Page Authority</a:t>
            </a:r>
            <a:endParaRPr b="1">
              <a:solidFill>
                <a:schemeClr val="dk1"/>
              </a:solidFill>
              <a:latin typeface="Source Sans Pro"/>
              <a:ea typeface="Source Sans Pro"/>
              <a:cs typeface="Source Sans Pro"/>
              <a:sym typeface="Source Sans Pro"/>
            </a:endParaRPr>
          </a:p>
        </p:txBody>
      </p:sp>
      <p:pic>
        <p:nvPicPr>
          <p:cNvPr id="582" name="Google Shape;582;p34"/>
          <p:cNvPicPr preferRelativeResize="0"/>
          <p:nvPr/>
        </p:nvPicPr>
        <p:blipFill>
          <a:blip r:embed="rId5">
            <a:alphaModFix/>
          </a:blip>
          <a:stretch>
            <a:fillRect/>
          </a:stretch>
        </p:blipFill>
        <p:spPr>
          <a:xfrm>
            <a:off x="5424400" y="2624950"/>
            <a:ext cx="3448374" cy="751216"/>
          </a:xfrm>
          <a:prstGeom prst="rect">
            <a:avLst/>
          </a:prstGeom>
          <a:noFill/>
          <a:ln>
            <a:noFill/>
          </a:ln>
        </p:spPr>
      </p:pic>
      <p:pic>
        <p:nvPicPr>
          <p:cNvPr id="583" name="Google Shape;583;p34"/>
          <p:cNvPicPr preferRelativeResize="0"/>
          <p:nvPr/>
        </p:nvPicPr>
        <p:blipFill>
          <a:blip r:embed="rId6">
            <a:alphaModFix/>
          </a:blip>
          <a:stretch>
            <a:fillRect/>
          </a:stretch>
        </p:blipFill>
        <p:spPr>
          <a:xfrm>
            <a:off x="5424400" y="1263575"/>
            <a:ext cx="3448376" cy="1155274"/>
          </a:xfrm>
          <a:prstGeom prst="rect">
            <a:avLst/>
          </a:prstGeom>
          <a:noFill/>
          <a:ln>
            <a:noFill/>
          </a:ln>
        </p:spPr>
      </p:pic>
      <p:pic>
        <p:nvPicPr>
          <p:cNvPr id="584" name="Google Shape;584;p34"/>
          <p:cNvPicPr preferRelativeResize="0"/>
          <p:nvPr/>
        </p:nvPicPr>
        <p:blipFill rotWithShape="1">
          <a:blip r:embed="rId7">
            <a:alphaModFix/>
          </a:blip>
          <a:srcRect b="0" l="19749" r="0" t="0"/>
          <a:stretch/>
        </p:blipFill>
        <p:spPr>
          <a:xfrm>
            <a:off x="116493" y="1281438"/>
            <a:ext cx="5067633" cy="2321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35"/>
          <p:cNvSpPr txBox="1"/>
          <p:nvPr>
            <p:ph idx="1" type="subTitle"/>
          </p:nvPr>
        </p:nvSpPr>
        <p:spPr>
          <a:xfrm>
            <a:off x="1046125" y="1093925"/>
            <a:ext cx="7129200" cy="361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b="1" lang="en"/>
              <a:t>Website Design: </a:t>
            </a:r>
            <a:r>
              <a:rPr lang="en"/>
              <a:t>While functional, the website could benefit from a more modern and visually appealing design. Consider incorporating bolder fonts, a refreshed color palette, and high-quality imagery.</a:t>
            </a:r>
            <a:endParaRPr/>
          </a:p>
          <a:p>
            <a:pPr indent="0" lvl="0" marL="0" rtl="0" algn="l">
              <a:spcBef>
                <a:spcPts val="0"/>
              </a:spcBef>
              <a:spcAft>
                <a:spcPts val="0"/>
              </a:spcAft>
              <a:buNone/>
            </a:pPr>
            <a:r>
              <a:rPr b="1" lang="en"/>
              <a:t>Content Depth: </a:t>
            </a:r>
            <a:r>
              <a:rPr lang="en"/>
              <a:t>While the initial information is clear, some sections lack detailed explanations of specific services and their benefits. Consider adding case studies, service brochures, or FAQs to provide more in-depth information.</a:t>
            </a:r>
            <a:endParaRPr/>
          </a:p>
          <a:p>
            <a:pPr indent="0" lvl="0" marL="0" rtl="0" algn="l">
              <a:spcBef>
                <a:spcPts val="0"/>
              </a:spcBef>
              <a:spcAft>
                <a:spcPts val="0"/>
              </a:spcAft>
              <a:buNone/>
            </a:pPr>
            <a:r>
              <a:rPr b="1" lang="en"/>
              <a:t>SEO Optimization: </a:t>
            </a:r>
            <a:r>
              <a:rPr lang="en"/>
              <a:t>Implement relevant keywords and meta descriptions throughout the website to improve search engine ranking and organic traffic.</a:t>
            </a:r>
            <a:endParaRPr/>
          </a:p>
          <a:p>
            <a:pPr indent="0" lvl="0" marL="0" rtl="0" algn="l">
              <a:spcBef>
                <a:spcPts val="0"/>
              </a:spcBef>
              <a:spcAft>
                <a:spcPts val="0"/>
              </a:spcAft>
              <a:buNone/>
            </a:pPr>
            <a:r>
              <a:rPr b="1" lang="en"/>
              <a:t>Social Media Integration:</a:t>
            </a:r>
            <a:r>
              <a:rPr lang="en"/>
              <a:t> Add social media icons and links to relevant profiles to encourage engagement and build online presence.</a:t>
            </a:r>
            <a:endParaRPr/>
          </a:p>
          <a:p>
            <a:pPr indent="0" lvl="0" marL="0" rtl="0" algn="l">
              <a:spcBef>
                <a:spcPts val="0"/>
              </a:spcBef>
              <a:spcAft>
                <a:spcPts val="0"/>
              </a:spcAft>
              <a:buNone/>
            </a:pPr>
            <a:r>
              <a:rPr b="1" lang="en"/>
              <a:t>Blog or News Section: </a:t>
            </a:r>
            <a:r>
              <a:rPr lang="en"/>
              <a:t>Consider incorporating a blog or news section to showcase industry expertise, share security tips, and attract organic traffic.</a:t>
            </a:r>
            <a:endParaRPr/>
          </a:p>
          <a:p>
            <a:pPr indent="0" lvl="0" marL="0" rtl="0" algn="l">
              <a:spcBef>
                <a:spcPts val="0"/>
              </a:spcBef>
              <a:spcAft>
                <a:spcPts val="0"/>
              </a:spcAft>
              <a:buNone/>
            </a:pPr>
            <a:r>
              <a:rPr b="1" lang="en"/>
              <a:t>Career Information: </a:t>
            </a:r>
            <a:r>
              <a:rPr lang="en"/>
              <a:t>Provide more detailed information about career opportunities, including specific job descriptions, benefits, and company culture.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Additional Notes:</a:t>
            </a:r>
            <a:endParaRPr b="1"/>
          </a:p>
          <a:p>
            <a:pPr indent="0" lvl="0" marL="0" rtl="0" algn="l">
              <a:spcBef>
                <a:spcPts val="0"/>
              </a:spcBef>
              <a:spcAft>
                <a:spcPts val="0"/>
              </a:spcAft>
              <a:buNone/>
            </a:pPr>
            <a:r>
              <a:rPr lang="en"/>
              <a:t>The "News &amp; Articles" section could benefit from more frequent updates and relevant content.</a:t>
            </a:r>
            <a:endParaRPr/>
          </a:p>
          <a:p>
            <a:pPr indent="0" lvl="0" marL="0" rtl="0" algn="l">
              <a:spcBef>
                <a:spcPts val="0"/>
              </a:spcBef>
              <a:spcAft>
                <a:spcPts val="0"/>
              </a:spcAft>
              <a:buNone/>
            </a:pPr>
            <a:r>
              <a:rPr lang="en"/>
              <a:t>Consider adding client logos or case studies relevant to specific industries served.</a:t>
            </a:r>
            <a:endParaRPr/>
          </a:p>
        </p:txBody>
      </p:sp>
      <p:sp>
        <p:nvSpPr>
          <p:cNvPr id="590" name="Google Shape;590;p35"/>
          <p:cNvSpPr txBox="1"/>
          <p:nvPr/>
        </p:nvSpPr>
        <p:spPr>
          <a:xfrm>
            <a:off x="3627475" y="939575"/>
            <a:ext cx="196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Scope of Improvement</a:t>
            </a:r>
            <a:endParaRPr b="1">
              <a:solidFill>
                <a:schemeClr val="dk1"/>
              </a:solidFill>
              <a:latin typeface="Source Sans Pro"/>
              <a:ea typeface="Source Sans Pro"/>
              <a:cs typeface="Source Sans Pro"/>
              <a:sym typeface="Source Sans Pro"/>
            </a:endParaRPr>
          </a:p>
        </p:txBody>
      </p:sp>
      <p:sp>
        <p:nvSpPr>
          <p:cNvPr id="591" name="Google Shape;591;p35"/>
          <p:cNvSpPr txBox="1"/>
          <p:nvPr>
            <p:ph type="title"/>
          </p:nvPr>
        </p:nvSpPr>
        <p:spPr>
          <a:xfrm>
            <a:off x="2036250" y="484775"/>
            <a:ext cx="507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Karas Security: karasgroup.ca</a:t>
            </a:r>
            <a:endParaRPr sz="2000">
              <a:highlight>
                <a:schemeClr val="accent1"/>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36"/>
          <p:cNvSpPr txBox="1"/>
          <p:nvPr>
            <p:ph type="title"/>
          </p:nvPr>
        </p:nvSpPr>
        <p:spPr>
          <a:xfrm>
            <a:off x="2417725" y="513850"/>
            <a:ext cx="4386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Glen Traffic</a:t>
            </a:r>
            <a:r>
              <a:rPr lang="en" sz="2000"/>
              <a:t>: glentraffic.ca</a:t>
            </a:r>
            <a:endParaRPr sz="2000">
              <a:highlight>
                <a:schemeClr val="accent1"/>
              </a:highlight>
            </a:endParaRPr>
          </a:p>
        </p:txBody>
      </p:sp>
      <p:sp>
        <p:nvSpPr>
          <p:cNvPr id="597" name="Google Shape;597;p36"/>
          <p:cNvSpPr txBox="1"/>
          <p:nvPr>
            <p:ph idx="1" type="subTitle"/>
          </p:nvPr>
        </p:nvSpPr>
        <p:spPr>
          <a:xfrm>
            <a:off x="494000" y="1322525"/>
            <a:ext cx="3381900" cy="342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Clear Value Proposition</a:t>
            </a:r>
            <a:r>
              <a:rPr lang="en"/>
              <a:t>: The website effectively showcases Glen Traffic's commitment to safety, efficiency, and innovation in traffic management, emphasizing their diverse range of services.</a:t>
            </a:r>
            <a:endParaRPr/>
          </a:p>
          <a:p>
            <a:pPr indent="0" lvl="0" marL="0" rtl="0" algn="l">
              <a:spcBef>
                <a:spcPts val="0"/>
              </a:spcBef>
              <a:spcAft>
                <a:spcPts val="0"/>
              </a:spcAft>
              <a:buNone/>
            </a:pPr>
            <a:r>
              <a:rPr b="1" lang="en"/>
              <a:t>Strong Brand Identity:</a:t>
            </a:r>
            <a:r>
              <a:rPr lang="en"/>
              <a:t> Consistent branding throughout the website, including logos, colors, and fonts, creates a professional and unified image.</a:t>
            </a:r>
            <a:endParaRPr/>
          </a:p>
          <a:p>
            <a:pPr indent="0" lvl="0" marL="0" rtl="0" algn="l">
              <a:spcBef>
                <a:spcPts val="0"/>
              </a:spcBef>
              <a:spcAft>
                <a:spcPts val="0"/>
              </a:spcAft>
              <a:buNone/>
            </a:pPr>
            <a:r>
              <a:rPr b="1" lang="en"/>
              <a:t>Compelling Visuals:</a:t>
            </a:r>
            <a:r>
              <a:rPr lang="en"/>
              <a:t> High-quality images and videos showcasing projects and equipment add credibility and engage visitors.</a:t>
            </a:r>
            <a:endParaRPr/>
          </a:p>
          <a:p>
            <a:pPr indent="0" lvl="0" marL="0" rtl="0" algn="l">
              <a:spcBef>
                <a:spcPts val="0"/>
              </a:spcBef>
              <a:spcAft>
                <a:spcPts val="0"/>
              </a:spcAft>
              <a:buNone/>
            </a:pPr>
            <a:r>
              <a:rPr b="1" lang="en"/>
              <a:t>Detailed Service Pages: </a:t>
            </a:r>
            <a:r>
              <a:rPr lang="en"/>
              <a:t>Each service page provides clear descriptions, project examples, and benefits, helping potential clients understand the value Glen Traffic offers.</a:t>
            </a:r>
            <a:endParaRPr/>
          </a:p>
          <a:p>
            <a:pPr indent="0" lvl="0" marL="0" rtl="0" algn="l">
              <a:spcBef>
                <a:spcPts val="0"/>
              </a:spcBef>
              <a:spcAft>
                <a:spcPts val="0"/>
              </a:spcAft>
              <a:buNone/>
            </a:pPr>
            <a:r>
              <a:rPr b="1" lang="en"/>
              <a:t>Call to Action: </a:t>
            </a:r>
            <a:r>
              <a:rPr lang="en"/>
              <a:t>Prominent calls to action encourage users to contact for quotes, download resources, or request free consultations.</a:t>
            </a:r>
            <a:endParaRPr/>
          </a:p>
        </p:txBody>
      </p:sp>
      <p:sp>
        <p:nvSpPr>
          <p:cNvPr id="598" name="Google Shape;598;p36"/>
          <p:cNvSpPr txBox="1"/>
          <p:nvPr>
            <p:ph idx="1" type="subTitle"/>
          </p:nvPr>
        </p:nvSpPr>
        <p:spPr>
          <a:xfrm>
            <a:off x="4599025" y="4298200"/>
            <a:ext cx="3603300" cy="6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Please click on the image above for a detailed report.</a:t>
            </a:r>
            <a:endParaRPr/>
          </a:p>
        </p:txBody>
      </p:sp>
      <p:sp>
        <p:nvSpPr>
          <p:cNvPr id="599" name="Google Shape;599;p36"/>
          <p:cNvSpPr txBox="1"/>
          <p:nvPr/>
        </p:nvSpPr>
        <p:spPr>
          <a:xfrm>
            <a:off x="3627475" y="863375"/>
            <a:ext cx="196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Strengths and Analysis</a:t>
            </a:r>
            <a:endParaRPr b="1">
              <a:solidFill>
                <a:schemeClr val="dk1"/>
              </a:solidFill>
              <a:latin typeface="Source Sans Pro"/>
              <a:ea typeface="Source Sans Pro"/>
              <a:cs typeface="Source Sans Pro"/>
              <a:sym typeface="Source Sans Pro"/>
            </a:endParaRPr>
          </a:p>
        </p:txBody>
      </p:sp>
      <p:pic>
        <p:nvPicPr>
          <p:cNvPr id="600" name="Google Shape;600;p36">
            <a:hlinkClick r:id="rId3"/>
          </p:cNvPr>
          <p:cNvPicPr preferRelativeResize="0"/>
          <p:nvPr/>
        </p:nvPicPr>
        <p:blipFill>
          <a:blip r:embed="rId4">
            <a:alphaModFix/>
          </a:blip>
          <a:stretch>
            <a:fillRect/>
          </a:stretch>
        </p:blipFill>
        <p:spPr>
          <a:xfrm>
            <a:off x="3875900" y="1415975"/>
            <a:ext cx="4958126" cy="29366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37"/>
          <p:cNvSpPr txBox="1"/>
          <p:nvPr>
            <p:ph idx="1" type="subTitle"/>
          </p:nvPr>
        </p:nvSpPr>
        <p:spPr>
          <a:xfrm>
            <a:off x="1046125" y="1093925"/>
            <a:ext cx="7129200" cy="361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b="1" lang="en"/>
              <a:t>Website Speed: </a:t>
            </a:r>
            <a:r>
              <a:rPr lang="en"/>
              <a:t>Page loading times could be improved, especially on mobile devices. Consider optimizing images and implementing caching mechanisms.</a:t>
            </a:r>
            <a:endParaRPr/>
          </a:p>
          <a:p>
            <a:pPr indent="0" lvl="0" marL="0" rtl="0" algn="l">
              <a:spcBef>
                <a:spcPts val="0"/>
              </a:spcBef>
              <a:spcAft>
                <a:spcPts val="0"/>
              </a:spcAft>
              <a:buNone/>
            </a:pPr>
            <a:r>
              <a:rPr b="1" lang="en"/>
              <a:t>SEO Optimization: </a:t>
            </a:r>
            <a:r>
              <a:rPr lang="en"/>
              <a:t>While keywords are present, some pages could benefit from further optimization for relevant search terms. Consider implementing proper meta descriptions, title tags, and internal linking strategies.</a:t>
            </a:r>
            <a:endParaRPr/>
          </a:p>
          <a:p>
            <a:pPr indent="0" lvl="0" marL="0" rtl="0" algn="l">
              <a:spcBef>
                <a:spcPts val="0"/>
              </a:spcBef>
              <a:spcAft>
                <a:spcPts val="0"/>
              </a:spcAft>
              <a:buNone/>
            </a:pPr>
            <a:r>
              <a:rPr b="1" lang="en"/>
              <a:t>Blog or News Section: </a:t>
            </a:r>
            <a:r>
              <a:rPr lang="en"/>
              <a:t>Incorporating a blog or news section with industry insights, project updates, and safety tips can improve organic traffic and establish Glen Traffic as a thought leader.</a:t>
            </a:r>
            <a:endParaRPr/>
          </a:p>
          <a:p>
            <a:pPr indent="0" lvl="0" marL="0" rtl="0" algn="l">
              <a:spcBef>
                <a:spcPts val="0"/>
              </a:spcBef>
              <a:spcAft>
                <a:spcPts val="0"/>
              </a:spcAft>
              <a:buNone/>
            </a:pPr>
            <a:r>
              <a:rPr b="1" lang="en"/>
              <a:t>Client Testimonials: </a:t>
            </a:r>
            <a:r>
              <a:rPr lang="en"/>
              <a:t>Adding prominent testimonials from satisfied clients can further build trust and credibility.</a:t>
            </a:r>
            <a:endParaRPr/>
          </a:p>
          <a:p>
            <a:pPr indent="0" lvl="0" marL="0" rtl="0" algn="l">
              <a:spcBef>
                <a:spcPts val="0"/>
              </a:spcBef>
              <a:spcAft>
                <a:spcPts val="0"/>
              </a:spcAft>
              <a:buNone/>
            </a:pPr>
            <a:r>
              <a:rPr b="1" lang="en"/>
              <a:t>Social Media Integration:</a:t>
            </a:r>
            <a:r>
              <a:rPr lang="en"/>
              <a:t> Increase social media engagement by integrating icons and links to relevant profiles. Consider sharing website content and engaging with followers.</a:t>
            </a:r>
            <a:endParaRPr/>
          </a:p>
          <a:p>
            <a:pPr indent="0" lvl="0" marL="0" rtl="0" algn="l">
              <a:spcBef>
                <a:spcPts val="0"/>
              </a:spcBef>
              <a:spcAft>
                <a:spcPts val="0"/>
              </a:spcAft>
              <a:buNone/>
            </a:pPr>
            <a:r>
              <a:rPr lang="en"/>
              <a:t>Contact Form Optimization: The contact form could be enhanced by including dropdown menus for service selection or adding location options for regional inquiries.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Additional Notes:</a:t>
            </a:r>
            <a:endParaRPr b="1"/>
          </a:p>
          <a:p>
            <a:pPr indent="0" lvl="0" marL="0" rtl="0" algn="l">
              <a:spcBef>
                <a:spcPts val="0"/>
              </a:spcBef>
              <a:spcAft>
                <a:spcPts val="0"/>
              </a:spcAft>
              <a:buNone/>
            </a:pPr>
            <a:r>
              <a:rPr lang="en"/>
              <a:t>The "Careers" section could benefit from more detailed information about available positions, company culture, and employee benefits.</a:t>
            </a:r>
            <a:endParaRPr/>
          </a:p>
          <a:p>
            <a:pPr indent="0" lvl="0" marL="0" rtl="0" algn="l">
              <a:spcBef>
                <a:spcPts val="0"/>
              </a:spcBef>
              <a:spcAft>
                <a:spcPts val="0"/>
              </a:spcAft>
              <a:buNone/>
            </a:pPr>
            <a:r>
              <a:rPr lang="en"/>
              <a:t>Consider adding awards or certifications received by Glen Traffic to further showcase their expertise and commitment to quality.</a:t>
            </a:r>
            <a:endParaRPr/>
          </a:p>
        </p:txBody>
      </p:sp>
      <p:sp>
        <p:nvSpPr>
          <p:cNvPr id="606" name="Google Shape;606;p37"/>
          <p:cNvSpPr txBox="1"/>
          <p:nvPr/>
        </p:nvSpPr>
        <p:spPr>
          <a:xfrm>
            <a:off x="3627475" y="939575"/>
            <a:ext cx="196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Scope of Improvement</a:t>
            </a:r>
            <a:endParaRPr b="1">
              <a:solidFill>
                <a:schemeClr val="dk1"/>
              </a:solidFill>
              <a:latin typeface="Source Sans Pro"/>
              <a:ea typeface="Source Sans Pro"/>
              <a:cs typeface="Source Sans Pro"/>
              <a:sym typeface="Source Sans Pro"/>
            </a:endParaRPr>
          </a:p>
        </p:txBody>
      </p:sp>
      <p:sp>
        <p:nvSpPr>
          <p:cNvPr id="607" name="Google Shape;607;p37"/>
          <p:cNvSpPr txBox="1"/>
          <p:nvPr>
            <p:ph type="title"/>
          </p:nvPr>
        </p:nvSpPr>
        <p:spPr>
          <a:xfrm>
            <a:off x="2417725" y="513850"/>
            <a:ext cx="4386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Glen Traffic: glentraffic.ca</a:t>
            </a:r>
            <a:endParaRPr sz="2000">
              <a:highlight>
                <a:schemeClr val="accent1"/>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38"/>
          <p:cNvSpPr txBox="1"/>
          <p:nvPr>
            <p:ph type="title"/>
          </p:nvPr>
        </p:nvSpPr>
        <p:spPr>
          <a:xfrm>
            <a:off x="1848175" y="494475"/>
            <a:ext cx="5525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Glen Recruiters: glenrecruiters.ca</a:t>
            </a:r>
            <a:endParaRPr sz="2000">
              <a:highlight>
                <a:schemeClr val="accent1"/>
              </a:highlight>
            </a:endParaRPr>
          </a:p>
        </p:txBody>
      </p:sp>
      <p:sp>
        <p:nvSpPr>
          <p:cNvPr id="613" name="Google Shape;613;p38"/>
          <p:cNvSpPr txBox="1"/>
          <p:nvPr>
            <p:ph idx="1" type="subTitle"/>
          </p:nvPr>
        </p:nvSpPr>
        <p:spPr>
          <a:xfrm>
            <a:off x="494000" y="1322525"/>
            <a:ext cx="3467700" cy="342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Clear Value Proposition</a:t>
            </a:r>
            <a:r>
              <a:rPr lang="en"/>
              <a:t>: The website effectively communicates Glen Recruiters' focus on connecting talented individuals with top companies across Canada, emphasizing their personalized approach and proven track record.</a:t>
            </a:r>
            <a:endParaRPr/>
          </a:p>
          <a:p>
            <a:pPr indent="0" lvl="0" marL="0" rtl="0" algn="l">
              <a:spcBef>
                <a:spcPts val="0"/>
              </a:spcBef>
              <a:spcAft>
                <a:spcPts val="0"/>
              </a:spcAft>
              <a:buNone/>
            </a:pPr>
            <a:r>
              <a:rPr b="1" lang="en"/>
              <a:t>Strong Calls to Action: </a:t>
            </a:r>
            <a:r>
              <a:rPr lang="en"/>
              <a:t>Prominent calls to action encourage job seekers to submit their resumes, contact for career guidance, and explore job openings.</a:t>
            </a:r>
            <a:endParaRPr/>
          </a:p>
          <a:p>
            <a:pPr indent="0" lvl="0" marL="0" rtl="0" algn="l">
              <a:spcBef>
                <a:spcPts val="0"/>
              </a:spcBef>
              <a:spcAft>
                <a:spcPts val="0"/>
              </a:spcAft>
              <a:buNone/>
            </a:pPr>
            <a:r>
              <a:rPr b="1" lang="en"/>
              <a:t>Diverse Job Listings:</a:t>
            </a:r>
            <a:r>
              <a:rPr lang="en"/>
              <a:t> The website features a wide range of job openings across various industries, providing ample opportunities for potential candidates.</a:t>
            </a:r>
            <a:endParaRPr/>
          </a:p>
          <a:p>
            <a:pPr indent="0" lvl="0" marL="0" rtl="0" algn="l">
              <a:spcBef>
                <a:spcPts val="0"/>
              </a:spcBef>
              <a:spcAft>
                <a:spcPts val="0"/>
              </a:spcAft>
              <a:buNone/>
            </a:pPr>
            <a:r>
              <a:rPr b="1" lang="en"/>
              <a:t>Easy Navigation: </a:t>
            </a:r>
            <a:r>
              <a:rPr lang="en"/>
              <a:t>The website structure is clear and intuitive, with quick access to relevant information for both candidates and employers.</a:t>
            </a:r>
            <a:endParaRPr/>
          </a:p>
          <a:p>
            <a:pPr indent="0" lvl="0" marL="0" rtl="0" algn="l">
              <a:spcBef>
                <a:spcPts val="0"/>
              </a:spcBef>
              <a:spcAft>
                <a:spcPts val="0"/>
              </a:spcAft>
              <a:buNone/>
            </a:pPr>
            <a:r>
              <a:rPr b="1" lang="en"/>
              <a:t>Mobile-Friendly Design:</a:t>
            </a:r>
            <a:r>
              <a:rPr lang="en"/>
              <a:t> The website adapts well to mobile devices, ensuring accessibility on various platforms.</a:t>
            </a:r>
            <a:endParaRPr/>
          </a:p>
          <a:p>
            <a:pPr indent="0" lvl="0" marL="0" rtl="0" algn="l">
              <a:spcBef>
                <a:spcPts val="0"/>
              </a:spcBef>
              <a:spcAft>
                <a:spcPts val="0"/>
              </a:spcAft>
              <a:buNone/>
            </a:pPr>
            <a:r>
              <a:t/>
            </a:r>
            <a:endParaRPr/>
          </a:p>
        </p:txBody>
      </p:sp>
      <p:sp>
        <p:nvSpPr>
          <p:cNvPr id="614" name="Google Shape;614;p38"/>
          <p:cNvSpPr txBox="1"/>
          <p:nvPr>
            <p:ph idx="1" type="subTitle"/>
          </p:nvPr>
        </p:nvSpPr>
        <p:spPr>
          <a:xfrm>
            <a:off x="4599025" y="4298200"/>
            <a:ext cx="3603300" cy="6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Please click on the image above for a detailed report.</a:t>
            </a:r>
            <a:endParaRPr/>
          </a:p>
        </p:txBody>
      </p:sp>
      <p:sp>
        <p:nvSpPr>
          <p:cNvPr id="615" name="Google Shape;615;p38"/>
          <p:cNvSpPr txBox="1"/>
          <p:nvPr/>
        </p:nvSpPr>
        <p:spPr>
          <a:xfrm>
            <a:off x="3627475" y="863375"/>
            <a:ext cx="196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Strengths and Analysis</a:t>
            </a:r>
            <a:endParaRPr b="1">
              <a:solidFill>
                <a:schemeClr val="dk1"/>
              </a:solidFill>
              <a:latin typeface="Source Sans Pro"/>
              <a:ea typeface="Source Sans Pro"/>
              <a:cs typeface="Source Sans Pro"/>
              <a:sym typeface="Source Sans Pro"/>
            </a:endParaRPr>
          </a:p>
        </p:txBody>
      </p:sp>
      <p:pic>
        <p:nvPicPr>
          <p:cNvPr id="616" name="Google Shape;616;p38">
            <a:hlinkClick r:id="rId3"/>
          </p:cNvPr>
          <p:cNvPicPr preferRelativeResize="0"/>
          <p:nvPr/>
        </p:nvPicPr>
        <p:blipFill>
          <a:blip r:embed="rId4">
            <a:alphaModFix/>
          </a:blip>
          <a:stretch>
            <a:fillRect/>
          </a:stretch>
        </p:blipFill>
        <p:spPr>
          <a:xfrm>
            <a:off x="3875900" y="1415975"/>
            <a:ext cx="4958126" cy="29366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39"/>
          <p:cNvSpPr txBox="1"/>
          <p:nvPr>
            <p:ph idx="1" type="subTitle"/>
          </p:nvPr>
        </p:nvSpPr>
        <p:spPr>
          <a:xfrm>
            <a:off x="1046125" y="1093925"/>
            <a:ext cx="7129200" cy="361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b="1" lang="en"/>
              <a:t>Website Design</a:t>
            </a:r>
            <a:r>
              <a:rPr lang="en"/>
              <a:t>: While functional, the website could benefit from a more modern and visually appealing design. Consider incorporating fresh visuals, bolder fonts, and color palettes that align with the company's brand identity.</a:t>
            </a:r>
            <a:endParaRPr/>
          </a:p>
          <a:p>
            <a:pPr indent="0" lvl="0" marL="0" rtl="0" algn="l">
              <a:spcBef>
                <a:spcPts val="0"/>
              </a:spcBef>
              <a:spcAft>
                <a:spcPts val="0"/>
              </a:spcAft>
              <a:buNone/>
            </a:pPr>
            <a:r>
              <a:rPr b="1" lang="en"/>
              <a:t>Content Depth:</a:t>
            </a:r>
            <a:r>
              <a:rPr lang="en"/>
              <a:t> Some sections lack detailed information about specific services offered, particularly for employers. Consider adding case studies, client success stories, or service brochures to showcase expertise and value.</a:t>
            </a:r>
            <a:endParaRPr/>
          </a:p>
          <a:p>
            <a:pPr indent="0" lvl="0" marL="0" rtl="0" algn="l">
              <a:spcBef>
                <a:spcPts val="0"/>
              </a:spcBef>
              <a:spcAft>
                <a:spcPts val="0"/>
              </a:spcAft>
              <a:buNone/>
            </a:pPr>
            <a:r>
              <a:rPr b="1" lang="en"/>
              <a:t>Employer Resources:</a:t>
            </a:r>
            <a:r>
              <a:rPr lang="en"/>
              <a:t> Provide more resources for employers, such as hiring guides, salary benchmarking tools, or employer testimonials, to attract and retain them as clients.</a:t>
            </a:r>
            <a:endParaRPr/>
          </a:p>
          <a:p>
            <a:pPr indent="0" lvl="0" marL="0" rtl="0" algn="l">
              <a:spcBef>
                <a:spcPts val="0"/>
              </a:spcBef>
              <a:spcAft>
                <a:spcPts val="0"/>
              </a:spcAft>
              <a:buNone/>
            </a:pPr>
            <a:r>
              <a:rPr b="1" lang="en"/>
              <a:t>Blog or News Section</a:t>
            </a:r>
            <a:r>
              <a:rPr lang="en"/>
              <a:t>: Incorporating a blog or news section with industry insights, recruitment trends, and career advice can attract organic traffic, establish Glen Recruiters as a thought leader, and engage both candidates and employers.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Additional Notes:</a:t>
            </a:r>
            <a:endParaRPr b="1"/>
          </a:p>
          <a:p>
            <a:pPr indent="0" lvl="0" marL="0" rtl="0" algn="l">
              <a:spcBef>
                <a:spcPts val="0"/>
              </a:spcBef>
              <a:spcAft>
                <a:spcPts val="0"/>
              </a:spcAft>
              <a:buNone/>
            </a:pPr>
            <a:r>
              <a:rPr lang="en"/>
              <a:t>Consider adding a section for international candidates seeking opportunities in Canada.</a:t>
            </a:r>
            <a:endParaRPr/>
          </a:p>
          <a:p>
            <a:pPr indent="0" lvl="0" marL="0" rtl="0" algn="l">
              <a:spcBef>
                <a:spcPts val="0"/>
              </a:spcBef>
              <a:spcAft>
                <a:spcPts val="0"/>
              </a:spcAft>
              <a:buNone/>
            </a:pPr>
            <a:r>
              <a:rPr lang="en"/>
              <a:t>The "About Us" section could benefit from a video or short animation introducing the team and company culture.</a:t>
            </a:r>
            <a:endParaRPr/>
          </a:p>
          <a:p>
            <a:pPr indent="0" lvl="0" marL="0" rtl="0" algn="l">
              <a:spcBef>
                <a:spcPts val="0"/>
              </a:spcBef>
              <a:spcAft>
                <a:spcPts val="0"/>
              </a:spcAft>
              <a:buNone/>
            </a:pPr>
            <a:r>
              <a:rPr lang="en"/>
              <a:t>Consider offering a candidate portal with resume management tools and job application tracking features.</a:t>
            </a:r>
            <a:endParaRPr/>
          </a:p>
          <a:p>
            <a:pPr indent="0" lvl="0" marL="0" rtl="0" algn="l">
              <a:spcBef>
                <a:spcPts val="0"/>
              </a:spcBef>
              <a:spcAft>
                <a:spcPts val="0"/>
              </a:spcAft>
              <a:buNone/>
            </a:pPr>
            <a:r>
              <a:t/>
            </a:r>
            <a:endParaRPr/>
          </a:p>
        </p:txBody>
      </p:sp>
      <p:sp>
        <p:nvSpPr>
          <p:cNvPr id="622" name="Google Shape;622;p39"/>
          <p:cNvSpPr txBox="1"/>
          <p:nvPr/>
        </p:nvSpPr>
        <p:spPr>
          <a:xfrm>
            <a:off x="3627475" y="939575"/>
            <a:ext cx="196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Scope of Improvement</a:t>
            </a:r>
            <a:endParaRPr b="1">
              <a:solidFill>
                <a:schemeClr val="dk1"/>
              </a:solidFill>
              <a:latin typeface="Source Sans Pro"/>
              <a:ea typeface="Source Sans Pro"/>
              <a:cs typeface="Source Sans Pro"/>
              <a:sym typeface="Source Sans Pro"/>
            </a:endParaRPr>
          </a:p>
        </p:txBody>
      </p:sp>
      <p:sp>
        <p:nvSpPr>
          <p:cNvPr id="623" name="Google Shape;623;p39"/>
          <p:cNvSpPr txBox="1"/>
          <p:nvPr>
            <p:ph type="title"/>
          </p:nvPr>
        </p:nvSpPr>
        <p:spPr>
          <a:xfrm>
            <a:off x="1848175" y="494475"/>
            <a:ext cx="5525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Glen Recruiters: glenrecruiters.ca</a:t>
            </a:r>
            <a:endParaRPr sz="2000">
              <a:highlight>
                <a:schemeClr val="accent1"/>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40"/>
          <p:cNvSpPr txBox="1"/>
          <p:nvPr>
            <p:ph type="title"/>
          </p:nvPr>
        </p:nvSpPr>
        <p:spPr>
          <a:xfrm>
            <a:off x="2023500" y="504150"/>
            <a:ext cx="5097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Glen Recruiters: glenhomes.ca</a:t>
            </a:r>
            <a:endParaRPr sz="2000">
              <a:highlight>
                <a:schemeClr val="accent1"/>
              </a:highlight>
            </a:endParaRPr>
          </a:p>
        </p:txBody>
      </p:sp>
      <p:sp>
        <p:nvSpPr>
          <p:cNvPr id="629" name="Google Shape;629;p40"/>
          <p:cNvSpPr txBox="1"/>
          <p:nvPr>
            <p:ph idx="1" type="subTitle"/>
          </p:nvPr>
        </p:nvSpPr>
        <p:spPr>
          <a:xfrm>
            <a:off x="494000" y="1322525"/>
            <a:ext cx="3467700" cy="342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Clear Value Proposition</a:t>
            </a:r>
            <a:r>
              <a:rPr lang="en"/>
              <a:t>: The website effectively emphasizes Glen Homes' commitment to building custom homes and renovations that reflect individual client dreams and exceed expectations.</a:t>
            </a:r>
            <a:endParaRPr/>
          </a:p>
          <a:p>
            <a:pPr indent="0" lvl="0" marL="0" rtl="0" algn="l">
              <a:spcBef>
                <a:spcPts val="0"/>
              </a:spcBef>
              <a:spcAft>
                <a:spcPts val="0"/>
              </a:spcAft>
              <a:buNone/>
            </a:pPr>
            <a:r>
              <a:rPr b="1" lang="en"/>
              <a:t>High-Quality Visuals: </a:t>
            </a:r>
            <a:r>
              <a:rPr lang="en"/>
              <a:t>Stunning photographs showcase the company's craftsmanship and attention to detail, drawing users in and building trust.</a:t>
            </a:r>
            <a:endParaRPr/>
          </a:p>
          <a:p>
            <a:pPr indent="0" lvl="0" marL="0" rtl="0" algn="l">
              <a:spcBef>
                <a:spcPts val="0"/>
              </a:spcBef>
              <a:spcAft>
                <a:spcPts val="0"/>
              </a:spcAft>
              <a:buNone/>
            </a:pPr>
            <a:r>
              <a:rPr b="1" lang="en"/>
              <a:t>Diverse Service Portfolio</a:t>
            </a:r>
            <a:r>
              <a:rPr lang="en"/>
              <a:t>: The website clearly outlines a wide range of services, from custom homes and renovations to laneway homes and commercial tenant improvements.</a:t>
            </a:r>
            <a:endParaRPr/>
          </a:p>
          <a:p>
            <a:pPr indent="0" lvl="0" marL="0" rtl="0" algn="l">
              <a:spcBef>
                <a:spcPts val="0"/>
              </a:spcBef>
              <a:spcAft>
                <a:spcPts val="0"/>
              </a:spcAft>
              <a:buNone/>
            </a:pPr>
            <a:r>
              <a:rPr b="1" lang="en"/>
              <a:t>Easy Navigation</a:t>
            </a:r>
            <a:r>
              <a:rPr lang="en"/>
              <a:t>: The website is well-structured and intuitive, with clear menus and quick access to relevant information for each service.</a:t>
            </a:r>
            <a:endParaRPr/>
          </a:p>
          <a:p>
            <a:pPr indent="0" lvl="0" marL="0" rtl="0" algn="l">
              <a:spcBef>
                <a:spcPts val="0"/>
              </a:spcBef>
              <a:spcAft>
                <a:spcPts val="0"/>
              </a:spcAft>
              <a:buNone/>
            </a:pPr>
            <a:r>
              <a:rPr b="1" lang="en"/>
              <a:t>Mobile-Friendly Design:</a:t>
            </a:r>
            <a:r>
              <a:rPr lang="en"/>
              <a:t> </a:t>
            </a:r>
            <a:r>
              <a:rPr lang="en"/>
              <a:t>T</a:t>
            </a:r>
            <a:r>
              <a:rPr lang="en"/>
              <a:t>he website adapts well to various screen sizes, ensuring accessibility on mobile devices.</a:t>
            </a:r>
            <a:endParaRPr/>
          </a:p>
          <a:p>
            <a:pPr indent="0" lvl="0" marL="0" rtl="0" algn="l">
              <a:spcBef>
                <a:spcPts val="0"/>
              </a:spcBef>
              <a:spcAft>
                <a:spcPts val="0"/>
              </a:spcAft>
              <a:buNone/>
            </a:pPr>
            <a:r>
              <a:t/>
            </a:r>
            <a:endParaRPr/>
          </a:p>
        </p:txBody>
      </p:sp>
      <p:sp>
        <p:nvSpPr>
          <p:cNvPr id="630" name="Google Shape;630;p40"/>
          <p:cNvSpPr txBox="1"/>
          <p:nvPr>
            <p:ph idx="1" type="subTitle"/>
          </p:nvPr>
        </p:nvSpPr>
        <p:spPr>
          <a:xfrm>
            <a:off x="4599025" y="4298200"/>
            <a:ext cx="3603300" cy="6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Please click on the image above for a detailed report.</a:t>
            </a:r>
            <a:endParaRPr/>
          </a:p>
        </p:txBody>
      </p:sp>
      <p:sp>
        <p:nvSpPr>
          <p:cNvPr id="631" name="Google Shape;631;p40"/>
          <p:cNvSpPr txBox="1"/>
          <p:nvPr/>
        </p:nvSpPr>
        <p:spPr>
          <a:xfrm>
            <a:off x="3627475" y="863375"/>
            <a:ext cx="196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Strengths and Analysis</a:t>
            </a:r>
            <a:endParaRPr b="1">
              <a:solidFill>
                <a:schemeClr val="dk1"/>
              </a:solidFill>
              <a:latin typeface="Source Sans Pro"/>
              <a:ea typeface="Source Sans Pro"/>
              <a:cs typeface="Source Sans Pro"/>
              <a:sym typeface="Source Sans Pro"/>
            </a:endParaRPr>
          </a:p>
        </p:txBody>
      </p:sp>
      <p:pic>
        <p:nvPicPr>
          <p:cNvPr id="632" name="Google Shape;632;p40">
            <a:hlinkClick r:id="rId3"/>
          </p:cNvPr>
          <p:cNvPicPr preferRelativeResize="0"/>
          <p:nvPr/>
        </p:nvPicPr>
        <p:blipFill>
          <a:blip r:embed="rId4">
            <a:alphaModFix/>
          </a:blip>
          <a:stretch>
            <a:fillRect/>
          </a:stretch>
        </p:blipFill>
        <p:spPr>
          <a:xfrm>
            <a:off x="4027275" y="1415975"/>
            <a:ext cx="4993551" cy="29332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41"/>
          <p:cNvSpPr txBox="1"/>
          <p:nvPr>
            <p:ph idx="1" type="subTitle"/>
          </p:nvPr>
        </p:nvSpPr>
        <p:spPr>
          <a:xfrm>
            <a:off x="1046125" y="1093925"/>
            <a:ext cx="7129200" cy="361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b="1" lang="en"/>
              <a:t>Content Depth</a:t>
            </a:r>
            <a:r>
              <a:rPr lang="en"/>
              <a:t>: Some sections lack detailed information about specific services, benefits, and the construction process. Adding case studies, project breakdowns, or service brochures could enhance transparency and value perception.</a:t>
            </a:r>
            <a:endParaRPr/>
          </a:p>
          <a:p>
            <a:pPr indent="0" lvl="0" marL="0" rtl="0" algn="l">
              <a:spcBef>
                <a:spcPts val="0"/>
              </a:spcBef>
              <a:spcAft>
                <a:spcPts val="0"/>
              </a:spcAft>
              <a:buNone/>
            </a:pPr>
            <a:r>
              <a:rPr b="1" lang="en"/>
              <a:t>Call to Action</a:t>
            </a:r>
            <a:r>
              <a:rPr lang="en"/>
              <a:t>: While calls to action are present, they could be more prominent and persuasive. Encourage users to contact for consultations, request quotes, or download informative resources.</a:t>
            </a:r>
            <a:endParaRPr/>
          </a:p>
          <a:p>
            <a:pPr indent="0" lvl="0" marL="0" rtl="0" algn="l">
              <a:spcBef>
                <a:spcPts val="0"/>
              </a:spcBef>
              <a:spcAft>
                <a:spcPts val="0"/>
              </a:spcAft>
              <a:buNone/>
            </a:pPr>
            <a:r>
              <a:rPr b="1" lang="en"/>
              <a:t>SEO Optimization</a:t>
            </a:r>
            <a:r>
              <a:rPr lang="en"/>
              <a:t>: Implement relevant keywords and meta descriptions throughout the website to improve organic search ranking and attract potential clients.</a:t>
            </a:r>
            <a:endParaRPr/>
          </a:p>
          <a:p>
            <a:pPr indent="0" lvl="0" marL="0" rtl="0" algn="l">
              <a:spcBef>
                <a:spcPts val="0"/>
              </a:spcBef>
              <a:spcAft>
                <a:spcPts val="0"/>
              </a:spcAft>
              <a:buNone/>
            </a:pPr>
            <a:r>
              <a:rPr b="1" lang="en"/>
              <a:t>Social Media Integration: </a:t>
            </a:r>
            <a:r>
              <a:rPr lang="en"/>
              <a:t>Increase social media presence by adding prominent icons and links to relevant profiles. Share project updates, client testimonials, and industry insights to engage followers and build brand awareness.</a:t>
            </a:r>
            <a:endParaRPr/>
          </a:p>
          <a:p>
            <a:pPr indent="0" lvl="0" marL="0" rtl="0" algn="l">
              <a:spcBef>
                <a:spcPts val="0"/>
              </a:spcBef>
              <a:spcAft>
                <a:spcPts val="0"/>
              </a:spcAft>
              <a:buNone/>
            </a:pPr>
            <a:r>
              <a:rPr b="1" lang="en"/>
              <a:t>Project Portfolio: </a:t>
            </a:r>
            <a:r>
              <a:rPr lang="en"/>
              <a:t>Expand the project portfolio section with more detailed descriptions, high-quality photos from various stages of construction, and interactive elements like 3D tours.</a:t>
            </a:r>
            <a:endParaRPr/>
          </a:p>
          <a:p>
            <a:pPr indent="0" lvl="0" marL="0" rtl="0" algn="l">
              <a:spcBef>
                <a:spcPts val="0"/>
              </a:spcBef>
              <a:spcAft>
                <a:spcPts val="0"/>
              </a:spcAft>
              <a:buNone/>
            </a:pPr>
            <a:r>
              <a:rPr b="1" lang="en"/>
              <a:t>Blog or News Section: </a:t>
            </a:r>
            <a:r>
              <a:rPr lang="en"/>
              <a:t>Incorporating a blog or news section with industry trends, design tips, and project spotlights can attract organic traffic, establish Glen Homes as a thought leader, and engage potential clients.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Additional Notes:</a:t>
            </a:r>
            <a:endParaRPr/>
          </a:p>
          <a:p>
            <a:pPr indent="0" lvl="0" marL="0" rtl="0" algn="l">
              <a:spcBef>
                <a:spcPts val="0"/>
              </a:spcBef>
              <a:spcAft>
                <a:spcPts val="0"/>
              </a:spcAft>
              <a:buNone/>
            </a:pPr>
            <a:r>
              <a:rPr lang="en"/>
              <a:t>Consider offering virtual consultations or online project management tools to cater to a wider audience and enhance convenience.</a:t>
            </a:r>
            <a:endParaRPr/>
          </a:p>
          <a:p>
            <a:pPr indent="0" lvl="0" marL="0" rtl="0" algn="l">
              <a:spcBef>
                <a:spcPts val="0"/>
              </a:spcBef>
              <a:spcAft>
                <a:spcPts val="0"/>
              </a:spcAft>
              <a:buNone/>
            </a:pPr>
            <a:r>
              <a:t/>
            </a:r>
            <a:endParaRPr/>
          </a:p>
        </p:txBody>
      </p:sp>
      <p:sp>
        <p:nvSpPr>
          <p:cNvPr id="638" name="Google Shape;638;p41"/>
          <p:cNvSpPr txBox="1"/>
          <p:nvPr/>
        </p:nvSpPr>
        <p:spPr>
          <a:xfrm>
            <a:off x="3627475" y="939575"/>
            <a:ext cx="196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Scope of Improvement</a:t>
            </a:r>
            <a:endParaRPr b="1">
              <a:solidFill>
                <a:schemeClr val="dk1"/>
              </a:solidFill>
              <a:latin typeface="Source Sans Pro"/>
              <a:ea typeface="Source Sans Pro"/>
              <a:cs typeface="Source Sans Pro"/>
              <a:sym typeface="Source Sans Pro"/>
            </a:endParaRPr>
          </a:p>
        </p:txBody>
      </p:sp>
      <p:sp>
        <p:nvSpPr>
          <p:cNvPr id="639" name="Google Shape;639;p41"/>
          <p:cNvSpPr txBox="1"/>
          <p:nvPr>
            <p:ph type="title"/>
          </p:nvPr>
        </p:nvSpPr>
        <p:spPr>
          <a:xfrm>
            <a:off x="2023500" y="504150"/>
            <a:ext cx="5097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Glen Recruiters: glenhomes.ca</a:t>
            </a:r>
            <a:endParaRPr sz="2000">
              <a:highlight>
                <a:schemeClr val="accent1"/>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42"/>
          <p:cNvSpPr txBox="1"/>
          <p:nvPr>
            <p:ph type="title"/>
          </p:nvPr>
        </p:nvSpPr>
        <p:spPr>
          <a:xfrm>
            <a:off x="4047175" y="2018850"/>
            <a:ext cx="4383600" cy="16803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4100"/>
              <a:t>Social Media</a:t>
            </a:r>
            <a:r>
              <a:rPr lang="en"/>
              <a:t> </a:t>
            </a:r>
            <a:r>
              <a:rPr lang="en">
                <a:highlight>
                  <a:schemeClr val="accent1"/>
                </a:highlight>
              </a:rPr>
              <a:t>Analysis</a:t>
            </a:r>
            <a:endParaRPr>
              <a:highlight>
                <a:schemeClr val="accent1"/>
              </a:highlight>
            </a:endParaRPr>
          </a:p>
        </p:txBody>
      </p:sp>
      <p:sp>
        <p:nvSpPr>
          <p:cNvPr id="645" name="Google Shape;645;p42"/>
          <p:cNvSpPr txBox="1"/>
          <p:nvPr>
            <p:ph idx="2" type="title"/>
          </p:nvPr>
        </p:nvSpPr>
        <p:spPr>
          <a:xfrm>
            <a:off x="6832075" y="775850"/>
            <a:ext cx="1598700" cy="841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02</a:t>
            </a:r>
            <a:endParaRPr/>
          </a:p>
        </p:txBody>
      </p:sp>
      <p:pic>
        <p:nvPicPr>
          <p:cNvPr id="646" name="Google Shape;646;p42"/>
          <p:cNvPicPr preferRelativeResize="0"/>
          <p:nvPr>
            <p:ph idx="3" type="pic"/>
          </p:nvPr>
        </p:nvPicPr>
        <p:blipFill rotWithShape="1">
          <a:blip r:embed="rId3">
            <a:alphaModFix/>
          </a:blip>
          <a:srcRect b="0" l="23777" r="35092" t="0"/>
          <a:stretch/>
        </p:blipFill>
        <p:spPr>
          <a:xfrm>
            <a:off x="0" y="0"/>
            <a:ext cx="3171598" cy="5143499"/>
          </a:xfrm>
          <a:prstGeom prst="rect">
            <a:avLst/>
          </a:prstGeom>
        </p:spPr>
      </p:pic>
      <p:grpSp>
        <p:nvGrpSpPr>
          <p:cNvPr id="647" name="Google Shape;647;p42"/>
          <p:cNvGrpSpPr/>
          <p:nvPr/>
        </p:nvGrpSpPr>
        <p:grpSpPr>
          <a:xfrm>
            <a:off x="4529150" y="1854000"/>
            <a:ext cx="3749400" cy="2065075"/>
            <a:chOff x="4529150" y="1854000"/>
            <a:chExt cx="3749400" cy="2065075"/>
          </a:xfrm>
        </p:grpSpPr>
        <p:cxnSp>
          <p:nvCxnSpPr>
            <p:cNvPr id="648" name="Google Shape;648;p42"/>
            <p:cNvCxnSpPr/>
            <p:nvPr/>
          </p:nvCxnSpPr>
          <p:spPr>
            <a:xfrm>
              <a:off x="4529150" y="3919075"/>
              <a:ext cx="3749400" cy="0"/>
            </a:xfrm>
            <a:prstGeom prst="straightConnector1">
              <a:avLst/>
            </a:prstGeom>
            <a:noFill/>
            <a:ln cap="flat" cmpd="sng" w="9525">
              <a:solidFill>
                <a:schemeClr val="dk1"/>
              </a:solidFill>
              <a:prstDash val="solid"/>
              <a:round/>
              <a:headEnd len="med" w="med" type="none"/>
              <a:tailEnd len="med" w="med" type="none"/>
            </a:ln>
          </p:spPr>
        </p:cxnSp>
        <p:cxnSp>
          <p:nvCxnSpPr>
            <p:cNvPr id="649" name="Google Shape;649;p42"/>
            <p:cNvCxnSpPr/>
            <p:nvPr/>
          </p:nvCxnSpPr>
          <p:spPr>
            <a:xfrm>
              <a:off x="4529150" y="1854000"/>
              <a:ext cx="3749400" cy="0"/>
            </a:xfrm>
            <a:prstGeom prst="straightConnector1">
              <a:avLst/>
            </a:prstGeom>
            <a:noFill/>
            <a:ln cap="flat" cmpd="sng" w="9525">
              <a:solidFill>
                <a:schemeClr val="dk1"/>
              </a:solidFill>
              <a:prstDash val="solid"/>
              <a:round/>
              <a:headEnd len="med" w="med" type="none"/>
              <a:tailEnd len="med" w="med" type="none"/>
            </a:ln>
          </p:spPr>
        </p:cxnSp>
      </p:grpSp>
      <p:sp>
        <p:nvSpPr>
          <p:cNvPr id="650" name="Google Shape;650;p42"/>
          <p:cNvSpPr/>
          <p:nvPr/>
        </p:nvSpPr>
        <p:spPr>
          <a:xfrm>
            <a:off x="2374075" y="-1133600"/>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1" name="Google Shape;651;p42"/>
          <p:cNvGrpSpPr/>
          <p:nvPr/>
        </p:nvGrpSpPr>
        <p:grpSpPr>
          <a:xfrm rot="5400000">
            <a:off x="3534325" y="1221867"/>
            <a:ext cx="722516" cy="244823"/>
            <a:chOff x="3705500" y="1678600"/>
            <a:chExt cx="2458375" cy="1229650"/>
          </a:xfrm>
        </p:grpSpPr>
        <p:sp>
          <p:nvSpPr>
            <p:cNvPr id="652" name="Google Shape;652;p42"/>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2"/>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2"/>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42"/>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2"/>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2"/>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2"/>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2"/>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2"/>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2"/>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42"/>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42"/>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4" name="Google Shape;664;p42"/>
          <p:cNvGrpSpPr/>
          <p:nvPr/>
        </p:nvGrpSpPr>
        <p:grpSpPr>
          <a:xfrm>
            <a:off x="3773174" y="4336446"/>
            <a:ext cx="807124" cy="807049"/>
            <a:chOff x="-2484951" y="3375496"/>
            <a:chExt cx="807124" cy="807049"/>
          </a:xfrm>
        </p:grpSpPr>
        <p:grpSp>
          <p:nvGrpSpPr>
            <p:cNvPr id="665" name="Google Shape;665;p42"/>
            <p:cNvGrpSpPr/>
            <p:nvPr/>
          </p:nvGrpSpPr>
          <p:grpSpPr>
            <a:xfrm>
              <a:off x="-2484951" y="3375496"/>
              <a:ext cx="403560" cy="403560"/>
              <a:chOff x="-2182000" y="2460775"/>
              <a:chExt cx="1679400" cy="1679400"/>
            </a:xfrm>
          </p:grpSpPr>
          <p:sp>
            <p:nvSpPr>
              <p:cNvPr id="666" name="Google Shape;666;p42"/>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7" name="Google Shape;667;p42"/>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668" name="Google Shape;668;p42"/>
            <p:cNvGrpSpPr/>
            <p:nvPr/>
          </p:nvGrpSpPr>
          <p:grpSpPr>
            <a:xfrm>
              <a:off x="-2081387" y="3375496"/>
              <a:ext cx="403560" cy="403560"/>
              <a:chOff x="-2182000" y="2460775"/>
              <a:chExt cx="1679400" cy="1679400"/>
            </a:xfrm>
          </p:grpSpPr>
          <p:sp>
            <p:nvSpPr>
              <p:cNvPr id="669" name="Google Shape;669;p42"/>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0" name="Google Shape;670;p42"/>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671" name="Google Shape;671;p42"/>
            <p:cNvGrpSpPr/>
            <p:nvPr/>
          </p:nvGrpSpPr>
          <p:grpSpPr>
            <a:xfrm>
              <a:off x="-2484951" y="3778985"/>
              <a:ext cx="403560" cy="403560"/>
              <a:chOff x="-2182000" y="2460775"/>
              <a:chExt cx="1679400" cy="1679400"/>
            </a:xfrm>
          </p:grpSpPr>
          <p:sp>
            <p:nvSpPr>
              <p:cNvPr id="672" name="Google Shape;672;p42"/>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3" name="Google Shape;673;p42"/>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674" name="Google Shape;674;p42"/>
            <p:cNvGrpSpPr/>
            <p:nvPr/>
          </p:nvGrpSpPr>
          <p:grpSpPr>
            <a:xfrm>
              <a:off x="-2081387" y="3778985"/>
              <a:ext cx="403560" cy="403560"/>
              <a:chOff x="-2182000" y="2460775"/>
              <a:chExt cx="1679400" cy="1679400"/>
            </a:xfrm>
          </p:grpSpPr>
          <p:sp>
            <p:nvSpPr>
              <p:cNvPr id="675" name="Google Shape;675;p42"/>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6" name="Google Shape;676;p42"/>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43"/>
          <p:cNvSpPr txBox="1"/>
          <p:nvPr>
            <p:ph idx="6" type="subTitle"/>
          </p:nvPr>
        </p:nvSpPr>
        <p:spPr>
          <a:xfrm>
            <a:off x="1705725" y="3079000"/>
            <a:ext cx="2647800" cy="414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LinkedIn</a:t>
            </a:r>
            <a:endParaRPr/>
          </a:p>
        </p:txBody>
      </p:sp>
      <p:sp>
        <p:nvSpPr>
          <p:cNvPr id="682" name="Google Shape;682;p43"/>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Social Media Report</a:t>
            </a:r>
            <a:endParaRPr>
              <a:highlight>
                <a:schemeClr val="accent1"/>
              </a:highlight>
            </a:endParaRPr>
          </a:p>
        </p:txBody>
      </p:sp>
      <p:sp>
        <p:nvSpPr>
          <p:cNvPr id="683" name="Google Shape;683;p43"/>
          <p:cNvSpPr txBox="1"/>
          <p:nvPr>
            <p:ph idx="1" type="subTitle"/>
          </p:nvPr>
        </p:nvSpPr>
        <p:spPr>
          <a:xfrm>
            <a:off x="1705713" y="1937935"/>
            <a:ext cx="2647800" cy="9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While the Instagram handles for Glen Groups look aesthetically pleasing, however the </a:t>
            </a:r>
            <a:r>
              <a:rPr lang="en"/>
              <a:t>engagement</a:t>
            </a:r>
            <a:r>
              <a:rPr lang="en"/>
              <a:t> rate is </a:t>
            </a:r>
            <a:r>
              <a:rPr lang="en"/>
              <a:t>extremely</a:t>
            </a:r>
            <a:r>
              <a:rPr lang="en"/>
              <a:t> less.</a:t>
            </a:r>
            <a:endParaRPr/>
          </a:p>
        </p:txBody>
      </p:sp>
      <p:sp>
        <p:nvSpPr>
          <p:cNvPr id="684" name="Google Shape;684;p43"/>
          <p:cNvSpPr txBox="1"/>
          <p:nvPr>
            <p:ph idx="2" type="subTitle"/>
          </p:nvPr>
        </p:nvSpPr>
        <p:spPr>
          <a:xfrm>
            <a:off x="5665283" y="1937935"/>
            <a:ext cx="2647800" cy="9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Facebook has the similar problem as Instagram, although the engagement rate expected on Facebook is less but the page lacks engaging content.</a:t>
            </a:r>
            <a:endParaRPr/>
          </a:p>
        </p:txBody>
      </p:sp>
      <p:sp>
        <p:nvSpPr>
          <p:cNvPr id="685" name="Google Shape;685;p43"/>
          <p:cNvSpPr txBox="1"/>
          <p:nvPr>
            <p:ph idx="3" type="subTitle"/>
          </p:nvPr>
        </p:nvSpPr>
        <p:spPr>
          <a:xfrm>
            <a:off x="1705713" y="3598510"/>
            <a:ext cx="2647800" cy="9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Handle other than Glen Recruiters need immediate attention, the posts are less engaging, doesn’t have </a:t>
            </a:r>
            <a:r>
              <a:rPr lang="en"/>
              <a:t>versatility, less informative and needs collaboration from the teams and founders.</a:t>
            </a:r>
            <a:endParaRPr/>
          </a:p>
        </p:txBody>
      </p:sp>
      <p:sp>
        <p:nvSpPr>
          <p:cNvPr id="686" name="Google Shape;686;p43"/>
          <p:cNvSpPr txBox="1"/>
          <p:nvPr>
            <p:ph idx="4" type="subTitle"/>
          </p:nvPr>
        </p:nvSpPr>
        <p:spPr>
          <a:xfrm>
            <a:off x="5665283" y="3598510"/>
            <a:ext cx="2647800" cy="9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YouTube channel has the least subscriber and needs the most work as there is barely few pieces of content that provided information and engagement. </a:t>
            </a:r>
            <a:endParaRPr/>
          </a:p>
        </p:txBody>
      </p:sp>
      <p:sp>
        <p:nvSpPr>
          <p:cNvPr id="687" name="Google Shape;687;p43"/>
          <p:cNvSpPr txBox="1"/>
          <p:nvPr>
            <p:ph idx="5" type="subTitle"/>
          </p:nvPr>
        </p:nvSpPr>
        <p:spPr>
          <a:xfrm>
            <a:off x="1705725" y="1418325"/>
            <a:ext cx="2647800" cy="414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Instagram</a:t>
            </a:r>
            <a:endParaRPr/>
          </a:p>
        </p:txBody>
      </p:sp>
      <p:sp>
        <p:nvSpPr>
          <p:cNvPr id="688" name="Google Shape;688;p43"/>
          <p:cNvSpPr txBox="1"/>
          <p:nvPr>
            <p:ph idx="7" type="subTitle"/>
          </p:nvPr>
        </p:nvSpPr>
        <p:spPr>
          <a:xfrm>
            <a:off x="5665253" y="1418325"/>
            <a:ext cx="2647800" cy="414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Facebook</a:t>
            </a:r>
            <a:endParaRPr/>
          </a:p>
        </p:txBody>
      </p:sp>
      <p:sp>
        <p:nvSpPr>
          <p:cNvPr id="689" name="Google Shape;689;p43"/>
          <p:cNvSpPr txBox="1"/>
          <p:nvPr>
            <p:ph idx="8" type="subTitle"/>
          </p:nvPr>
        </p:nvSpPr>
        <p:spPr>
          <a:xfrm>
            <a:off x="5665253" y="3079000"/>
            <a:ext cx="2647800" cy="414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YouTube</a:t>
            </a:r>
            <a:endParaRPr/>
          </a:p>
        </p:txBody>
      </p:sp>
      <p:sp>
        <p:nvSpPr>
          <p:cNvPr id="690" name="Google Shape;690;p43"/>
          <p:cNvSpPr/>
          <p:nvPr/>
        </p:nvSpPr>
        <p:spPr>
          <a:xfrm>
            <a:off x="830913" y="1303151"/>
            <a:ext cx="722400" cy="722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43"/>
          <p:cNvSpPr/>
          <p:nvPr/>
        </p:nvSpPr>
        <p:spPr>
          <a:xfrm>
            <a:off x="830913" y="2963801"/>
            <a:ext cx="722400" cy="722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43"/>
          <p:cNvSpPr/>
          <p:nvPr/>
        </p:nvSpPr>
        <p:spPr>
          <a:xfrm>
            <a:off x="4790463" y="1303151"/>
            <a:ext cx="722400" cy="722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43"/>
          <p:cNvSpPr/>
          <p:nvPr/>
        </p:nvSpPr>
        <p:spPr>
          <a:xfrm>
            <a:off x="4790463" y="2963801"/>
            <a:ext cx="722400" cy="722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4" name="Google Shape;694;p43"/>
          <p:cNvGrpSpPr/>
          <p:nvPr/>
        </p:nvGrpSpPr>
        <p:grpSpPr>
          <a:xfrm>
            <a:off x="1803591" y="1295397"/>
            <a:ext cx="1933553" cy="572809"/>
            <a:chOff x="722025" y="875325"/>
            <a:chExt cx="4739100" cy="2772550"/>
          </a:xfrm>
        </p:grpSpPr>
        <p:cxnSp>
          <p:nvCxnSpPr>
            <p:cNvPr id="695" name="Google Shape;695;p43"/>
            <p:cNvCxnSpPr/>
            <p:nvPr/>
          </p:nvCxnSpPr>
          <p:spPr>
            <a:xfrm>
              <a:off x="722025" y="3647875"/>
              <a:ext cx="4739100" cy="0"/>
            </a:xfrm>
            <a:prstGeom prst="straightConnector1">
              <a:avLst/>
            </a:prstGeom>
            <a:noFill/>
            <a:ln cap="flat" cmpd="sng" w="9525">
              <a:solidFill>
                <a:schemeClr val="dk1"/>
              </a:solidFill>
              <a:prstDash val="solid"/>
              <a:round/>
              <a:headEnd len="med" w="med" type="none"/>
              <a:tailEnd len="med" w="med" type="none"/>
            </a:ln>
          </p:spPr>
        </p:cxnSp>
        <p:cxnSp>
          <p:nvCxnSpPr>
            <p:cNvPr id="696" name="Google Shape;696;p43"/>
            <p:cNvCxnSpPr/>
            <p:nvPr/>
          </p:nvCxnSpPr>
          <p:spPr>
            <a:xfrm>
              <a:off x="722025" y="875325"/>
              <a:ext cx="4739100" cy="0"/>
            </a:xfrm>
            <a:prstGeom prst="straightConnector1">
              <a:avLst/>
            </a:prstGeom>
            <a:noFill/>
            <a:ln cap="flat" cmpd="sng" w="9525">
              <a:solidFill>
                <a:schemeClr val="dk1"/>
              </a:solidFill>
              <a:prstDash val="solid"/>
              <a:round/>
              <a:headEnd len="med" w="med" type="none"/>
              <a:tailEnd len="med" w="med" type="none"/>
            </a:ln>
          </p:spPr>
        </p:cxnSp>
      </p:grpSp>
      <p:grpSp>
        <p:nvGrpSpPr>
          <p:cNvPr id="697" name="Google Shape;697;p43"/>
          <p:cNvGrpSpPr/>
          <p:nvPr/>
        </p:nvGrpSpPr>
        <p:grpSpPr>
          <a:xfrm>
            <a:off x="5763141" y="1295397"/>
            <a:ext cx="1933553" cy="572809"/>
            <a:chOff x="722025" y="875325"/>
            <a:chExt cx="4739100" cy="2772550"/>
          </a:xfrm>
        </p:grpSpPr>
        <p:cxnSp>
          <p:nvCxnSpPr>
            <p:cNvPr id="698" name="Google Shape;698;p43"/>
            <p:cNvCxnSpPr/>
            <p:nvPr/>
          </p:nvCxnSpPr>
          <p:spPr>
            <a:xfrm>
              <a:off x="722025" y="3647875"/>
              <a:ext cx="4739100" cy="0"/>
            </a:xfrm>
            <a:prstGeom prst="straightConnector1">
              <a:avLst/>
            </a:prstGeom>
            <a:noFill/>
            <a:ln cap="flat" cmpd="sng" w="9525">
              <a:solidFill>
                <a:schemeClr val="dk1"/>
              </a:solidFill>
              <a:prstDash val="solid"/>
              <a:round/>
              <a:headEnd len="med" w="med" type="none"/>
              <a:tailEnd len="med" w="med" type="none"/>
            </a:ln>
          </p:spPr>
        </p:cxnSp>
        <p:cxnSp>
          <p:nvCxnSpPr>
            <p:cNvPr id="699" name="Google Shape;699;p43"/>
            <p:cNvCxnSpPr/>
            <p:nvPr/>
          </p:nvCxnSpPr>
          <p:spPr>
            <a:xfrm>
              <a:off x="722025" y="875325"/>
              <a:ext cx="4739100" cy="0"/>
            </a:xfrm>
            <a:prstGeom prst="straightConnector1">
              <a:avLst/>
            </a:prstGeom>
            <a:noFill/>
            <a:ln cap="flat" cmpd="sng" w="9525">
              <a:solidFill>
                <a:schemeClr val="dk1"/>
              </a:solidFill>
              <a:prstDash val="solid"/>
              <a:round/>
              <a:headEnd len="med" w="med" type="none"/>
              <a:tailEnd len="med" w="med" type="none"/>
            </a:ln>
          </p:spPr>
        </p:cxnSp>
      </p:grpSp>
      <p:grpSp>
        <p:nvGrpSpPr>
          <p:cNvPr id="700" name="Google Shape;700;p43"/>
          <p:cNvGrpSpPr/>
          <p:nvPr/>
        </p:nvGrpSpPr>
        <p:grpSpPr>
          <a:xfrm>
            <a:off x="1803591" y="2956097"/>
            <a:ext cx="1933553" cy="572809"/>
            <a:chOff x="722025" y="875325"/>
            <a:chExt cx="4739100" cy="2772550"/>
          </a:xfrm>
        </p:grpSpPr>
        <p:cxnSp>
          <p:nvCxnSpPr>
            <p:cNvPr id="701" name="Google Shape;701;p43"/>
            <p:cNvCxnSpPr/>
            <p:nvPr/>
          </p:nvCxnSpPr>
          <p:spPr>
            <a:xfrm>
              <a:off x="722025" y="3647875"/>
              <a:ext cx="4739100" cy="0"/>
            </a:xfrm>
            <a:prstGeom prst="straightConnector1">
              <a:avLst/>
            </a:prstGeom>
            <a:noFill/>
            <a:ln cap="flat" cmpd="sng" w="9525">
              <a:solidFill>
                <a:schemeClr val="dk1"/>
              </a:solidFill>
              <a:prstDash val="solid"/>
              <a:round/>
              <a:headEnd len="med" w="med" type="none"/>
              <a:tailEnd len="med" w="med" type="none"/>
            </a:ln>
          </p:spPr>
        </p:cxnSp>
        <p:cxnSp>
          <p:nvCxnSpPr>
            <p:cNvPr id="702" name="Google Shape;702;p43"/>
            <p:cNvCxnSpPr/>
            <p:nvPr/>
          </p:nvCxnSpPr>
          <p:spPr>
            <a:xfrm>
              <a:off x="722025" y="875325"/>
              <a:ext cx="4739100" cy="0"/>
            </a:xfrm>
            <a:prstGeom prst="straightConnector1">
              <a:avLst/>
            </a:prstGeom>
            <a:noFill/>
            <a:ln cap="flat" cmpd="sng" w="9525">
              <a:solidFill>
                <a:schemeClr val="dk1"/>
              </a:solidFill>
              <a:prstDash val="solid"/>
              <a:round/>
              <a:headEnd len="med" w="med" type="none"/>
              <a:tailEnd len="med" w="med" type="none"/>
            </a:ln>
          </p:spPr>
        </p:cxnSp>
      </p:grpSp>
      <p:grpSp>
        <p:nvGrpSpPr>
          <p:cNvPr id="703" name="Google Shape;703;p43"/>
          <p:cNvGrpSpPr/>
          <p:nvPr/>
        </p:nvGrpSpPr>
        <p:grpSpPr>
          <a:xfrm>
            <a:off x="5763141" y="2956097"/>
            <a:ext cx="1933553" cy="572809"/>
            <a:chOff x="722025" y="875325"/>
            <a:chExt cx="4739100" cy="2772550"/>
          </a:xfrm>
        </p:grpSpPr>
        <p:cxnSp>
          <p:nvCxnSpPr>
            <p:cNvPr id="704" name="Google Shape;704;p43"/>
            <p:cNvCxnSpPr/>
            <p:nvPr/>
          </p:nvCxnSpPr>
          <p:spPr>
            <a:xfrm>
              <a:off x="722025" y="3647875"/>
              <a:ext cx="4739100" cy="0"/>
            </a:xfrm>
            <a:prstGeom prst="straightConnector1">
              <a:avLst/>
            </a:prstGeom>
            <a:noFill/>
            <a:ln cap="flat" cmpd="sng" w="9525">
              <a:solidFill>
                <a:schemeClr val="dk1"/>
              </a:solidFill>
              <a:prstDash val="solid"/>
              <a:round/>
              <a:headEnd len="med" w="med" type="none"/>
              <a:tailEnd len="med" w="med" type="none"/>
            </a:ln>
          </p:spPr>
        </p:cxnSp>
        <p:cxnSp>
          <p:nvCxnSpPr>
            <p:cNvPr id="705" name="Google Shape;705;p43"/>
            <p:cNvCxnSpPr/>
            <p:nvPr/>
          </p:nvCxnSpPr>
          <p:spPr>
            <a:xfrm>
              <a:off x="722025" y="875325"/>
              <a:ext cx="4739100" cy="0"/>
            </a:xfrm>
            <a:prstGeom prst="straightConnector1">
              <a:avLst/>
            </a:prstGeom>
            <a:noFill/>
            <a:ln cap="flat" cmpd="sng" w="9525">
              <a:solidFill>
                <a:schemeClr val="dk1"/>
              </a:solidFill>
              <a:prstDash val="solid"/>
              <a:round/>
              <a:headEnd len="med" w="med" type="none"/>
              <a:tailEnd len="med" w="med" type="none"/>
            </a:ln>
          </p:spPr>
        </p:cxnSp>
      </p:grpSp>
      <p:grpSp>
        <p:nvGrpSpPr>
          <p:cNvPr id="706" name="Google Shape;706;p43"/>
          <p:cNvGrpSpPr/>
          <p:nvPr/>
        </p:nvGrpSpPr>
        <p:grpSpPr>
          <a:xfrm>
            <a:off x="4957836" y="1470525"/>
            <a:ext cx="387681" cy="387661"/>
            <a:chOff x="266768" y="1721375"/>
            <a:chExt cx="397907" cy="397887"/>
          </a:xfrm>
        </p:grpSpPr>
        <p:sp>
          <p:nvSpPr>
            <p:cNvPr id="707" name="Google Shape;707;p43"/>
            <p:cNvSpPr/>
            <p:nvPr/>
          </p:nvSpPr>
          <p:spPr>
            <a:xfrm>
              <a:off x="454843" y="1791037"/>
              <a:ext cx="136218" cy="328222"/>
            </a:xfrm>
            <a:custGeom>
              <a:rect b="b" l="l" r="r" t="t"/>
              <a:pathLst>
                <a:path extrusionOk="0" h="15727" w="65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708" name="Google Shape;708;p43"/>
            <p:cNvSpPr/>
            <p:nvPr/>
          </p:nvSpPr>
          <p:spPr>
            <a:xfrm>
              <a:off x="266768" y="1721375"/>
              <a:ext cx="397907" cy="397887"/>
            </a:xfrm>
            <a:custGeom>
              <a:rect b="b" l="l" r="r" t="t"/>
              <a:pathLst>
                <a:path extrusionOk="0" h="19065" w="19066">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grpSp>
      <p:grpSp>
        <p:nvGrpSpPr>
          <p:cNvPr id="709" name="Google Shape;709;p43"/>
          <p:cNvGrpSpPr/>
          <p:nvPr/>
        </p:nvGrpSpPr>
        <p:grpSpPr>
          <a:xfrm>
            <a:off x="998295" y="3131175"/>
            <a:ext cx="387661" cy="387661"/>
            <a:chOff x="1379798" y="1723250"/>
            <a:chExt cx="397887" cy="397887"/>
          </a:xfrm>
        </p:grpSpPr>
        <p:sp>
          <p:nvSpPr>
            <p:cNvPr id="710" name="Google Shape;710;p43"/>
            <p:cNvSpPr/>
            <p:nvPr/>
          </p:nvSpPr>
          <p:spPr>
            <a:xfrm>
              <a:off x="1462169" y="1793977"/>
              <a:ext cx="23354" cy="23312"/>
            </a:xfrm>
            <a:custGeom>
              <a:rect b="b" l="l" r="r" t="t"/>
              <a:pathLst>
                <a:path extrusionOk="0" h="1117" w="1119">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43"/>
            <p:cNvSpPr/>
            <p:nvPr/>
          </p:nvSpPr>
          <p:spPr>
            <a:xfrm>
              <a:off x="1379798" y="1723250"/>
              <a:ext cx="397887" cy="397887"/>
            </a:xfrm>
            <a:custGeom>
              <a:rect b="b" l="l" r="r" t="t"/>
              <a:pathLst>
                <a:path extrusionOk="0" h="19065" w="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43"/>
            <p:cNvSpPr/>
            <p:nvPr/>
          </p:nvSpPr>
          <p:spPr>
            <a:xfrm>
              <a:off x="1555413" y="1886846"/>
              <a:ext cx="139912" cy="163558"/>
            </a:xfrm>
            <a:custGeom>
              <a:rect b="b" l="l" r="r" t="t"/>
              <a:pathLst>
                <a:path extrusionOk="0" h="7837" w="6704">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43"/>
            <p:cNvSpPr/>
            <p:nvPr/>
          </p:nvSpPr>
          <p:spPr>
            <a:xfrm>
              <a:off x="1462169" y="1887200"/>
              <a:ext cx="23354" cy="163203"/>
            </a:xfrm>
            <a:custGeom>
              <a:rect b="b" l="l" r="r" t="t"/>
              <a:pathLst>
                <a:path extrusionOk="0" h="7820" w="1119">
                  <a:moveTo>
                    <a:pt x="0" y="0"/>
                  </a:moveTo>
                  <a:lnTo>
                    <a:pt x="0" y="7819"/>
                  </a:lnTo>
                  <a:lnTo>
                    <a:pt x="1118" y="7819"/>
                  </a:lnTo>
                  <a:lnTo>
                    <a:pt x="11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4" name="Google Shape;714;p43"/>
          <p:cNvGrpSpPr/>
          <p:nvPr/>
        </p:nvGrpSpPr>
        <p:grpSpPr>
          <a:xfrm>
            <a:off x="998305" y="1470525"/>
            <a:ext cx="387641" cy="387661"/>
            <a:chOff x="864491" y="1723250"/>
            <a:chExt cx="397866" cy="397887"/>
          </a:xfrm>
        </p:grpSpPr>
        <p:sp>
          <p:nvSpPr>
            <p:cNvPr id="715" name="Google Shape;715;p43"/>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43"/>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43"/>
            <p:cNvSpPr/>
            <p:nvPr/>
          </p:nvSpPr>
          <p:spPr>
            <a:xfrm>
              <a:off x="864491" y="1723250"/>
              <a:ext cx="397866" cy="397887"/>
            </a:xfrm>
            <a:custGeom>
              <a:rect b="b" l="l" r="r" t="t"/>
              <a:pathLst>
                <a:path extrusionOk="0" h="19065" w="19064">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8" name="Google Shape;718;p43"/>
          <p:cNvGrpSpPr/>
          <p:nvPr/>
        </p:nvGrpSpPr>
        <p:grpSpPr>
          <a:xfrm>
            <a:off x="4957836" y="3149855"/>
            <a:ext cx="387681" cy="272572"/>
            <a:chOff x="3386036" y="1746339"/>
            <a:chExt cx="397907" cy="279762"/>
          </a:xfrm>
        </p:grpSpPr>
        <p:sp>
          <p:nvSpPr>
            <p:cNvPr id="719" name="Google Shape;719;p43"/>
            <p:cNvSpPr/>
            <p:nvPr/>
          </p:nvSpPr>
          <p:spPr>
            <a:xfrm>
              <a:off x="3561652" y="1848954"/>
              <a:ext cx="59646" cy="74506"/>
            </a:xfrm>
            <a:custGeom>
              <a:rect b="b" l="l" r="r" t="t"/>
              <a:pathLst>
                <a:path extrusionOk="0" h="3570" w="2858">
                  <a:moveTo>
                    <a:pt x="1" y="0"/>
                  </a:moveTo>
                  <a:lnTo>
                    <a:pt x="1" y="3570"/>
                  </a:lnTo>
                  <a:lnTo>
                    <a:pt x="2858" y="1785"/>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43"/>
            <p:cNvSpPr/>
            <p:nvPr/>
          </p:nvSpPr>
          <p:spPr>
            <a:xfrm>
              <a:off x="3386036" y="1746339"/>
              <a:ext cx="397907" cy="279762"/>
            </a:xfrm>
            <a:custGeom>
              <a:rect b="b" l="l" r="r" t="t"/>
              <a:pathLst>
                <a:path extrusionOk="0" h="13405" w="19066">
                  <a:moveTo>
                    <a:pt x="7858" y="3351"/>
                  </a:moveTo>
                  <a:cubicBezTo>
                    <a:pt x="7961" y="3351"/>
                    <a:pt x="8064" y="3379"/>
                    <a:pt x="8154" y="3436"/>
                  </a:cubicBezTo>
                  <a:lnTo>
                    <a:pt x="12622" y="6230"/>
                  </a:lnTo>
                  <a:cubicBezTo>
                    <a:pt x="12785" y="6330"/>
                    <a:pt x="12884" y="6509"/>
                    <a:pt x="12884" y="6702"/>
                  </a:cubicBezTo>
                  <a:cubicBezTo>
                    <a:pt x="12884" y="6895"/>
                    <a:pt x="12785" y="7073"/>
                    <a:pt x="12622" y="7176"/>
                  </a:cubicBezTo>
                  <a:lnTo>
                    <a:pt x="8154" y="9968"/>
                  </a:lnTo>
                  <a:cubicBezTo>
                    <a:pt x="8063" y="10025"/>
                    <a:pt x="7961" y="10053"/>
                    <a:pt x="7859" y="10053"/>
                  </a:cubicBezTo>
                  <a:cubicBezTo>
                    <a:pt x="7765" y="10053"/>
                    <a:pt x="7671" y="10029"/>
                    <a:pt x="7588" y="9983"/>
                  </a:cubicBezTo>
                  <a:cubicBezTo>
                    <a:pt x="7409" y="9884"/>
                    <a:pt x="7299" y="9699"/>
                    <a:pt x="7299" y="9495"/>
                  </a:cubicBezTo>
                  <a:lnTo>
                    <a:pt x="7299" y="3910"/>
                  </a:lnTo>
                  <a:cubicBezTo>
                    <a:pt x="7299" y="3707"/>
                    <a:pt x="7409" y="3519"/>
                    <a:pt x="7588" y="3420"/>
                  </a:cubicBezTo>
                  <a:cubicBezTo>
                    <a:pt x="7671" y="3374"/>
                    <a:pt x="7765" y="3351"/>
                    <a:pt x="7858" y="3351"/>
                  </a:cubicBezTo>
                  <a:close/>
                  <a:moveTo>
                    <a:pt x="2794" y="1"/>
                  </a:moveTo>
                  <a:cubicBezTo>
                    <a:pt x="1255" y="1"/>
                    <a:pt x="1" y="1253"/>
                    <a:pt x="1" y="2792"/>
                  </a:cubicBezTo>
                  <a:lnTo>
                    <a:pt x="1" y="10611"/>
                  </a:lnTo>
                  <a:cubicBezTo>
                    <a:pt x="1" y="12152"/>
                    <a:pt x="1255" y="13405"/>
                    <a:pt x="2794" y="13405"/>
                  </a:cubicBezTo>
                  <a:lnTo>
                    <a:pt x="16274" y="13405"/>
                  </a:lnTo>
                  <a:cubicBezTo>
                    <a:pt x="17813" y="13405"/>
                    <a:pt x="19065" y="12152"/>
                    <a:pt x="19065" y="10611"/>
                  </a:cubicBezTo>
                  <a:lnTo>
                    <a:pt x="19065" y="2792"/>
                  </a:lnTo>
                  <a:cubicBezTo>
                    <a:pt x="19065" y="1253"/>
                    <a:pt x="17813" y="1"/>
                    <a:pt x="162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44"/>
          <p:cNvSpPr txBox="1"/>
          <p:nvPr>
            <p:ph idx="1" type="subTitle"/>
          </p:nvPr>
        </p:nvSpPr>
        <p:spPr>
          <a:xfrm>
            <a:off x="1046125" y="865325"/>
            <a:ext cx="7129200" cy="361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LinkedIn</a:t>
            </a:r>
            <a:r>
              <a:rPr lang="en"/>
              <a:t>:</a:t>
            </a:r>
            <a:endParaRPr/>
          </a:p>
          <a:p>
            <a:pPr indent="0" lvl="0" marL="0" rtl="0" algn="l">
              <a:spcBef>
                <a:spcPts val="0"/>
              </a:spcBef>
              <a:spcAft>
                <a:spcPts val="0"/>
              </a:spcAft>
              <a:buNone/>
            </a:pPr>
            <a:r>
              <a:rPr lang="en"/>
              <a:t>1. Optimize Company Page: Complete the LinkedIn company pages with a compelling description and relevant keywords.</a:t>
            </a:r>
            <a:endParaRPr/>
          </a:p>
          <a:p>
            <a:pPr indent="0" lvl="0" marL="0" rtl="0" algn="l">
              <a:spcBef>
                <a:spcPts val="0"/>
              </a:spcBef>
              <a:spcAft>
                <a:spcPts val="0"/>
              </a:spcAft>
              <a:buNone/>
            </a:pPr>
            <a:r>
              <a:rPr lang="en"/>
              <a:t>2. Share Industry Insights: Share valuable articles and insights relevant to your audience.</a:t>
            </a:r>
            <a:endParaRPr/>
          </a:p>
          <a:p>
            <a:pPr indent="0" lvl="0" marL="0" rtl="0" algn="l">
              <a:spcBef>
                <a:spcPts val="0"/>
              </a:spcBef>
              <a:spcAft>
                <a:spcPts val="0"/>
              </a:spcAft>
              <a:buNone/>
            </a:pPr>
            <a:r>
              <a:rPr lang="en"/>
              <a:t>3. Employee Advocacy: Encourage employees to share company updates and industry content.</a:t>
            </a:r>
            <a:endParaRPr/>
          </a:p>
          <a:p>
            <a:pPr indent="0" lvl="0" marL="0" rtl="0" algn="l">
              <a:spcBef>
                <a:spcPts val="0"/>
              </a:spcBef>
              <a:spcAft>
                <a:spcPts val="0"/>
              </a:spcAft>
              <a:buNone/>
            </a:pPr>
            <a:r>
              <a:rPr lang="en"/>
              <a:t>4. Create Visual Content: Use infographics, slideshows, and videos for better engagement.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Instagram</a:t>
            </a:r>
            <a:r>
              <a:rPr lang="en"/>
              <a:t>:</a:t>
            </a:r>
            <a:endParaRPr/>
          </a:p>
          <a:p>
            <a:pPr indent="0" lvl="0" marL="0" rtl="0" algn="l">
              <a:spcBef>
                <a:spcPts val="0"/>
              </a:spcBef>
              <a:spcAft>
                <a:spcPts val="0"/>
              </a:spcAft>
              <a:buNone/>
            </a:pPr>
            <a:r>
              <a:rPr lang="en"/>
              <a:t>1. Visual Storytelling: Showcase products/services creatively through visual content.</a:t>
            </a:r>
            <a:endParaRPr/>
          </a:p>
          <a:p>
            <a:pPr indent="0" lvl="0" marL="0" rtl="0" algn="l">
              <a:spcBef>
                <a:spcPts val="0"/>
              </a:spcBef>
              <a:spcAft>
                <a:spcPts val="0"/>
              </a:spcAft>
              <a:buNone/>
            </a:pPr>
            <a:r>
              <a:rPr lang="en"/>
              <a:t>2. Use Hashtags: Research and use industry-specific hashtags for increased discoverability.</a:t>
            </a:r>
            <a:endParaRPr/>
          </a:p>
          <a:p>
            <a:pPr indent="0" lvl="0" marL="0" rtl="0" algn="l">
              <a:spcBef>
                <a:spcPts val="0"/>
              </a:spcBef>
              <a:spcAft>
                <a:spcPts val="0"/>
              </a:spcAft>
              <a:buNone/>
            </a:pPr>
            <a:r>
              <a:rPr lang="en"/>
              <a:t>3. Highlight Success Stories: Share success stories and client testimonials through carousel posts.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Facebook:</a:t>
            </a:r>
            <a:endParaRPr b="1"/>
          </a:p>
          <a:p>
            <a:pPr indent="0" lvl="0" marL="0" rtl="0" algn="l">
              <a:spcBef>
                <a:spcPts val="0"/>
              </a:spcBef>
              <a:spcAft>
                <a:spcPts val="0"/>
              </a:spcAft>
              <a:buNone/>
            </a:pPr>
            <a:r>
              <a:rPr lang="en"/>
              <a:t>1. Varied Content: Mix up content types with images, videos, links, and text updates.</a:t>
            </a:r>
            <a:endParaRPr/>
          </a:p>
          <a:p>
            <a:pPr indent="0" lvl="0" marL="0" rtl="0" algn="l">
              <a:spcBef>
                <a:spcPts val="0"/>
              </a:spcBef>
              <a:spcAft>
                <a:spcPts val="0"/>
              </a:spcAft>
              <a:buNone/>
            </a:pPr>
            <a:r>
              <a:rPr lang="en"/>
              <a:t>2. Join Facebook Groups: Participate in relevant industry groups and share insights.</a:t>
            </a:r>
            <a:endParaRPr/>
          </a:p>
          <a:p>
            <a:pPr indent="0" lvl="0" marL="0" rtl="0" algn="l">
              <a:spcBef>
                <a:spcPts val="0"/>
              </a:spcBef>
              <a:spcAft>
                <a:spcPts val="0"/>
              </a:spcAft>
              <a:buNone/>
            </a:pPr>
            <a:r>
              <a:rPr lang="en"/>
              <a:t>3. Advertise Strategically: Use Facebook Ads to target specific B2B audiences.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YouTube</a:t>
            </a:r>
            <a:r>
              <a:rPr lang="en"/>
              <a:t>:</a:t>
            </a:r>
            <a:endParaRPr/>
          </a:p>
          <a:p>
            <a:pPr indent="0" lvl="0" marL="0" rtl="0" algn="l">
              <a:spcBef>
                <a:spcPts val="0"/>
              </a:spcBef>
              <a:spcAft>
                <a:spcPts val="0"/>
              </a:spcAft>
              <a:buNone/>
            </a:pPr>
            <a:r>
              <a:rPr lang="en"/>
              <a:t>1. Educational Videos: Create educational videos about the different industries, products, and services.</a:t>
            </a:r>
            <a:endParaRPr/>
          </a:p>
          <a:p>
            <a:pPr indent="0" lvl="0" marL="0" rtl="0" algn="l">
              <a:spcBef>
                <a:spcPts val="0"/>
              </a:spcBef>
              <a:spcAft>
                <a:spcPts val="0"/>
              </a:spcAft>
              <a:buNone/>
            </a:pPr>
            <a:r>
              <a:rPr lang="en"/>
              <a:t>2. Webinar Recordings: Repurpose webinar content into YouTube videos.</a:t>
            </a:r>
            <a:endParaRPr/>
          </a:p>
          <a:p>
            <a:pPr indent="0" lvl="0" marL="0" rtl="0" algn="l">
              <a:spcBef>
                <a:spcPts val="0"/>
              </a:spcBef>
              <a:spcAft>
                <a:spcPts val="0"/>
              </a:spcAft>
              <a:buNone/>
            </a:pPr>
            <a:r>
              <a:rPr lang="en"/>
              <a:t>3. Collaborate: Collaborate with influencers or other businesses in your industry.</a:t>
            </a:r>
            <a:endParaRPr/>
          </a:p>
          <a:p>
            <a:pPr indent="0" lvl="0" marL="0" rtl="0" algn="l">
              <a:spcBef>
                <a:spcPts val="0"/>
              </a:spcBef>
              <a:spcAft>
                <a:spcPts val="0"/>
              </a:spcAft>
              <a:buNone/>
            </a:pPr>
            <a:r>
              <a:t/>
            </a:r>
            <a:endParaRPr/>
          </a:p>
        </p:txBody>
      </p:sp>
      <p:sp>
        <p:nvSpPr>
          <p:cNvPr id="726" name="Google Shape;726;p44"/>
          <p:cNvSpPr txBox="1"/>
          <p:nvPr>
            <p:ph type="title"/>
          </p:nvPr>
        </p:nvSpPr>
        <p:spPr>
          <a:xfrm>
            <a:off x="2023500" y="504150"/>
            <a:ext cx="5260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Plan of Action for Improvement</a:t>
            </a:r>
            <a:endParaRPr sz="2000">
              <a:highlight>
                <a:schemeClr val="accent1"/>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45"/>
          <p:cNvSpPr txBox="1"/>
          <p:nvPr>
            <p:ph type="title"/>
          </p:nvPr>
        </p:nvSpPr>
        <p:spPr>
          <a:xfrm>
            <a:off x="4047175" y="2018850"/>
            <a:ext cx="4383600" cy="16803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Target</a:t>
            </a:r>
            <a:r>
              <a:rPr lang="en"/>
              <a:t> </a:t>
            </a:r>
            <a:r>
              <a:rPr lang="en">
                <a:highlight>
                  <a:schemeClr val="accent1"/>
                </a:highlight>
              </a:rPr>
              <a:t>Audience</a:t>
            </a:r>
            <a:endParaRPr>
              <a:highlight>
                <a:schemeClr val="accent1"/>
              </a:highlight>
            </a:endParaRPr>
          </a:p>
        </p:txBody>
      </p:sp>
      <p:sp>
        <p:nvSpPr>
          <p:cNvPr id="732" name="Google Shape;732;p45"/>
          <p:cNvSpPr txBox="1"/>
          <p:nvPr>
            <p:ph idx="2" type="title"/>
          </p:nvPr>
        </p:nvSpPr>
        <p:spPr>
          <a:xfrm>
            <a:off x="6832075" y="775850"/>
            <a:ext cx="1598700" cy="841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03</a:t>
            </a:r>
            <a:endParaRPr/>
          </a:p>
        </p:txBody>
      </p:sp>
      <p:pic>
        <p:nvPicPr>
          <p:cNvPr id="733" name="Google Shape;733;p45"/>
          <p:cNvPicPr preferRelativeResize="0"/>
          <p:nvPr>
            <p:ph idx="3" type="pic"/>
          </p:nvPr>
        </p:nvPicPr>
        <p:blipFill rotWithShape="1">
          <a:blip r:embed="rId3">
            <a:alphaModFix/>
          </a:blip>
          <a:srcRect b="0" l="8901" r="8901" t="0"/>
          <a:stretch/>
        </p:blipFill>
        <p:spPr>
          <a:xfrm>
            <a:off x="0" y="0"/>
            <a:ext cx="3171600" cy="5143502"/>
          </a:xfrm>
          <a:prstGeom prst="rect">
            <a:avLst/>
          </a:prstGeom>
        </p:spPr>
      </p:pic>
      <p:grpSp>
        <p:nvGrpSpPr>
          <p:cNvPr id="734" name="Google Shape;734;p45"/>
          <p:cNvGrpSpPr/>
          <p:nvPr/>
        </p:nvGrpSpPr>
        <p:grpSpPr>
          <a:xfrm>
            <a:off x="4529150" y="1854000"/>
            <a:ext cx="3749400" cy="2065075"/>
            <a:chOff x="4529150" y="1854000"/>
            <a:chExt cx="3749400" cy="2065075"/>
          </a:xfrm>
        </p:grpSpPr>
        <p:cxnSp>
          <p:nvCxnSpPr>
            <p:cNvPr id="735" name="Google Shape;735;p45"/>
            <p:cNvCxnSpPr/>
            <p:nvPr/>
          </p:nvCxnSpPr>
          <p:spPr>
            <a:xfrm>
              <a:off x="4529150" y="3919075"/>
              <a:ext cx="3749400" cy="0"/>
            </a:xfrm>
            <a:prstGeom prst="straightConnector1">
              <a:avLst/>
            </a:prstGeom>
            <a:noFill/>
            <a:ln cap="flat" cmpd="sng" w="9525">
              <a:solidFill>
                <a:schemeClr val="dk1"/>
              </a:solidFill>
              <a:prstDash val="solid"/>
              <a:round/>
              <a:headEnd len="med" w="med" type="none"/>
              <a:tailEnd len="med" w="med" type="none"/>
            </a:ln>
          </p:spPr>
        </p:cxnSp>
        <p:cxnSp>
          <p:nvCxnSpPr>
            <p:cNvPr id="736" name="Google Shape;736;p45"/>
            <p:cNvCxnSpPr/>
            <p:nvPr/>
          </p:nvCxnSpPr>
          <p:spPr>
            <a:xfrm>
              <a:off x="4529150" y="1854000"/>
              <a:ext cx="3749400" cy="0"/>
            </a:xfrm>
            <a:prstGeom prst="straightConnector1">
              <a:avLst/>
            </a:prstGeom>
            <a:noFill/>
            <a:ln cap="flat" cmpd="sng" w="9525">
              <a:solidFill>
                <a:schemeClr val="dk1"/>
              </a:solidFill>
              <a:prstDash val="solid"/>
              <a:round/>
              <a:headEnd len="med" w="med" type="none"/>
              <a:tailEnd len="med" w="med" type="none"/>
            </a:ln>
          </p:spPr>
        </p:cxnSp>
      </p:grpSp>
      <p:sp>
        <p:nvSpPr>
          <p:cNvPr id="737" name="Google Shape;737;p45"/>
          <p:cNvSpPr/>
          <p:nvPr/>
        </p:nvSpPr>
        <p:spPr>
          <a:xfrm>
            <a:off x="2374075" y="-1133600"/>
            <a:ext cx="1673100" cy="16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8" name="Google Shape;738;p45"/>
          <p:cNvGrpSpPr/>
          <p:nvPr/>
        </p:nvGrpSpPr>
        <p:grpSpPr>
          <a:xfrm rot="5400000">
            <a:off x="3534325" y="1221867"/>
            <a:ext cx="722516" cy="244823"/>
            <a:chOff x="3705500" y="1678600"/>
            <a:chExt cx="2458375" cy="1229650"/>
          </a:xfrm>
        </p:grpSpPr>
        <p:sp>
          <p:nvSpPr>
            <p:cNvPr id="739" name="Google Shape;739;p45"/>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45"/>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45"/>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45"/>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45"/>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45"/>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45"/>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45"/>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45"/>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45"/>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45"/>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45"/>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 name="Google Shape;751;p45"/>
          <p:cNvGrpSpPr/>
          <p:nvPr/>
        </p:nvGrpSpPr>
        <p:grpSpPr>
          <a:xfrm>
            <a:off x="3773174" y="4336446"/>
            <a:ext cx="807124" cy="807049"/>
            <a:chOff x="-2484951" y="3375496"/>
            <a:chExt cx="807124" cy="807049"/>
          </a:xfrm>
        </p:grpSpPr>
        <p:grpSp>
          <p:nvGrpSpPr>
            <p:cNvPr id="752" name="Google Shape;752;p45"/>
            <p:cNvGrpSpPr/>
            <p:nvPr/>
          </p:nvGrpSpPr>
          <p:grpSpPr>
            <a:xfrm>
              <a:off x="-2484951" y="3375496"/>
              <a:ext cx="403560" cy="403560"/>
              <a:chOff x="-2182000" y="2460775"/>
              <a:chExt cx="1679400" cy="1679400"/>
            </a:xfrm>
          </p:grpSpPr>
          <p:sp>
            <p:nvSpPr>
              <p:cNvPr id="753" name="Google Shape;753;p45"/>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4" name="Google Shape;754;p45"/>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755" name="Google Shape;755;p45"/>
            <p:cNvGrpSpPr/>
            <p:nvPr/>
          </p:nvGrpSpPr>
          <p:grpSpPr>
            <a:xfrm>
              <a:off x="-2081387" y="3375496"/>
              <a:ext cx="403560" cy="403560"/>
              <a:chOff x="-2182000" y="2460775"/>
              <a:chExt cx="1679400" cy="1679400"/>
            </a:xfrm>
          </p:grpSpPr>
          <p:sp>
            <p:nvSpPr>
              <p:cNvPr id="756" name="Google Shape;756;p45"/>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7" name="Google Shape;757;p45"/>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758" name="Google Shape;758;p45"/>
            <p:cNvGrpSpPr/>
            <p:nvPr/>
          </p:nvGrpSpPr>
          <p:grpSpPr>
            <a:xfrm>
              <a:off x="-2484951" y="3778985"/>
              <a:ext cx="403560" cy="403560"/>
              <a:chOff x="-2182000" y="2460775"/>
              <a:chExt cx="1679400" cy="1679400"/>
            </a:xfrm>
          </p:grpSpPr>
          <p:sp>
            <p:nvSpPr>
              <p:cNvPr id="759" name="Google Shape;759;p45"/>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60" name="Google Shape;760;p45"/>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761" name="Google Shape;761;p45"/>
            <p:cNvGrpSpPr/>
            <p:nvPr/>
          </p:nvGrpSpPr>
          <p:grpSpPr>
            <a:xfrm>
              <a:off x="-2081387" y="3778985"/>
              <a:ext cx="403560" cy="403560"/>
              <a:chOff x="-2182000" y="2460775"/>
              <a:chExt cx="1679400" cy="1679400"/>
            </a:xfrm>
          </p:grpSpPr>
          <p:sp>
            <p:nvSpPr>
              <p:cNvPr id="762" name="Google Shape;762;p45"/>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63" name="Google Shape;763;p45"/>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46"/>
          <p:cNvSpPr txBox="1"/>
          <p:nvPr>
            <p:ph idx="1" type="subTitle"/>
          </p:nvPr>
        </p:nvSpPr>
        <p:spPr>
          <a:xfrm>
            <a:off x="1046125" y="865325"/>
            <a:ext cx="7129200" cy="392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Karas Security:</a:t>
            </a:r>
            <a:r>
              <a:rPr lang="en"/>
              <a:t> Karas Security provides customized and cutting-edge security solutions for residential and commercial properties, as well as special events. The target audience could be homeowners, business owners, event planners, and anyone who values safety and security.</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Glen Group of Companies:</a:t>
            </a:r>
            <a:r>
              <a:rPr lang="en"/>
              <a:t> Glen Group of Companies is a multi-faceted company that offers a range of services, including security, real estate, recruitment, childcare, traffic management, and home renovations. The target audience could be individuals, families, and businesses looking for reliable and professional services in these areas.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Glen Recruiters: </a:t>
            </a:r>
            <a:r>
              <a:rPr lang="en"/>
              <a:t>Glen Recruiters is a recruitment agency that specializes in connecting talented individuals with excellent companies across various industries. The target audience could be companies looking for the right addition to their team.</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Glen Homes:</a:t>
            </a:r>
            <a:r>
              <a:rPr lang="en"/>
              <a:t> Glen Homes provides construction services, specializing in laneway homes, custom single and multi-family homes, and renovations. The target audience could be homeowners looking to build or renovate their homes.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Glen Traffic Solutions</a:t>
            </a:r>
            <a:r>
              <a:rPr lang="en"/>
              <a:t>: Glen Traffic Solutions is a traffic management company that provides safe and efficient traffic management solutions for construction zones and other areas. The target audience could be construction companies, event planners, and municipalities.</a:t>
            </a:r>
            <a:endParaRPr/>
          </a:p>
          <a:p>
            <a:pPr indent="0" lvl="0" marL="0" rtl="0" algn="l">
              <a:spcBef>
                <a:spcPts val="0"/>
              </a:spcBef>
              <a:spcAft>
                <a:spcPts val="0"/>
              </a:spcAft>
              <a:buNone/>
            </a:pPr>
            <a:r>
              <a:t/>
            </a:r>
            <a:endParaRPr/>
          </a:p>
        </p:txBody>
      </p:sp>
      <p:sp>
        <p:nvSpPr>
          <p:cNvPr id="769" name="Google Shape;769;p46"/>
          <p:cNvSpPr txBox="1"/>
          <p:nvPr>
            <p:ph type="title"/>
          </p:nvPr>
        </p:nvSpPr>
        <p:spPr>
          <a:xfrm>
            <a:off x="2023500" y="427950"/>
            <a:ext cx="5260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Target Audiences</a:t>
            </a:r>
            <a:endParaRPr sz="2000">
              <a:highlight>
                <a:schemeClr val="accent1"/>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47"/>
          <p:cNvSpPr txBox="1"/>
          <p:nvPr>
            <p:ph type="title"/>
          </p:nvPr>
        </p:nvSpPr>
        <p:spPr>
          <a:xfrm>
            <a:off x="4047175" y="2018850"/>
            <a:ext cx="4383600" cy="16803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Marketing</a:t>
            </a:r>
            <a:r>
              <a:rPr lang="en"/>
              <a:t> </a:t>
            </a:r>
            <a:r>
              <a:rPr lang="en">
                <a:highlight>
                  <a:schemeClr val="accent1"/>
                </a:highlight>
              </a:rPr>
              <a:t>Strategy</a:t>
            </a:r>
            <a:endParaRPr>
              <a:highlight>
                <a:schemeClr val="accent1"/>
              </a:highlight>
            </a:endParaRPr>
          </a:p>
        </p:txBody>
      </p:sp>
      <p:sp>
        <p:nvSpPr>
          <p:cNvPr id="775" name="Google Shape;775;p47"/>
          <p:cNvSpPr txBox="1"/>
          <p:nvPr>
            <p:ph idx="2" type="title"/>
          </p:nvPr>
        </p:nvSpPr>
        <p:spPr>
          <a:xfrm>
            <a:off x="6832075" y="775850"/>
            <a:ext cx="1598700" cy="841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04</a:t>
            </a:r>
            <a:endParaRPr/>
          </a:p>
        </p:txBody>
      </p:sp>
      <p:pic>
        <p:nvPicPr>
          <p:cNvPr id="776" name="Google Shape;776;p47"/>
          <p:cNvPicPr preferRelativeResize="0"/>
          <p:nvPr>
            <p:ph idx="3" type="pic"/>
          </p:nvPr>
        </p:nvPicPr>
        <p:blipFill rotWithShape="1">
          <a:blip r:embed="rId3">
            <a:alphaModFix/>
          </a:blip>
          <a:srcRect b="0" l="4610" r="10485" t="0"/>
          <a:stretch/>
        </p:blipFill>
        <p:spPr>
          <a:xfrm>
            <a:off x="-377775" y="0"/>
            <a:ext cx="3923000" cy="5143500"/>
          </a:xfrm>
          <a:prstGeom prst="rect">
            <a:avLst/>
          </a:prstGeom>
        </p:spPr>
      </p:pic>
      <p:grpSp>
        <p:nvGrpSpPr>
          <p:cNvPr id="777" name="Google Shape;777;p47"/>
          <p:cNvGrpSpPr/>
          <p:nvPr/>
        </p:nvGrpSpPr>
        <p:grpSpPr>
          <a:xfrm>
            <a:off x="4529150" y="1854000"/>
            <a:ext cx="3749400" cy="2065075"/>
            <a:chOff x="4529150" y="1854000"/>
            <a:chExt cx="3749400" cy="2065075"/>
          </a:xfrm>
        </p:grpSpPr>
        <p:cxnSp>
          <p:nvCxnSpPr>
            <p:cNvPr id="778" name="Google Shape;778;p47"/>
            <p:cNvCxnSpPr/>
            <p:nvPr/>
          </p:nvCxnSpPr>
          <p:spPr>
            <a:xfrm>
              <a:off x="4529150" y="3919075"/>
              <a:ext cx="3749400" cy="0"/>
            </a:xfrm>
            <a:prstGeom prst="straightConnector1">
              <a:avLst/>
            </a:prstGeom>
            <a:noFill/>
            <a:ln cap="flat" cmpd="sng" w="9525">
              <a:solidFill>
                <a:schemeClr val="dk1"/>
              </a:solidFill>
              <a:prstDash val="solid"/>
              <a:round/>
              <a:headEnd len="med" w="med" type="none"/>
              <a:tailEnd len="med" w="med" type="none"/>
            </a:ln>
          </p:spPr>
        </p:cxnSp>
        <p:cxnSp>
          <p:nvCxnSpPr>
            <p:cNvPr id="779" name="Google Shape;779;p47"/>
            <p:cNvCxnSpPr/>
            <p:nvPr/>
          </p:nvCxnSpPr>
          <p:spPr>
            <a:xfrm>
              <a:off x="4529150" y="1854000"/>
              <a:ext cx="3749400" cy="0"/>
            </a:xfrm>
            <a:prstGeom prst="straightConnector1">
              <a:avLst/>
            </a:prstGeom>
            <a:noFill/>
            <a:ln cap="flat" cmpd="sng" w="9525">
              <a:solidFill>
                <a:schemeClr val="dk1"/>
              </a:solidFill>
              <a:prstDash val="solid"/>
              <a:round/>
              <a:headEnd len="med" w="med" type="none"/>
              <a:tailEnd len="med" w="med" type="none"/>
            </a:ln>
          </p:spPr>
        </p:cxnSp>
      </p:grpSp>
      <p:grpSp>
        <p:nvGrpSpPr>
          <p:cNvPr id="780" name="Google Shape;780;p47"/>
          <p:cNvGrpSpPr/>
          <p:nvPr/>
        </p:nvGrpSpPr>
        <p:grpSpPr>
          <a:xfrm rot="5400000">
            <a:off x="3534325" y="1221867"/>
            <a:ext cx="722516" cy="244823"/>
            <a:chOff x="3705500" y="1678600"/>
            <a:chExt cx="2458375" cy="1229650"/>
          </a:xfrm>
        </p:grpSpPr>
        <p:sp>
          <p:nvSpPr>
            <p:cNvPr id="781" name="Google Shape;781;p47"/>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47"/>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47"/>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47"/>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47"/>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47"/>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47"/>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47"/>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47"/>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47"/>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47"/>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47"/>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3" name="Google Shape;793;p47"/>
          <p:cNvGrpSpPr/>
          <p:nvPr/>
        </p:nvGrpSpPr>
        <p:grpSpPr>
          <a:xfrm>
            <a:off x="3773174" y="4336446"/>
            <a:ext cx="807124" cy="807049"/>
            <a:chOff x="-2484951" y="3375496"/>
            <a:chExt cx="807124" cy="807049"/>
          </a:xfrm>
        </p:grpSpPr>
        <p:grpSp>
          <p:nvGrpSpPr>
            <p:cNvPr id="794" name="Google Shape;794;p47"/>
            <p:cNvGrpSpPr/>
            <p:nvPr/>
          </p:nvGrpSpPr>
          <p:grpSpPr>
            <a:xfrm>
              <a:off x="-2484951" y="3375496"/>
              <a:ext cx="403560" cy="403560"/>
              <a:chOff x="-2182000" y="2460775"/>
              <a:chExt cx="1679400" cy="1679400"/>
            </a:xfrm>
          </p:grpSpPr>
          <p:sp>
            <p:nvSpPr>
              <p:cNvPr id="795" name="Google Shape;795;p47"/>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6" name="Google Shape;796;p47"/>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797" name="Google Shape;797;p47"/>
            <p:cNvGrpSpPr/>
            <p:nvPr/>
          </p:nvGrpSpPr>
          <p:grpSpPr>
            <a:xfrm>
              <a:off x="-2081387" y="3375496"/>
              <a:ext cx="403560" cy="403560"/>
              <a:chOff x="-2182000" y="2460775"/>
              <a:chExt cx="1679400" cy="1679400"/>
            </a:xfrm>
          </p:grpSpPr>
          <p:sp>
            <p:nvSpPr>
              <p:cNvPr id="798" name="Google Shape;798;p47"/>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9" name="Google Shape;799;p47"/>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800" name="Google Shape;800;p47"/>
            <p:cNvGrpSpPr/>
            <p:nvPr/>
          </p:nvGrpSpPr>
          <p:grpSpPr>
            <a:xfrm>
              <a:off x="-2484951" y="3778985"/>
              <a:ext cx="403560" cy="403560"/>
              <a:chOff x="-2182000" y="2460775"/>
              <a:chExt cx="1679400" cy="1679400"/>
            </a:xfrm>
          </p:grpSpPr>
          <p:sp>
            <p:nvSpPr>
              <p:cNvPr id="801" name="Google Shape;801;p47"/>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02" name="Google Shape;802;p47"/>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803" name="Google Shape;803;p47"/>
            <p:cNvGrpSpPr/>
            <p:nvPr/>
          </p:nvGrpSpPr>
          <p:grpSpPr>
            <a:xfrm>
              <a:off x="-2081387" y="3778985"/>
              <a:ext cx="403560" cy="403560"/>
              <a:chOff x="-2182000" y="2460775"/>
              <a:chExt cx="1679400" cy="1679400"/>
            </a:xfrm>
          </p:grpSpPr>
          <p:sp>
            <p:nvSpPr>
              <p:cNvPr id="804" name="Google Shape;804;p47"/>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05" name="Google Shape;805;p47"/>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48"/>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Key Areas to Work</a:t>
            </a:r>
            <a:endParaRPr>
              <a:highlight>
                <a:schemeClr val="accent1"/>
              </a:highlight>
            </a:endParaRPr>
          </a:p>
        </p:txBody>
      </p:sp>
      <p:sp>
        <p:nvSpPr>
          <p:cNvPr id="811" name="Google Shape;811;p48"/>
          <p:cNvSpPr txBox="1"/>
          <p:nvPr>
            <p:ph idx="1" type="subTitle"/>
          </p:nvPr>
        </p:nvSpPr>
        <p:spPr>
          <a:xfrm>
            <a:off x="713325" y="1862575"/>
            <a:ext cx="2258100" cy="117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robust social media strategy will be developed to promote Glen Group and its verticals to build digital presence, engage with audience, and build brand authority</a:t>
            </a:r>
            <a:endParaRPr/>
          </a:p>
        </p:txBody>
      </p:sp>
      <p:sp>
        <p:nvSpPr>
          <p:cNvPr id="812" name="Google Shape;812;p48"/>
          <p:cNvSpPr txBox="1"/>
          <p:nvPr>
            <p:ph idx="2" type="subTitle"/>
          </p:nvPr>
        </p:nvSpPr>
        <p:spPr>
          <a:xfrm>
            <a:off x="3443000" y="1862575"/>
            <a:ext cx="2258100" cy="123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All the business verticals need heavy amount of content and blogs to grow ranking and give brand the visibility and gain traction </a:t>
            </a:r>
            <a:r>
              <a:rPr lang="en"/>
              <a:t>organically</a:t>
            </a:r>
            <a:r>
              <a:rPr lang="en"/>
              <a:t> with intent to conversion </a:t>
            </a:r>
            <a:endParaRPr/>
          </a:p>
        </p:txBody>
      </p:sp>
      <p:sp>
        <p:nvSpPr>
          <p:cNvPr id="813" name="Google Shape;813;p48"/>
          <p:cNvSpPr txBox="1"/>
          <p:nvPr>
            <p:ph idx="3" type="subTitle"/>
          </p:nvPr>
        </p:nvSpPr>
        <p:spPr>
          <a:xfrm>
            <a:off x="713325" y="3745250"/>
            <a:ext cx="2258100" cy="89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Email marketing is the most effective and underrated tactic to grow businesses, as the model is free of cost, email marketing can help generate more leads and </a:t>
            </a:r>
            <a:r>
              <a:rPr lang="en"/>
              <a:t>build</a:t>
            </a:r>
            <a:r>
              <a:rPr lang="en"/>
              <a:t> client relationship.</a:t>
            </a:r>
            <a:endParaRPr/>
          </a:p>
        </p:txBody>
      </p:sp>
      <p:sp>
        <p:nvSpPr>
          <p:cNvPr id="814" name="Google Shape;814;p48"/>
          <p:cNvSpPr txBox="1"/>
          <p:nvPr>
            <p:ph idx="4" type="subTitle"/>
          </p:nvPr>
        </p:nvSpPr>
        <p:spPr>
          <a:xfrm>
            <a:off x="3443002" y="3745250"/>
            <a:ext cx="2258100" cy="89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Video form of content is the most powerful tool to communicate the brand’s objective and to educate the audience, it is also the most engaging form of content.</a:t>
            </a:r>
            <a:endParaRPr/>
          </a:p>
        </p:txBody>
      </p:sp>
      <p:sp>
        <p:nvSpPr>
          <p:cNvPr id="815" name="Google Shape;815;p48"/>
          <p:cNvSpPr txBox="1"/>
          <p:nvPr>
            <p:ph idx="7" type="subTitle"/>
          </p:nvPr>
        </p:nvSpPr>
        <p:spPr>
          <a:xfrm>
            <a:off x="717775" y="1430861"/>
            <a:ext cx="2249100" cy="408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500"/>
              <a:t>Social Media Marketing</a:t>
            </a:r>
            <a:endParaRPr sz="1500"/>
          </a:p>
        </p:txBody>
      </p:sp>
      <p:sp>
        <p:nvSpPr>
          <p:cNvPr id="816" name="Google Shape;816;p48"/>
          <p:cNvSpPr txBox="1"/>
          <p:nvPr>
            <p:ph idx="8" type="subTitle"/>
          </p:nvPr>
        </p:nvSpPr>
        <p:spPr>
          <a:xfrm>
            <a:off x="3447442" y="1421175"/>
            <a:ext cx="2249100" cy="408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400"/>
              <a:t>Content Marketing</a:t>
            </a:r>
            <a:endParaRPr sz="1400"/>
          </a:p>
        </p:txBody>
      </p:sp>
      <p:sp>
        <p:nvSpPr>
          <p:cNvPr id="817" name="Google Shape;817;p48"/>
          <p:cNvSpPr txBox="1"/>
          <p:nvPr>
            <p:ph idx="9" type="subTitle"/>
          </p:nvPr>
        </p:nvSpPr>
        <p:spPr>
          <a:xfrm>
            <a:off x="6177100" y="1344975"/>
            <a:ext cx="2249100" cy="493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500"/>
              <a:t>Performance Marketing</a:t>
            </a:r>
            <a:endParaRPr sz="1500"/>
          </a:p>
        </p:txBody>
      </p:sp>
      <p:sp>
        <p:nvSpPr>
          <p:cNvPr id="818" name="Google Shape;818;p48"/>
          <p:cNvSpPr txBox="1"/>
          <p:nvPr>
            <p:ph idx="5" type="subTitle"/>
          </p:nvPr>
        </p:nvSpPr>
        <p:spPr>
          <a:xfrm>
            <a:off x="6172672" y="1862576"/>
            <a:ext cx="2258100" cy="89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Paid marketing is </a:t>
            </a:r>
            <a:r>
              <a:rPr lang="en"/>
              <a:t>much</a:t>
            </a:r>
            <a:r>
              <a:rPr lang="en"/>
              <a:t> needed for any business to generate valuable leads and conversions, although this step can be taken after 1 month of digital presence building exercises</a:t>
            </a:r>
            <a:endParaRPr/>
          </a:p>
        </p:txBody>
      </p:sp>
      <p:sp>
        <p:nvSpPr>
          <p:cNvPr id="819" name="Google Shape;819;p48"/>
          <p:cNvSpPr txBox="1"/>
          <p:nvPr>
            <p:ph idx="6" type="subTitle"/>
          </p:nvPr>
        </p:nvSpPr>
        <p:spPr>
          <a:xfrm>
            <a:off x="6172676" y="3745250"/>
            <a:ext cx="2258100" cy="89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Participating in physical expo, digital podcasts and seminar gives the organization golden leads and the opportunity to collaborate. The same content can be reused digitally to build presence.</a:t>
            </a:r>
            <a:endParaRPr/>
          </a:p>
        </p:txBody>
      </p:sp>
      <p:sp>
        <p:nvSpPr>
          <p:cNvPr id="820" name="Google Shape;820;p48"/>
          <p:cNvSpPr txBox="1"/>
          <p:nvPr>
            <p:ph idx="13" type="subTitle"/>
          </p:nvPr>
        </p:nvSpPr>
        <p:spPr>
          <a:xfrm>
            <a:off x="717775" y="3224425"/>
            <a:ext cx="2249100" cy="408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500"/>
              <a:t>Email Marketing</a:t>
            </a:r>
            <a:endParaRPr sz="1500"/>
          </a:p>
        </p:txBody>
      </p:sp>
      <p:sp>
        <p:nvSpPr>
          <p:cNvPr id="821" name="Google Shape;821;p48"/>
          <p:cNvSpPr txBox="1"/>
          <p:nvPr>
            <p:ph idx="14" type="subTitle"/>
          </p:nvPr>
        </p:nvSpPr>
        <p:spPr>
          <a:xfrm>
            <a:off x="3447430" y="3375971"/>
            <a:ext cx="2249100" cy="408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500"/>
              <a:t>Video Content Creation</a:t>
            </a:r>
            <a:endParaRPr sz="1500"/>
          </a:p>
        </p:txBody>
      </p:sp>
      <p:sp>
        <p:nvSpPr>
          <p:cNvPr id="822" name="Google Shape;822;p48"/>
          <p:cNvSpPr txBox="1"/>
          <p:nvPr>
            <p:ph idx="15" type="subTitle"/>
          </p:nvPr>
        </p:nvSpPr>
        <p:spPr>
          <a:xfrm>
            <a:off x="6177106" y="3300625"/>
            <a:ext cx="2249100" cy="408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500"/>
              <a:t>Seminar, Expo, Podcasts</a:t>
            </a:r>
            <a:endParaRPr sz="1500"/>
          </a:p>
        </p:txBody>
      </p:sp>
      <p:grpSp>
        <p:nvGrpSpPr>
          <p:cNvPr id="823" name="Google Shape;823;p48"/>
          <p:cNvGrpSpPr/>
          <p:nvPr/>
        </p:nvGrpSpPr>
        <p:grpSpPr>
          <a:xfrm>
            <a:off x="875541" y="1222947"/>
            <a:ext cx="1933553" cy="572809"/>
            <a:chOff x="722025" y="875325"/>
            <a:chExt cx="4739100" cy="2772550"/>
          </a:xfrm>
        </p:grpSpPr>
        <p:cxnSp>
          <p:nvCxnSpPr>
            <p:cNvPr id="824" name="Google Shape;824;p48"/>
            <p:cNvCxnSpPr/>
            <p:nvPr/>
          </p:nvCxnSpPr>
          <p:spPr>
            <a:xfrm>
              <a:off x="722025" y="3647875"/>
              <a:ext cx="4739100" cy="0"/>
            </a:xfrm>
            <a:prstGeom prst="straightConnector1">
              <a:avLst/>
            </a:prstGeom>
            <a:noFill/>
            <a:ln cap="flat" cmpd="sng" w="9525">
              <a:solidFill>
                <a:schemeClr val="dk1"/>
              </a:solidFill>
              <a:prstDash val="solid"/>
              <a:round/>
              <a:headEnd len="med" w="med" type="none"/>
              <a:tailEnd len="med" w="med" type="none"/>
            </a:ln>
          </p:spPr>
        </p:cxnSp>
        <p:cxnSp>
          <p:nvCxnSpPr>
            <p:cNvPr id="825" name="Google Shape;825;p48"/>
            <p:cNvCxnSpPr/>
            <p:nvPr/>
          </p:nvCxnSpPr>
          <p:spPr>
            <a:xfrm>
              <a:off x="722025" y="875325"/>
              <a:ext cx="4739100" cy="0"/>
            </a:xfrm>
            <a:prstGeom prst="straightConnector1">
              <a:avLst/>
            </a:prstGeom>
            <a:noFill/>
            <a:ln cap="flat" cmpd="sng" w="9525">
              <a:solidFill>
                <a:schemeClr val="dk1"/>
              </a:solidFill>
              <a:prstDash val="solid"/>
              <a:round/>
              <a:headEnd len="med" w="med" type="none"/>
              <a:tailEnd len="med" w="med" type="none"/>
            </a:ln>
          </p:spPr>
        </p:cxnSp>
      </p:grpSp>
      <p:grpSp>
        <p:nvGrpSpPr>
          <p:cNvPr id="826" name="Google Shape;826;p48"/>
          <p:cNvGrpSpPr/>
          <p:nvPr/>
        </p:nvGrpSpPr>
        <p:grpSpPr>
          <a:xfrm>
            <a:off x="3607478" y="1222947"/>
            <a:ext cx="1933553" cy="572809"/>
            <a:chOff x="722025" y="875325"/>
            <a:chExt cx="4739100" cy="2772550"/>
          </a:xfrm>
        </p:grpSpPr>
        <p:cxnSp>
          <p:nvCxnSpPr>
            <p:cNvPr id="827" name="Google Shape;827;p48"/>
            <p:cNvCxnSpPr/>
            <p:nvPr/>
          </p:nvCxnSpPr>
          <p:spPr>
            <a:xfrm>
              <a:off x="722025" y="3647875"/>
              <a:ext cx="4739100" cy="0"/>
            </a:xfrm>
            <a:prstGeom prst="straightConnector1">
              <a:avLst/>
            </a:prstGeom>
            <a:noFill/>
            <a:ln cap="flat" cmpd="sng" w="9525">
              <a:solidFill>
                <a:schemeClr val="dk1"/>
              </a:solidFill>
              <a:prstDash val="solid"/>
              <a:round/>
              <a:headEnd len="med" w="med" type="none"/>
              <a:tailEnd len="med" w="med" type="none"/>
            </a:ln>
          </p:spPr>
        </p:cxnSp>
        <p:cxnSp>
          <p:nvCxnSpPr>
            <p:cNvPr id="828" name="Google Shape;828;p48"/>
            <p:cNvCxnSpPr/>
            <p:nvPr/>
          </p:nvCxnSpPr>
          <p:spPr>
            <a:xfrm>
              <a:off x="722025" y="875325"/>
              <a:ext cx="4739100" cy="0"/>
            </a:xfrm>
            <a:prstGeom prst="straightConnector1">
              <a:avLst/>
            </a:prstGeom>
            <a:noFill/>
            <a:ln cap="flat" cmpd="sng" w="9525">
              <a:solidFill>
                <a:schemeClr val="dk1"/>
              </a:solidFill>
              <a:prstDash val="solid"/>
              <a:round/>
              <a:headEnd len="med" w="med" type="none"/>
              <a:tailEnd len="med" w="med" type="none"/>
            </a:ln>
          </p:spPr>
        </p:cxnSp>
      </p:grpSp>
      <p:grpSp>
        <p:nvGrpSpPr>
          <p:cNvPr id="829" name="Google Shape;829;p48"/>
          <p:cNvGrpSpPr/>
          <p:nvPr/>
        </p:nvGrpSpPr>
        <p:grpSpPr>
          <a:xfrm>
            <a:off x="6339403" y="1222947"/>
            <a:ext cx="1933553" cy="572809"/>
            <a:chOff x="722025" y="875325"/>
            <a:chExt cx="4739100" cy="2772550"/>
          </a:xfrm>
        </p:grpSpPr>
        <p:cxnSp>
          <p:nvCxnSpPr>
            <p:cNvPr id="830" name="Google Shape;830;p48"/>
            <p:cNvCxnSpPr/>
            <p:nvPr/>
          </p:nvCxnSpPr>
          <p:spPr>
            <a:xfrm>
              <a:off x="722025" y="3647875"/>
              <a:ext cx="4739100" cy="0"/>
            </a:xfrm>
            <a:prstGeom prst="straightConnector1">
              <a:avLst/>
            </a:prstGeom>
            <a:noFill/>
            <a:ln cap="flat" cmpd="sng" w="9525">
              <a:solidFill>
                <a:schemeClr val="dk1"/>
              </a:solidFill>
              <a:prstDash val="solid"/>
              <a:round/>
              <a:headEnd len="med" w="med" type="none"/>
              <a:tailEnd len="med" w="med" type="none"/>
            </a:ln>
          </p:spPr>
        </p:cxnSp>
        <p:cxnSp>
          <p:nvCxnSpPr>
            <p:cNvPr id="831" name="Google Shape;831;p48"/>
            <p:cNvCxnSpPr/>
            <p:nvPr/>
          </p:nvCxnSpPr>
          <p:spPr>
            <a:xfrm>
              <a:off x="722025" y="875325"/>
              <a:ext cx="4739100" cy="0"/>
            </a:xfrm>
            <a:prstGeom prst="straightConnector1">
              <a:avLst/>
            </a:prstGeom>
            <a:noFill/>
            <a:ln cap="flat" cmpd="sng" w="9525">
              <a:solidFill>
                <a:schemeClr val="dk1"/>
              </a:solidFill>
              <a:prstDash val="solid"/>
              <a:round/>
              <a:headEnd len="med" w="med" type="none"/>
              <a:tailEnd len="med" w="med" type="none"/>
            </a:ln>
          </p:spPr>
        </p:cxnSp>
      </p:grpSp>
      <p:grpSp>
        <p:nvGrpSpPr>
          <p:cNvPr id="832" name="Google Shape;832;p48"/>
          <p:cNvGrpSpPr/>
          <p:nvPr/>
        </p:nvGrpSpPr>
        <p:grpSpPr>
          <a:xfrm>
            <a:off x="875541" y="3102422"/>
            <a:ext cx="1933553" cy="572809"/>
            <a:chOff x="722025" y="875325"/>
            <a:chExt cx="4739100" cy="2772550"/>
          </a:xfrm>
        </p:grpSpPr>
        <p:cxnSp>
          <p:nvCxnSpPr>
            <p:cNvPr id="833" name="Google Shape;833;p48"/>
            <p:cNvCxnSpPr/>
            <p:nvPr/>
          </p:nvCxnSpPr>
          <p:spPr>
            <a:xfrm>
              <a:off x="722025" y="3647875"/>
              <a:ext cx="4739100" cy="0"/>
            </a:xfrm>
            <a:prstGeom prst="straightConnector1">
              <a:avLst/>
            </a:prstGeom>
            <a:noFill/>
            <a:ln cap="flat" cmpd="sng" w="9525">
              <a:solidFill>
                <a:schemeClr val="dk1"/>
              </a:solidFill>
              <a:prstDash val="solid"/>
              <a:round/>
              <a:headEnd len="med" w="med" type="none"/>
              <a:tailEnd len="med" w="med" type="none"/>
            </a:ln>
          </p:spPr>
        </p:cxnSp>
        <p:cxnSp>
          <p:nvCxnSpPr>
            <p:cNvPr id="834" name="Google Shape;834;p48"/>
            <p:cNvCxnSpPr/>
            <p:nvPr/>
          </p:nvCxnSpPr>
          <p:spPr>
            <a:xfrm>
              <a:off x="722025" y="875325"/>
              <a:ext cx="4739100" cy="0"/>
            </a:xfrm>
            <a:prstGeom prst="straightConnector1">
              <a:avLst/>
            </a:prstGeom>
            <a:noFill/>
            <a:ln cap="flat" cmpd="sng" w="9525">
              <a:solidFill>
                <a:schemeClr val="dk1"/>
              </a:solidFill>
              <a:prstDash val="solid"/>
              <a:round/>
              <a:headEnd len="med" w="med" type="none"/>
              <a:tailEnd len="med" w="med" type="none"/>
            </a:ln>
          </p:spPr>
        </p:cxnSp>
      </p:grpSp>
      <p:grpSp>
        <p:nvGrpSpPr>
          <p:cNvPr id="835" name="Google Shape;835;p48"/>
          <p:cNvGrpSpPr/>
          <p:nvPr/>
        </p:nvGrpSpPr>
        <p:grpSpPr>
          <a:xfrm>
            <a:off x="3607478" y="3178622"/>
            <a:ext cx="1933553" cy="572809"/>
            <a:chOff x="722025" y="875325"/>
            <a:chExt cx="4739100" cy="2772550"/>
          </a:xfrm>
        </p:grpSpPr>
        <p:cxnSp>
          <p:nvCxnSpPr>
            <p:cNvPr id="836" name="Google Shape;836;p48"/>
            <p:cNvCxnSpPr/>
            <p:nvPr/>
          </p:nvCxnSpPr>
          <p:spPr>
            <a:xfrm>
              <a:off x="722025" y="3647875"/>
              <a:ext cx="4739100" cy="0"/>
            </a:xfrm>
            <a:prstGeom prst="straightConnector1">
              <a:avLst/>
            </a:prstGeom>
            <a:noFill/>
            <a:ln cap="flat" cmpd="sng" w="9525">
              <a:solidFill>
                <a:schemeClr val="dk1"/>
              </a:solidFill>
              <a:prstDash val="solid"/>
              <a:round/>
              <a:headEnd len="med" w="med" type="none"/>
              <a:tailEnd len="med" w="med" type="none"/>
            </a:ln>
          </p:spPr>
        </p:cxnSp>
        <p:cxnSp>
          <p:nvCxnSpPr>
            <p:cNvPr id="837" name="Google Shape;837;p48"/>
            <p:cNvCxnSpPr/>
            <p:nvPr/>
          </p:nvCxnSpPr>
          <p:spPr>
            <a:xfrm>
              <a:off x="722025" y="875325"/>
              <a:ext cx="4739100" cy="0"/>
            </a:xfrm>
            <a:prstGeom prst="straightConnector1">
              <a:avLst/>
            </a:prstGeom>
            <a:noFill/>
            <a:ln cap="flat" cmpd="sng" w="9525">
              <a:solidFill>
                <a:schemeClr val="dk1"/>
              </a:solidFill>
              <a:prstDash val="solid"/>
              <a:round/>
              <a:headEnd len="med" w="med" type="none"/>
              <a:tailEnd len="med" w="med" type="none"/>
            </a:ln>
          </p:spPr>
        </p:cxnSp>
      </p:grpSp>
      <p:grpSp>
        <p:nvGrpSpPr>
          <p:cNvPr id="838" name="Google Shape;838;p48"/>
          <p:cNvGrpSpPr/>
          <p:nvPr/>
        </p:nvGrpSpPr>
        <p:grpSpPr>
          <a:xfrm>
            <a:off x="6339403" y="3102422"/>
            <a:ext cx="1933553" cy="572809"/>
            <a:chOff x="722025" y="875325"/>
            <a:chExt cx="4739100" cy="2772550"/>
          </a:xfrm>
        </p:grpSpPr>
        <p:cxnSp>
          <p:nvCxnSpPr>
            <p:cNvPr id="839" name="Google Shape;839;p48"/>
            <p:cNvCxnSpPr/>
            <p:nvPr/>
          </p:nvCxnSpPr>
          <p:spPr>
            <a:xfrm>
              <a:off x="722025" y="3647875"/>
              <a:ext cx="4739100" cy="0"/>
            </a:xfrm>
            <a:prstGeom prst="straightConnector1">
              <a:avLst/>
            </a:prstGeom>
            <a:noFill/>
            <a:ln cap="flat" cmpd="sng" w="9525">
              <a:solidFill>
                <a:schemeClr val="dk1"/>
              </a:solidFill>
              <a:prstDash val="solid"/>
              <a:round/>
              <a:headEnd len="med" w="med" type="none"/>
              <a:tailEnd len="med" w="med" type="none"/>
            </a:ln>
          </p:spPr>
        </p:cxnSp>
        <p:cxnSp>
          <p:nvCxnSpPr>
            <p:cNvPr id="840" name="Google Shape;840;p48"/>
            <p:cNvCxnSpPr/>
            <p:nvPr/>
          </p:nvCxnSpPr>
          <p:spPr>
            <a:xfrm>
              <a:off x="722025" y="875325"/>
              <a:ext cx="47391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49"/>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Timeline to achieve Goals</a:t>
            </a:r>
            <a:endParaRPr>
              <a:highlight>
                <a:schemeClr val="accent1"/>
              </a:highlight>
            </a:endParaRPr>
          </a:p>
        </p:txBody>
      </p:sp>
      <p:sp>
        <p:nvSpPr>
          <p:cNvPr id="846" name="Google Shape;846;p49"/>
          <p:cNvSpPr txBox="1"/>
          <p:nvPr/>
        </p:nvSpPr>
        <p:spPr>
          <a:xfrm flipH="1">
            <a:off x="713125" y="2450277"/>
            <a:ext cx="18123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000">
                <a:solidFill>
                  <a:schemeClr val="dk1"/>
                </a:solidFill>
                <a:latin typeface="Unbounded"/>
                <a:ea typeface="Unbounded"/>
                <a:cs typeface="Unbounded"/>
                <a:sym typeface="Unbounded"/>
              </a:rPr>
              <a:t>1 month</a:t>
            </a:r>
            <a:endParaRPr b="1" sz="2000">
              <a:solidFill>
                <a:schemeClr val="dk1"/>
              </a:solidFill>
              <a:latin typeface="Unbounded"/>
              <a:ea typeface="Unbounded"/>
              <a:cs typeface="Unbounded"/>
              <a:sym typeface="Unbounded"/>
            </a:endParaRPr>
          </a:p>
        </p:txBody>
      </p:sp>
      <p:sp>
        <p:nvSpPr>
          <p:cNvPr id="847" name="Google Shape;847;p49"/>
          <p:cNvSpPr txBox="1"/>
          <p:nvPr/>
        </p:nvSpPr>
        <p:spPr>
          <a:xfrm flipH="1">
            <a:off x="713167" y="2907127"/>
            <a:ext cx="1812300" cy="31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Source Sans Pro"/>
                <a:ea typeface="Source Sans Pro"/>
                <a:cs typeface="Source Sans Pro"/>
                <a:sym typeface="Source Sans Pro"/>
              </a:rPr>
              <a:t>Build good and </a:t>
            </a:r>
            <a:r>
              <a:rPr lang="en" sz="1200">
                <a:solidFill>
                  <a:schemeClr val="dk1"/>
                </a:solidFill>
                <a:latin typeface="Source Sans Pro"/>
                <a:ea typeface="Source Sans Pro"/>
                <a:cs typeface="Source Sans Pro"/>
                <a:sym typeface="Source Sans Pro"/>
              </a:rPr>
              <a:t>authentic digital presence of all the social media handles as well as the website</a:t>
            </a:r>
            <a:endParaRPr sz="1200">
              <a:solidFill>
                <a:schemeClr val="dk1"/>
              </a:solidFill>
              <a:latin typeface="Source Sans Pro"/>
              <a:ea typeface="Source Sans Pro"/>
              <a:cs typeface="Source Sans Pro"/>
              <a:sym typeface="Source Sans Pro"/>
            </a:endParaRPr>
          </a:p>
        </p:txBody>
      </p:sp>
      <p:sp>
        <p:nvSpPr>
          <p:cNvPr id="848" name="Google Shape;848;p49"/>
          <p:cNvSpPr txBox="1"/>
          <p:nvPr/>
        </p:nvSpPr>
        <p:spPr>
          <a:xfrm flipH="1">
            <a:off x="2677025" y="2450277"/>
            <a:ext cx="18123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000">
                <a:solidFill>
                  <a:schemeClr val="dk1"/>
                </a:solidFill>
                <a:latin typeface="Unbounded"/>
                <a:ea typeface="Unbounded"/>
                <a:cs typeface="Unbounded"/>
                <a:sym typeface="Unbounded"/>
              </a:rPr>
              <a:t>3 month</a:t>
            </a:r>
            <a:endParaRPr b="1" sz="2000">
              <a:solidFill>
                <a:schemeClr val="dk1"/>
              </a:solidFill>
              <a:latin typeface="Unbounded"/>
              <a:ea typeface="Unbounded"/>
              <a:cs typeface="Unbounded"/>
              <a:sym typeface="Unbounded"/>
            </a:endParaRPr>
          </a:p>
        </p:txBody>
      </p:sp>
      <p:sp>
        <p:nvSpPr>
          <p:cNvPr id="849" name="Google Shape;849;p49"/>
          <p:cNvSpPr txBox="1"/>
          <p:nvPr/>
        </p:nvSpPr>
        <p:spPr>
          <a:xfrm flipH="1">
            <a:off x="2677067" y="2907127"/>
            <a:ext cx="1812300" cy="31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Source Sans Pro"/>
                <a:ea typeface="Source Sans Pro"/>
                <a:cs typeface="Source Sans Pro"/>
                <a:sym typeface="Source Sans Pro"/>
              </a:rPr>
              <a:t>Start converting the leads into sales </a:t>
            </a:r>
            <a:endParaRPr sz="1200">
              <a:solidFill>
                <a:schemeClr val="dk1"/>
              </a:solidFill>
              <a:latin typeface="Source Sans Pro"/>
              <a:ea typeface="Source Sans Pro"/>
              <a:cs typeface="Source Sans Pro"/>
              <a:sym typeface="Source Sans Pro"/>
            </a:endParaRPr>
          </a:p>
        </p:txBody>
      </p:sp>
      <p:sp>
        <p:nvSpPr>
          <p:cNvPr id="850" name="Google Shape;850;p49"/>
          <p:cNvSpPr txBox="1"/>
          <p:nvPr/>
        </p:nvSpPr>
        <p:spPr>
          <a:xfrm flipH="1">
            <a:off x="4640925" y="2450277"/>
            <a:ext cx="18123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000">
                <a:solidFill>
                  <a:schemeClr val="dk1"/>
                </a:solidFill>
                <a:latin typeface="Unbounded"/>
                <a:ea typeface="Unbounded"/>
                <a:cs typeface="Unbounded"/>
                <a:sym typeface="Unbounded"/>
              </a:rPr>
              <a:t>6 month</a:t>
            </a:r>
            <a:endParaRPr b="1" sz="2000">
              <a:solidFill>
                <a:schemeClr val="dk1"/>
              </a:solidFill>
              <a:latin typeface="Unbounded"/>
              <a:ea typeface="Unbounded"/>
              <a:cs typeface="Unbounded"/>
              <a:sym typeface="Unbounded"/>
            </a:endParaRPr>
          </a:p>
        </p:txBody>
      </p:sp>
      <p:sp>
        <p:nvSpPr>
          <p:cNvPr id="851" name="Google Shape;851;p49"/>
          <p:cNvSpPr txBox="1"/>
          <p:nvPr/>
        </p:nvSpPr>
        <p:spPr>
          <a:xfrm flipH="1">
            <a:off x="4640967" y="2907127"/>
            <a:ext cx="1812300" cy="31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Source Sans Pro"/>
                <a:ea typeface="Source Sans Pro"/>
                <a:cs typeface="Source Sans Pro"/>
                <a:sym typeface="Source Sans Pro"/>
              </a:rPr>
              <a:t>Maintain quality relationship with the new and existing clients</a:t>
            </a:r>
            <a:endParaRPr sz="1200">
              <a:solidFill>
                <a:schemeClr val="dk1"/>
              </a:solidFill>
              <a:latin typeface="Source Sans Pro"/>
              <a:ea typeface="Source Sans Pro"/>
              <a:cs typeface="Source Sans Pro"/>
              <a:sym typeface="Source Sans Pro"/>
            </a:endParaRPr>
          </a:p>
        </p:txBody>
      </p:sp>
      <p:sp>
        <p:nvSpPr>
          <p:cNvPr id="852" name="Google Shape;852;p49"/>
          <p:cNvSpPr txBox="1"/>
          <p:nvPr/>
        </p:nvSpPr>
        <p:spPr>
          <a:xfrm flipH="1">
            <a:off x="6604825" y="2450277"/>
            <a:ext cx="18123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000">
                <a:solidFill>
                  <a:schemeClr val="dk1"/>
                </a:solidFill>
                <a:latin typeface="Unbounded"/>
                <a:ea typeface="Unbounded"/>
                <a:cs typeface="Unbounded"/>
                <a:sym typeface="Unbounded"/>
              </a:rPr>
              <a:t>1 year</a:t>
            </a:r>
            <a:endParaRPr b="1" sz="2000">
              <a:solidFill>
                <a:schemeClr val="dk1"/>
              </a:solidFill>
              <a:latin typeface="Unbounded"/>
              <a:ea typeface="Unbounded"/>
              <a:cs typeface="Unbounded"/>
              <a:sym typeface="Unbounded"/>
            </a:endParaRPr>
          </a:p>
        </p:txBody>
      </p:sp>
      <p:sp>
        <p:nvSpPr>
          <p:cNvPr id="853" name="Google Shape;853;p49"/>
          <p:cNvSpPr txBox="1"/>
          <p:nvPr/>
        </p:nvSpPr>
        <p:spPr>
          <a:xfrm flipH="1">
            <a:off x="6604867" y="2907127"/>
            <a:ext cx="1812300" cy="31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Source Sans Pro"/>
                <a:ea typeface="Source Sans Pro"/>
                <a:cs typeface="Source Sans Pro"/>
                <a:sym typeface="Source Sans Pro"/>
              </a:rPr>
              <a:t>Represent</a:t>
            </a:r>
            <a:r>
              <a:rPr lang="en" sz="1200">
                <a:solidFill>
                  <a:schemeClr val="dk1"/>
                </a:solidFill>
                <a:latin typeface="Source Sans Pro"/>
                <a:ea typeface="Source Sans Pro"/>
                <a:cs typeface="Source Sans Pro"/>
                <a:sym typeface="Source Sans Pro"/>
              </a:rPr>
              <a:t> Client journey, look for new business opportunities and incorporate with the growing </a:t>
            </a:r>
            <a:r>
              <a:rPr lang="en" sz="1200">
                <a:solidFill>
                  <a:schemeClr val="dk1"/>
                </a:solidFill>
                <a:latin typeface="Source Sans Pro"/>
                <a:ea typeface="Source Sans Pro"/>
                <a:cs typeface="Source Sans Pro"/>
                <a:sym typeface="Source Sans Pro"/>
              </a:rPr>
              <a:t>technology</a:t>
            </a:r>
            <a:endParaRPr sz="1200">
              <a:solidFill>
                <a:schemeClr val="dk1"/>
              </a:solidFill>
              <a:latin typeface="Source Sans Pro"/>
              <a:ea typeface="Source Sans Pro"/>
              <a:cs typeface="Source Sans Pro"/>
              <a:sym typeface="Source Sans Pro"/>
            </a:endParaRPr>
          </a:p>
        </p:txBody>
      </p:sp>
      <p:sp>
        <p:nvSpPr>
          <p:cNvPr id="854" name="Google Shape;854;p49"/>
          <p:cNvSpPr/>
          <p:nvPr/>
        </p:nvSpPr>
        <p:spPr>
          <a:xfrm>
            <a:off x="1371476" y="1976425"/>
            <a:ext cx="495600" cy="495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49"/>
          <p:cNvSpPr/>
          <p:nvPr/>
        </p:nvSpPr>
        <p:spPr>
          <a:xfrm>
            <a:off x="3335376" y="1976425"/>
            <a:ext cx="495600" cy="495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6" name="Google Shape;856;p49"/>
          <p:cNvGrpSpPr/>
          <p:nvPr/>
        </p:nvGrpSpPr>
        <p:grpSpPr>
          <a:xfrm>
            <a:off x="3461854" y="2103690"/>
            <a:ext cx="242812" cy="241231"/>
            <a:chOff x="580725" y="3617925"/>
            <a:chExt cx="299325" cy="297375"/>
          </a:xfrm>
        </p:grpSpPr>
        <p:sp>
          <p:nvSpPr>
            <p:cNvPr id="857" name="Google Shape;857;p49"/>
            <p:cNvSpPr/>
            <p:nvPr/>
          </p:nvSpPr>
          <p:spPr>
            <a:xfrm>
              <a:off x="609075" y="3662050"/>
              <a:ext cx="51225" cy="51200"/>
            </a:xfrm>
            <a:custGeom>
              <a:rect b="b" l="l" r="r" t="t"/>
              <a:pathLst>
                <a:path extrusionOk="0" h="2048" w="2049">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49"/>
            <p:cNvSpPr/>
            <p:nvPr/>
          </p:nvSpPr>
          <p:spPr>
            <a:xfrm>
              <a:off x="668950" y="3617925"/>
              <a:ext cx="122875" cy="104475"/>
            </a:xfrm>
            <a:custGeom>
              <a:rect b="b" l="l" r="r" t="t"/>
              <a:pathLst>
                <a:path extrusionOk="0" h="4179" w="4915">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49"/>
            <p:cNvSpPr/>
            <p:nvPr/>
          </p:nvSpPr>
          <p:spPr>
            <a:xfrm>
              <a:off x="580725" y="3721900"/>
              <a:ext cx="141800" cy="192025"/>
            </a:xfrm>
            <a:custGeom>
              <a:rect b="b" l="l" r="r" t="t"/>
              <a:pathLst>
                <a:path extrusionOk="0" h="7681" w="5672">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49"/>
            <p:cNvSpPr/>
            <p:nvPr/>
          </p:nvSpPr>
          <p:spPr>
            <a:xfrm>
              <a:off x="800475" y="3662050"/>
              <a:ext cx="51225" cy="51200"/>
            </a:xfrm>
            <a:custGeom>
              <a:rect b="b" l="l" r="r" t="t"/>
              <a:pathLst>
                <a:path extrusionOk="0" h="2048" w="2049">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49"/>
            <p:cNvSpPr/>
            <p:nvPr/>
          </p:nvSpPr>
          <p:spPr>
            <a:xfrm>
              <a:off x="738250" y="3722700"/>
              <a:ext cx="141800" cy="192600"/>
            </a:xfrm>
            <a:custGeom>
              <a:rect b="b" l="l" r="r" t="t"/>
              <a:pathLst>
                <a:path extrusionOk="0" h="7704" w="5672">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2" name="Google Shape;862;p49"/>
          <p:cNvSpPr/>
          <p:nvPr/>
        </p:nvSpPr>
        <p:spPr>
          <a:xfrm>
            <a:off x="5299276" y="1976425"/>
            <a:ext cx="495600" cy="495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49"/>
          <p:cNvSpPr/>
          <p:nvPr/>
        </p:nvSpPr>
        <p:spPr>
          <a:xfrm>
            <a:off x="7263176" y="1976425"/>
            <a:ext cx="495600" cy="495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4" name="Google Shape;864;p49"/>
          <p:cNvCxnSpPr>
            <a:endCxn id="855" idx="1"/>
          </p:cNvCxnSpPr>
          <p:nvPr/>
        </p:nvCxnSpPr>
        <p:spPr>
          <a:xfrm>
            <a:off x="1867176" y="2224225"/>
            <a:ext cx="1468200" cy="0"/>
          </a:xfrm>
          <a:prstGeom prst="straightConnector1">
            <a:avLst/>
          </a:prstGeom>
          <a:noFill/>
          <a:ln cap="flat" cmpd="sng" w="9525">
            <a:solidFill>
              <a:schemeClr val="dk1"/>
            </a:solidFill>
            <a:prstDash val="solid"/>
            <a:round/>
            <a:headEnd len="med" w="med" type="none"/>
            <a:tailEnd len="med" w="med" type="none"/>
          </a:ln>
        </p:spPr>
      </p:cxnSp>
      <p:cxnSp>
        <p:nvCxnSpPr>
          <p:cNvPr id="865" name="Google Shape;865;p49"/>
          <p:cNvCxnSpPr>
            <a:stCxn id="855" idx="3"/>
            <a:endCxn id="862" idx="1"/>
          </p:cNvCxnSpPr>
          <p:nvPr/>
        </p:nvCxnSpPr>
        <p:spPr>
          <a:xfrm>
            <a:off x="3830976" y="2224225"/>
            <a:ext cx="1468200" cy="0"/>
          </a:xfrm>
          <a:prstGeom prst="straightConnector1">
            <a:avLst/>
          </a:prstGeom>
          <a:noFill/>
          <a:ln cap="flat" cmpd="sng" w="9525">
            <a:solidFill>
              <a:schemeClr val="dk1"/>
            </a:solidFill>
            <a:prstDash val="solid"/>
            <a:round/>
            <a:headEnd len="med" w="med" type="none"/>
            <a:tailEnd len="med" w="med" type="none"/>
          </a:ln>
        </p:spPr>
      </p:cxnSp>
      <p:cxnSp>
        <p:nvCxnSpPr>
          <p:cNvPr id="866" name="Google Shape;866;p49"/>
          <p:cNvCxnSpPr>
            <a:stCxn id="862" idx="3"/>
            <a:endCxn id="863" idx="1"/>
          </p:cNvCxnSpPr>
          <p:nvPr/>
        </p:nvCxnSpPr>
        <p:spPr>
          <a:xfrm>
            <a:off x="5794876" y="2224225"/>
            <a:ext cx="1468200" cy="0"/>
          </a:xfrm>
          <a:prstGeom prst="straightConnector1">
            <a:avLst/>
          </a:prstGeom>
          <a:noFill/>
          <a:ln cap="flat" cmpd="sng" w="9525">
            <a:solidFill>
              <a:schemeClr val="dk1"/>
            </a:solidFill>
            <a:prstDash val="solid"/>
            <a:round/>
            <a:headEnd len="med" w="med" type="none"/>
            <a:tailEnd len="med" w="med" type="none"/>
          </a:ln>
        </p:spPr>
      </p:cxnSp>
      <p:grpSp>
        <p:nvGrpSpPr>
          <p:cNvPr id="867" name="Google Shape;867;p49"/>
          <p:cNvGrpSpPr/>
          <p:nvPr/>
        </p:nvGrpSpPr>
        <p:grpSpPr>
          <a:xfrm>
            <a:off x="1492457" y="2098423"/>
            <a:ext cx="254338" cy="251626"/>
            <a:chOff x="581525" y="3254850"/>
            <a:chExt cx="297750" cy="294575"/>
          </a:xfrm>
        </p:grpSpPr>
        <p:sp>
          <p:nvSpPr>
            <p:cNvPr id="868" name="Google Shape;868;p49"/>
            <p:cNvSpPr/>
            <p:nvPr/>
          </p:nvSpPr>
          <p:spPr>
            <a:xfrm>
              <a:off x="616950" y="3358025"/>
              <a:ext cx="89025" cy="86650"/>
            </a:xfrm>
            <a:custGeom>
              <a:rect b="b" l="l" r="r" t="t"/>
              <a:pathLst>
                <a:path extrusionOk="0" h="3466" w="3561">
                  <a:moveTo>
                    <a:pt x="1797" y="0"/>
                  </a:moveTo>
                  <a:cubicBezTo>
                    <a:pt x="789" y="0"/>
                    <a:pt x="1" y="788"/>
                    <a:pt x="1" y="1733"/>
                  </a:cubicBezTo>
                  <a:cubicBezTo>
                    <a:pt x="1" y="2710"/>
                    <a:pt x="789" y="3466"/>
                    <a:pt x="1797" y="3466"/>
                  </a:cubicBezTo>
                  <a:cubicBezTo>
                    <a:pt x="2773" y="3466"/>
                    <a:pt x="3561" y="2710"/>
                    <a:pt x="3561" y="1733"/>
                  </a:cubicBezTo>
                  <a:cubicBezTo>
                    <a:pt x="3561" y="788"/>
                    <a:pt x="2773" y="0"/>
                    <a:pt x="17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49"/>
            <p:cNvSpPr/>
            <p:nvPr/>
          </p:nvSpPr>
          <p:spPr>
            <a:xfrm>
              <a:off x="721725" y="3254850"/>
              <a:ext cx="157550" cy="155975"/>
            </a:xfrm>
            <a:custGeom>
              <a:rect b="b" l="l" r="r" t="t"/>
              <a:pathLst>
                <a:path extrusionOk="0" h="6239" w="6302">
                  <a:moveTo>
                    <a:pt x="3151" y="1355"/>
                  </a:moveTo>
                  <a:cubicBezTo>
                    <a:pt x="3749" y="1355"/>
                    <a:pt x="4159" y="1827"/>
                    <a:pt x="4159" y="2363"/>
                  </a:cubicBezTo>
                  <a:cubicBezTo>
                    <a:pt x="4159" y="2773"/>
                    <a:pt x="3970" y="3119"/>
                    <a:pt x="3623" y="3277"/>
                  </a:cubicBezTo>
                  <a:cubicBezTo>
                    <a:pt x="3529" y="3308"/>
                    <a:pt x="3497" y="3434"/>
                    <a:pt x="3497" y="3560"/>
                  </a:cubicBezTo>
                  <a:cubicBezTo>
                    <a:pt x="3497" y="3749"/>
                    <a:pt x="3340" y="3907"/>
                    <a:pt x="3151" y="3907"/>
                  </a:cubicBezTo>
                  <a:cubicBezTo>
                    <a:pt x="2962" y="3907"/>
                    <a:pt x="2804" y="3749"/>
                    <a:pt x="2804" y="3560"/>
                  </a:cubicBezTo>
                  <a:cubicBezTo>
                    <a:pt x="2804" y="3151"/>
                    <a:pt x="2993" y="2836"/>
                    <a:pt x="3308" y="2647"/>
                  </a:cubicBezTo>
                  <a:cubicBezTo>
                    <a:pt x="3434" y="2552"/>
                    <a:pt x="3497" y="2458"/>
                    <a:pt x="3497" y="2332"/>
                  </a:cubicBezTo>
                  <a:cubicBezTo>
                    <a:pt x="3497" y="2143"/>
                    <a:pt x="3340" y="1953"/>
                    <a:pt x="3151" y="1953"/>
                  </a:cubicBezTo>
                  <a:cubicBezTo>
                    <a:pt x="2962" y="1953"/>
                    <a:pt x="2804" y="2143"/>
                    <a:pt x="2804" y="2332"/>
                  </a:cubicBezTo>
                  <a:cubicBezTo>
                    <a:pt x="2804" y="2521"/>
                    <a:pt x="2646" y="2678"/>
                    <a:pt x="2426" y="2678"/>
                  </a:cubicBezTo>
                  <a:cubicBezTo>
                    <a:pt x="2237" y="2678"/>
                    <a:pt x="2079" y="2521"/>
                    <a:pt x="2079" y="2332"/>
                  </a:cubicBezTo>
                  <a:cubicBezTo>
                    <a:pt x="2079" y="1827"/>
                    <a:pt x="2552" y="1355"/>
                    <a:pt x="3151" y="1355"/>
                  </a:cubicBezTo>
                  <a:close/>
                  <a:moveTo>
                    <a:pt x="3151" y="4096"/>
                  </a:moveTo>
                  <a:cubicBezTo>
                    <a:pt x="3340" y="4096"/>
                    <a:pt x="3497" y="4253"/>
                    <a:pt x="3497" y="4442"/>
                  </a:cubicBezTo>
                  <a:cubicBezTo>
                    <a:pt x="3497" y="4663"/>
                    <a:pt x="3340" y="4820"/>
                    <a:pt x="3151" y="4820"/>
                  </a:cubicBezTo>
                  <a:cubicBezTo>
                    <a:pt x="2962" y="4820"/>
                    <a:pt x="2804" y="4663"/>
                    <a:pt x="2804" y="4442"/>
                  </a:cubicBezTo>
                  <a:cubicBezTo>
                    <a:pt x="2804" y="4253"/>
                    <a:pt x="2962" y="4096"/>
                    <a:pt x="3151" y="4096"/>
                  </a:cubicBezTo>
                  <a:close/>
                  <a:moveTo>
                    <a:pt x="3182" y="0"/>
                  </a:moveTo>
                  <a:cubicBezTo>
                    <a:pt x="1481" y="0"/>
                    <a:pt x="63" y="1418"/>
                    <a:pt x="63" y="3119"/>
                  </a:cubicBezTo>
                  <a:cubicBezTo>
                    <a:pt x="63" y="3655"/>
                    <a:pt x="189" y="4159"/>
                    <a:pt x="473" y="4663"/>
                  </a:cubicBezTo>
                  <a:lnTo>
                    <a:pt x="32" y="5766"/>
                  </a:lnTo>
                  <a:cubicBezTo>
                    <a:pt x="0" y="5860"/>
                    <a:pt x="32" y="5986"/>
                    <a:pt x="126" y="6112"/>
                  </a:cubicBezTo>
                  <a:cubicBezTo>
                    <a:pt x="189" y="6175"/>
                    <a:pt x="347" y="6238"/>
                    <a:pt x="473" y="6238"/>
                  </a:cubicBezTo>
                  <a:lnTo>
                    <a:pt x="1764" y="5892"/>
                  </a:lnTo>
                  <a:cubicBezTo>
                    <a:pt x="2205" y="6144"/>
                    <a:pt x="2678" y="6238"/>
                    <a:pt x="3182" y="6238"/>
                  </a:cubicBezTo>
                  <a:cubicBezTo>
                    <a:pt x="4915" y="6238"/>
                    <a:pt x="6301" y="4789"/>
                    <a:pt x="6301" y="3119"/>
                  </a:cubicBezTo>
                  <a:cubicBezTo>
                    <a:pt x="6301" y="1386"/>
                    <a:pt x="4883" y="0"/>
                    <a:pt x="318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49"/>
            <p:cNvSpPr/>
            <p:nvPr/>
          </p:nvSpPr>
          <p:spPr>
            <a:xfrm>
              <a:off x="581525" y="3440725"/>
              <a:ext cx="157550" cy="108700"/>
            </a:xfrm>
            <a:custGeom>
              <a:rect b="b" l="l" r="r" t="t"/>
              <a:pathLst>
                <a:path extrusionOk="0" h="4348" w="6302">
                  <a:moveTo>
                    <a:pt x="1355" y="0"/>
                  </a:moveTo>
                  <a:cubicBezTo>
                    <a:pt x="567" y="567"/>
                    <a:pt x="0" y="1513"/>
                    <a:pt x="0" y="2584"/>
                  </a:cubicBezTo>
                  <a:lnTo>
                    <a:pt x="0" y="4001"/>
                  </a:lnTo>
                  <a:cubicBezTo>
                    <a:pt x="63" y="4190"/>
                    <a:pt x="221" y="4348"/>
                    <a:pt x="410" y="4348"/>
                  </a:cubicBezTo>
                  <a:lnTo>
                    <a:pt x="5955" y="4348"/>
                  </a:lnTo>
                  <a:cubicBezTo>
                    <a:pt x="6144" y="4348"/>
                    <a:pt x="6301" y="4190"/>
                    <a:pt x="6301" y="4001"/>
                  </a:cubicBezTo>
                  <a:lnTo>
                    <a:pt x="6301" y="2584"/>
                  </a:lnTo>
                  <a:cubicBezTo>
                    <a:pt x="6301" y="1513"/>
                    <a:pt x="5797" y="599"/>
                    <a:pt x="4978" y="0"/>
                  </a:cubicBezTo>
                  <a:cubicBezTo>
                    <a:pt x="4537" y="536"/>
                    <a:pt x="3875" y="851"/>
                    <a:pt x="3151" y="851"/>
                  </a:cubicBezTo>
                  <a:cubicBezTo>
                    <a:pt x="2458" y="851"/>
                    <a:pt x="1796" y="536"/>
                    <a:pt x="13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1" name="Google Shape;871;p49"/>
          <p:cNvGrpSpPr/>
          <p:nvPr/>
        </p:nvGrpSpPr>
        <p:grpSpPr>
          <a:xfrm>
            <a:off x="7384085" y="2098734"/>
            <a:ext cx="253676" cy="250985"/>
            <a:chOff x="946175" y="3619500"/>
            <a:chExt cx="296975" cy="293825"/>
          </a:xfrm>
        </p:grpSpPr>
        <p:sp>
          <p:nvSpPr>
            <p:cNvPr id="872" name="Google Shape;872;p49"/>
            <p:cNvSpPr/>
            <p:nvPr/>
          </p:nvSpPr>
          <p:spPr>
            <a:xfrm>
              <a:off x="963525" y="3619500"/>
              <a:ext cx="207950" cy="293825"/>
            </a:xfrm>
            <a:custGeom>
              <a:rect b="b" l="l" r="r" t="t"/>
              <a:pathLst>
                <a:path extrusionOk="0" h="11753" w="8318">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49"/>
            <p:cNvSpPr/>
            <p:nvPr/>
          </p:nvSpPr>
          <p:spPr>
            <a:xfrm>
              <a:off x="1185625" y="3688025"/>
              <a:ext cx="57525" cy="55950"/>
            </a:xfrm>
            <a:custGeom>
              <a:rect b="b" l="l" r="r" t="t"/>
              <a:pathLst>
                <a:path extrusionOk="0" h="2238" w="2301">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49"/>
            <p:cNvSpPr/>
            <p:nvPr/>
          </p:nvSpPr>
          <p:spPr>
            <a:xfrm>
              <a:off x="1088075" y="3795925"/>
              <a:ext cx="46375" cy="45025"/>
            </a:xfrm>
            <a:custGeom>
              <a:rect b="b" l="l" r="r" t="t"/>
              <a:pathLst>
                <a:path extrusionOk="0" h="1801" w="1855">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49"/>
            <p:cNvSpPr/>
            <p:nvPr/>
          </p:nvSpPr>
          <p:spPr>
            <a:xfrm>
              <a:off x="1112375" y="3720325"/>
              <a:ext cx="97700" cy="97700"/>
            </a:xfrm>
            <a:custGeom>
              <a:rect b="b" l="l" r="r" t="t"/>
              <a:pathLst>
                <a:path extrusionOk="0" h="3908" w="3908">
                  <a:moveTo>
                    <a:pt x="2426" y="1"/>
                  </a:moveTo>
                  <a:lnTo>
                    <a:pt x="1" y="2458"/>
                  </a:lnTo>
                  <a:lnTo>
                    <a:pt x="1450" y="3907"/>
                  </a:lnTo>
                  <a:lnTo>
                    <a:pt x="3907" y="1481"/>
                  </a:lnTo>
                  <a:lnTo>
                    <a:pt x="242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49"/>
            <p:cNvSpPr/>
            <p:nvPr/>
          </p:nvSpPr>
          <p:spPr>
            <a:xfrm>
              <a:off x="1120250" y="3623450"/>
              <a:ext cx="47275" cy="47275"/>
            </a:xfrm>
            <a:custGeom>
              <a:rect b="b" l="l" r="r" t="t"/>
              <a:pathLst>
                <a:path extrusionOk="0" h="1891" w="1891">
                  <a:moveTo>
                    <a:pt x="1" y="0"/>
                  </a:moveTo>
                  <a:lnTo>
                    <a:pt x="1" y="1891"/>
                  </a:lnTo>
                  <a:lnTo>
                    <a:pt x="1891" y="1891"/>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49"/>
            <p:cNvSpPr/>
            <p:nvPr/>
          </p:nvSpPr>
          <p:spPr>
            <a:xfrm>
              <a:off x="946175" y="3879425"/>
              <a:ext cx="166225" cy="33900"/>
            </a:xfrm>
            <a:custGeom>
              <a:rect b="b" l="l" r="r" t="t"/>
              <a:pathLst>
                <a:path extrusionOk="0" h="1356" w="6649">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8" name="Google Shape;878;p49"/>
          <p:cNvGrpSpPr/>
          <p:nvPr/>
        </p:nvGrpSpPr>
        <p:grpSpPr>
          <a:xfrm>
            <a:off x="5420520" y="2103702"/>
            <a:ext cx="252993" cy="252993"/>
            <a:chOff x="2037825" y="3254050"/>
            <a:chExt cx="296175" cy="296175"/>
          </a:xfrm>
        </p:grpSpPr>
        <p:sp>
          <p:nvSpPr>
            <p:cNvPr id="879" name="Google Shape;879;p49"/>
            <p:cNvSpPr/>
            <p:nvPr/>
          </p:nvSpPr>
          <p:spPr>
            <a:xfrm>
              <a:off x="2063825" y="3254050"/>
              <a:ext cx="86675" cy="86675"/>
            </a:xfrm>
            <a:custGeom>
              <a:rect b="b" l="l" r="r" t="t"/>
              <a:pathLst>
                <a:path extrusionOk="0" h="3467" w="3467">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49"/>
            <p:cNvSpPr/>
            <p:nvPr/>
          </p:nvSpPr>
          <p:spPr>
            <a:xfrm>
              <a:off x="2178025" y="3289500"/>
              <a:ext cx="104000" cy="67950"/>
            </a:xfrm>
            <a:custGeom>
              <a:rect b="b" l="l" r="r" t="t"/>
              <a:pathLst>
                <a:path extrusionOk="0" h="2718" w="416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49"/>
            <p:cNvSpPr/>
            <p:nvPr/>
          </p:nvSpPr>
          <p:spPr>
            <a:xfrm>
              <a:off x="2070125" y="3444225"/>
              <a:ext cx="106350" cy="69075"/>
            </a:xfrm>
            <a:custGeom>
              <a:rect b="b" l="l" r="r" t="t"/>
              <a:pathLst>
                <a:path extrusionOk="0" h="2763" w="4254">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49"/>
            <p:cNvSpPr/>
            <p:nvPr/>
          </p:nvSpPr>
          <p:spPr>
            <a:xfrm>
              <a:off x="2219775" y="3375350"/>
              <a:ext cx="89025" cy="85875"/>
            </a:xfrm>
            <a:custGeom>
              <a:rect b="b" l="l" r="r" t="t"/>
              <a:pathLst>
                <a:path extrusionOk="0" h="3435" w="3561">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49"/>
            <p:cNvSpPr/>
            <p:nvPr/>
          </p:nvSpPr>
          <p:spPr>
            <a:xfrm>
              <a:off x="2037825" y="3339125"/>
              <a:ext cx="138650" cy="88225"/>
            </a:xfrm>
            <a:custGeom>
              <a:rect b="b" l="l" r="r" t="t"/>
              <a:pathLst>
                <a:path extrusionOk="0" h="3529" w="5546">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49"/>
            <p:cNvSpPr/>
            <p:nvPr/>
          </p:nvSpPr>
          <p:spPr>
            <a:xfrm>
              <a:off x="2193775" y="3460400"/>
              <a:ext cx="140225" cy="89825"/>
            </a:xfrm>
            <a:custGeom>
              <a:rect b="b" l="l" r="r" t="t"/>
              <a:pathLst>
                <a:path extrusionOk="0" h="3593" w="5609">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50"/>
          <p:cNvSpPr txBox="1"/>
          <p:nvPr>
            <p:ph idx="1" type="subTitle"/>
          </p:nvPr>
        </p:nvSpPr>
        <p:spPr>
          <a:xfrm>
            <a:off x="552125" y="701950"/>
            <a:ext cx="8175300" cy="421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Karas Security</a:t>
            </a:r>
            <a:r>
              <a:rPr lang="en"/>
              <a:t>: Karas Security could benefit from a digital marketing strategy that focuses on </a:t>
            </a:r>
            <a:r>
              <a:rPr lang="en"/>
              <a:t>search</a:t>
            </a:r>
            <a:r>
              <a:rPr lang="en"/>
              <a:t> engine optimization (SEO), social media marketing, and email marketing. SEO can help improve their website's visibility on search engines, while social media and email marketing can help them reach out to potential clients and keep existing clients engaged.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Glen Group of Companies</a:t>
            </a:r>
            <a:r>
              <a:rPr lang="en"/>
              <a:t>: Glen Group of Companies could benefit from a digital marketing strategy that focuses on content marketing, social media marketing, and influencer marketing. Content marketing can help them establish themselves as thought leaders in their respective industries, while social media and influencer marketing can help them reach out to a wider audience and build brand awareness.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Glen Recruiters</a:t>
            </a:r>
            <a:r>
              <a:rPr lang="en"/>
              <a:t>: Glen Recruiters could benefit from a digital marketing strategy that focuses on search engine marketing (SEM), social media marketing, and email marketing. SEM can help them reach out to businesses who are actively looking for recruitment agencies, while social media and email marketing can help them build relationships with potential candidates and keep them engaged.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Glen Homes</a:t>
            </a:r>
            <a:r>
              <a:rPr lang="en"/>
              <a:t>: Glen Homes could benefit from a digital marketing strategy that focuses on content marketing, social media marketing, and email marketing. Content marketing can help them showcase their expertise in the construction industry, while social media and email marketing can help them reach out to potential clients and keep existing clients engaged.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Glen Traffic Solutions</a:t>
            </a:r>
            <a:r>
              <a:rPr lang="en"/>
              <a:t>: Glen Traffic Solutions could benefit from a digital marketing strategy that focuses on search engine optimization (SEO), social media marketing, and email marketing. SEO can help improve their website's visibility on search engines, while social media and email marketing can help them reach out to potential clients and keep existing clients engaged.</a:t>
            </a:r>
            <a:endParaRPr/>
          </a:p>
        </p:txBody>
      </p:sp>
      <p:sp>
        <p:nvSpPr>
          <p:cNvPr id="890" name="Google Shape;890;p50"/>
          <p:cNvSpPr txBox="1"/>
          <p:nvPr>
            <p:ph type="title"/>
          </p:nvPr>
        </p:nvSpPr>
        <p:spPr>
          <a:xfrm>
            <a:off x="2023500" y="292625"/>
            <a:ext cx="5260800" cy="424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Marketing Strategies</a:t>
            </a:r>
            <a:endParaRPr sz="2000">
              <a:highlight>
                <a:schemeClr val="accent1"/>
              </a:high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51"/>
          <p:cNvSpPr txBox="1"/>
          <p:nvPr>
            <p:ph type="title"/>
          </p:nvPr>
        </p:nvSpPr>
        <p:spPr>
          <a:xfrm>
            <a:off x="4169300" y="1980025"/>
            <a:ext cx="4469100" cy="9741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Resources</a:t>
            </a:r>
            <a:r>
              <a:rPr lang="en"/>
              <a:t> </a:t>
            </a:r>
            <a:endParaRPr>
              <a:highlight>
                <a:schemeClr val="accent1"/>
              </a:highlight>
            </a:endParaRPr>
          </a:p>
        </p:txBody>
      </p:sp>
      <p:sp>
        <p:nvSpPr>
          <p:cNvPr id="896" name="Google Shape;896;p51"/>
          <p:cNvSpPr txBox="1"/>
          <p:nvPr>
            <p:ph idx="2" type="title"/>
          </p:nvPr>
        </p:nvSpPr>
        <p:spPr>
          <a:xfrm>
            <a:off x="6832075" y="775850"/>
            <a:ext cx="1598700" cy="841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05</a:t>
            </a:r>
            <a:endParaRPr/>
          </a:p>
        </p:txBody>
      </p:sp>
      <p:pic>
        <p:nvPicPr>
          <p:cNvPr id="897" name="Google Shape;897;p51"/>
          <p:cNvPicPr preferRelativeResize="0"/>
          <p:nvPr>
            <p:ph idx="3" type="pic"/>
          </p:nvPr>
        </p:nvPicPr>
        <p:blipFill rotWithShape="1">
          <a:blip r:embed="rId3">
            <a:alphaModFix/>
          </a:blip>
          <a:srcRect b="0" l="33245" r="12967" t="0"/>
          <a:stretch/>
        </p:blipFill>
        <p:spPr>
          <a:xfrm>
            <a:off x="-377775" y="0"/>
            <a:ext cx="4150948" cy="5143501"/>
          </a:xfrm>
          <a:prstGeom prst="rect">
            <a:avLst/>
          </a:prstGeom>
        </p:spPr>
      </p:pic>
      <p:grpSp>
        <p:nvGrpSpPr>
          <p:cNvPr id="898" name="Google Shape;898;p51"/>
          <p:cNvGrpSpPr/>
          <p:nvPr/>
        </p:nvGrpSpPr>
        <p:grpSpPr>
          <a:xfrm>
            <a:off x="4529150" y="1853948"/>
            <a:ext cx="3749400" cy="1226242"/>
            <a:chOff x="4529150" y="1854000"/>
            <a:chExt cx="3749400" cy="2065075"/>
          </a:xfrm>
        </p:grpSpPr>
        <p:cxnSp>
          <p:nvCxnSpPr>
            <p:cNvPr id="899" name="Google Shape;899;p51"/>
            <p:cNvCxnSpPr/>
            <p:nvPr/>
          </p:nvCxnSpPr>
          <p:spPr>
            <a:xfrm>
              <a:off x="4529150" y="3919075"/>
              <a:ext cx="3749400" cy="0"/>
            </a:xfrm>
            <a:prstGeom prst="straightConnector1">
              <a:avLst/>
            </a:prstGeom>
            <a:noFill/>
            <a:ln cap="flat" cmpd="sng" w="9525">
              <a:solidFill>
                <a:schemeClr val="dk1"/>
              </a:solidFill>
              <a:prstDash val="solid"/>
              <a:round/>
              <a:headEnd len="med" w="med" type="none"/>
              <a:tailEnd len="med" w="med" type="none"/>
            </a:ln>
          </p:spPr>
        </p:cxnSp>
        <p:cxnSp>
          <p:nvCxnSpPr>
            <p:cNvPr id="900" name="Google Shape;900;p51"/>
            <p:cNvCxnSpPr/>
            <p:nvPr/>
          </p:nvCxnSpPr>
          <p:spPr>
            <a:xfrm>
              <a:off x="4529150" y="1854000"/>
              <a:ext cx="3749400" cy="0"/>
            </a:xfrm>
            <a:prstGeom prst="straightConnector1">
              <a:avLst/>
            </a:prstGeom>
            <a:noFill/>
            <a:ln cap="flat" cmpd="sng" w="9525">
              <a:solidFill>
                <a:schemeClr val="dk1"/>
              </a:solidFill>
              <a:prstDash val="solid"/>
              <a:round/>
              <a:headEnd len="med" w="med" type="none"/>
              <a:tailEnd len="med" w="med" type="none"/>
            </a:ln>
          </p:spPr>
        </p:cxnSp>
      </p:grpSp>
      <p:grpSp>
        <p:nvGrpSpPr>
          <p:cNvPr id="901" name="Google Shape;901;p51"/>
          <p:cNvGrpSpPr/>
          <p:nvPr/>
        </p:nvGrpSpPr>
        <p:grpSpPr>
          <a:xfrm rot="5400000">
            <a:off x="3534325" y="1221867"/>
            <a:ext cx="722516" cy="244823"/>
            <a:chOff x="3705500" y="1678600"/>
            <a:chExt cx="2458375" cy="1229650"/>
          </a:xfrm>
        </p:grpSpPr>
        <p:sp>
          <p:nvSpPr>
            <p:cNvPr id="902" name="Google Shape;902;p51"/>
            <p:cNvSpPr/>
            <p:nvPr/>
          </p:nvSpPr>
          <p:spPr>
            <a:xfrm>
              <a:off x="4551150" y="1678600"/>
              <a:ext cx="52425" cy="1229650"/>
            </a:xfrm>
            <a:custGeom>
              <a:rect b="b" l="l" r="r" t="t"/>
              <a:pathLst>
                <a:path extrusionOk="0" h="49186" w="2097">
                  <a:moveTo>
                    <a:pt x="1" y="1"/>
                  </a:moveTo>
                  <a:lnTo>
                    <a:pt x="1" y="49186"/>
                  </a:lnTo>
                  <a:lnTo>
                    <a:pt x="2096" y="49186"/>
                  </a:lnTo>
                  <a:lnTo>
                    <a:pt x="20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51"/>
            <p:cNvSpPr/>
            <p:nvPr/>
          </p:nvSpPr>
          <p:spPr>
            <a:xfrm>
              <a:off x="4128175" y="1678600"/>
              <a:ext cx="29800" cy="1229650"/>
            </a:xfrm>
            <a:custGeom>
              <a:rect b="b" l="l" r="r" t="t"/>
              <a:pathLst>
                <a:path extrusionOk="0" h="49186" w="1192">
                  <a:moveTo>
                    <a:pt x="1" y="1"/>
                  </a:moveTo>
                  <a:lnTo>
                    <a:pt x="1" y="49186"/>
                  </a:lnTo>
                  <a:lnTo>
                    <a:pt x="1191" y="49186"/>
                  </a:lnTo>
                  <a:lnTo>
                    <a:pt x="11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51"/>
            <p:cNvSpPr/>
            <p:nvPr/>
          </p:nvSpPr>
          <p:spPr>
            <a:xfrm>
              <a:off x="4339525" y="1678600"/>
              <a:ext cx="41400" cy="1229650"/>
            </a:xfrm>
            <a:custGeom>
              <a:rect b="b" l="l" r="r" t="t"/>
              <a:pathLst>
                <a:path extrusionOk="0" h="49186" w="1656">
                  <a:moveTo>
                    <a:pt x="0" y="1"/>
                  </a:moveTo>
                  <a:lnTo>
                    <a:pt x="0" y="49186"/>
                  </a:lnTo>
                  <a:lnTo>
                    <a:pt x="1655" y="49186"/>
                  </a:lnTo>
                  <a:lnTo>
                    <a:pt x="16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51"/>
            <p:cNvSpPr/>
            <p:nvPr/>
          </p:nvSpPr>
          <p:spPr>
            <a:xfrm>
              <a:off x="3916850" y="1678600"/>
              <a:ext cx="18175" cy="1229650"/>
            </a:xfrm>
            <a:custGeom>
              <a:rect b="b" l="l" r="r" t="t"/>
              <a:pathLst>
                <a:path extrusionOk="0" h="49186" w="727">
                  <a:moveTo>
                    <a:pt x="0" y="1"/>
                  </a:moveTo>
                  <a:lnTo>
                    <a:pt x="0" y="49186"/>
                  </a:lnTo>
                  <a:lnTo>
                    <a:pt x="727" y="49186"/>
                  </a:lnTo>
                  <a:lnTo>
                    <a:pt x="7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51"/>
            <p:cNvSpPr/>
            <p:nvPr/>
          </p:nvSpPr>
          <p:spPr>
            <a:xfrm>
              <a:off x="3705500" y="1678600"/>
              <a:ext cx="6575" cy="1229650"/>
            </a:xfrm>
            <a:custGeom>
              <a:rect b="b" l="l" r="r" t="t"/>
              <a:pathLst>
                <a:path extrusionOk="0" h="49186" w="263">
                  <a:moveTo>
                    <a:pt x="1" y="1"/>
                  </a:moveTo>
                  <a:lnTo>
                    <a:pt x="1" y="49186"/>
                  </a:lnTo>
                  <a:lnTo>
                    <a:pt x="263" y="49186"/>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51"/>
            <p:cNvSpPr/>
            <p:nvPr/>
          </p:nvSpPr>
          <p:spPr>
            <a:xfrm>
              <a:off x="4762500" y="1678600"/>
              <a:ext cx="64000" cy="1229650"/>
            </a:xfrm>
            <a:custGeom>
              <a:rect b="b" l="l" r="r" t="t"/>
              <a:pathLst>
                <a:path extrusionOk="0" h="49186" w="2560">
                  <a:moveTo>
                    <a:pt x="0" y="1"/>
                  </a:moveTo>
                  <a:lnTo>
                    <a:pt x="0" y="49186"/>
                  </a:lnTo>
                  <a:lnTo>
                    <a:pt x="2560" y="49186"/>
                  </a:lnTo>
                  <a:lnTo>
                    <a:pt x="25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51"/>
            <p:cNvSpPr/>
            <p:nvPr/>
          </p:nvSpPr>
          <p:spPr>
            <a:xfrm>
              <a:off x="5607825" y="1678600"/>
              <a:ext cx="110175" cy="1229650"/>
            </a:xfrm>
            <a:custGeom>
              <a:rect b="b" l="l" r="r" t="t"/>
              <a:pathLst>
                <a:path extrusionOk="0" h="49186" w="4407">
                  <a:moveTo>
                    <a:pt x="1" y="1"/>
                  </a:moveTo>
                  <a:lnTo>
                    <a:pt x="1" y="49186"/>
                  </a:lnTo>
                  <a:lnTo>
                    <a:pt x="4406" y="49186"/>
                  </a:lnTo>
                  <a:lnTo>
                    <a:pt x="44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51"/>
            <p:cNvSpPr/>
            <p:nvPr/>
          </p:nvSpPr>
          <p:spPr>
            <a:xfrm>
              <a:off x="5819175" y="1678600"/>
              <a:ext cx="121750" cy="1229650"/>
            </a:xfrm>
            <a:custGeom>
              <a:rect b="b" l="l" r="r" t="t"/>
              <a:pathLst>
                <a:path extrusionOk="0" h="49186" w="4870">
                  <a:moveTo>
                    <a:pt x="0" y="1"/>
                  </a:moveTo>
                  <a:lnTo>
                    <a:pt x="0" y="49186"/>
                  </a:lnTo>
                  <a:lnTo>
                    <a:pt x="4870" y="49186"/>
                  </a:lnTo>
                  <a:lnTo>
                    <a:pt x="48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51"/>
            <p:cNvSpPr/>
            <p:nvPr/>
          </p:nvSpPr>
          <p:spPr>
            <a:xfrm>
              <a:off x="4973825" y="1678600"/>
              <a:ext cx="75625" cy="1229650"/>
            </a:xfrm>
            <a:custGeom>
              <a:rect b="b" l="l" r="r" t="t"/>
              <a:pathLst>
                <a:path extrusionOk="0" h="49186" w="3025">
                  <a:moveTo>
                    <a:pt x="0" y="1"/>
                  </a:moveTo>
                  <a:lnTo>
                    <a:pt x="0" y="49186"/>
                  </a:lnTo>
                  <a:lnTo>
                    <a:pt x="3025" y="49186"/>
                  </a:lnTo>
                  <a:lnTo>
                    <a:pt x="30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51"/>
            <p:cNvSpPr/>
            <p:nvPr/>
          </p:nvSpPr>
          <p:spPr>
            <a:xfrm>
              <a:off x="6030500" y="1678600"/>
              <a:ext cx="133375" cy="1229650"/>
            </a:xfrm>
            <a:custGeom>
              <a:rect b="b" l="l" r="r" t="t"/>
              <a:pathLst>
                <a:path extrusionOk="0" h="49186" w="5335">
                  <a:moveTo>
                    <a:pt x="1" y="1"/>
                  </a:moveTo>
                  <a:lnTo>
                    <a:pt x="1" y="49186"/>
                  </a:lnTo>
                  <a:lnTo>
                    <a:pt x="5335" y="49186"/>
                  </a:lnTo>
                  <a:lnTo>
                    <a:pt x="5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51"/>
            <p:cNvSpPr/>
            <p:nvPr/>
          </p:nvSpPr>
          <p:spPr>
            <a:xfrm>
              <a:off x="5185150" y="1678600"/>
              <a:ext cx="87250" cy="1229650"/>
            </a:xfrm>
            <a:custGeom>
              <a:rect b="b" l="l" r="r" t="t"/>
              <a:pathLst>
                <a:path extrusionOk="0" h="49186" w="3490">
                  <a:moveTo>
                    <a:pt x="1" y="1"/>
                  </a:moveTo>
                  <a:lnTo>
                    <a:pt x="1" y="49186"/>
                  </a:lnTo>
                  <a:lnTo>
                    <a:pt x="3489" y="49186"/>
                  </a:lnTo>
                  <a:lnTo>
                    <a:pt x="34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51"/>
            <p:cNvSpPr/>
            <p:nvPr/>
          </p:nvSpPr>
          <p:spPr>
            <a:xfrm>
              <a:off x="5396500" y="1678600"/>
              <a:ext cx="98850" cy="1229650"/>
            </a:xfrm>
            <a:custGeom>
              <a:rect b="b" l="l" r="r" t="t"/>
              <a:pathLst>
                <a:path extrusionOk="0" h="49186" w="3954">
                  <a:moveTo>
                    <a:pt x="0" y="1"/>
                  </a:moveTo>
                  <a:lnTo>
                    <a:pt x="0" y="49186"/>
                  </a:lnTo>
                  <a:lnTo>
                    <a:pt x="3953" y="49186"/>
                  </a:lnTo>
                  <a:lnTo>
                    <a:pt x="39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4" name="Google Shape;914;p51"/>
          <p:cNvGrpSpPr/>
          <p:nvPr/>
        </p:nvGrpSpPr>
        <p:grpSpPr>
          <a:xfrm>
            <a:off x="3773174" y="4336446"/>
            <a:ext cx="807124" cy="807049"/>
            <a:chOff x="-2484951" y="3375496"/>
            <a:chExt cx="807124" cy="807049"/>
          </a:xfrm>
        </p:grpSpPr>
        <p:grpSp>
          <p:nvGrpSpPr>
            <p:cNvPr id="915" name="Google Shape;915;p51"/>
            <p:cNvGrpSpPr/>
            <p:nvPr/>
          </p:nvGrpSpPr>
          <p:grpSpPr>
            <a:xfrm>
              <a:off x="-2484951" y="3375496"/>
              <a:ext cx="403560" cy="403560"/>
              <a:chOff x="-2182000" y="2460775"/>
              <a:chExt cx="1679400" cy="1679400"/>
            </a:xfrm>
          </p:grpSpPr>
          <p:sp>
            <p:nvSpPr>
              <p:cNvPr id="916" name="Google Shape;916;p51"/>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7" name="Google Shape;917;p51"/>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918" name="Google Shape;918;p51"/>
            <p:cNvGrpSpPr/>
            <p:nvPr/>
          </p:nvGrpSpPr>
          <p:grpSpPr>
            <a:xfrm>
              <a:off x="-2081387" y="3375496"/>
              <a:ext cx="403560" cy="403560"/>
              <a:chOff x="-2182000" y="2460775"/>
              <a:chExt cx="1679400" cy="1679400"/>
            </a:xfrm>
          </p:grpSpPr>
          <p:sp>
            <p:nvSpPr>
              <p:cNvPr id="919" name="Google Shape;919;p51"/>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0" name="Google Shape;920;p51"/>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921" name="Google Shape;921;p51"/>
            <p:cNvGrpSpPr/>
            <p:nvPr/>
          </p:nvGrpSpPr>
          <p:grpSpPr>
            <a:xfrm>
              <a:off x="-2484951" y="3778985"/>
              <a:ext cx="403560" cy="403560"/>
              <a:chOff x="-2182000" y="2460775"/>
              <a:chExt cx="1679400" cy="1679400"/>
            </a:xfrm>
          </p:grpSpPr>
          <p:sp>
            <p:nvSpPr>
              <p:cNvPr id="922" name="Google Shape;922;p51"/>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3" name="Google Shape;923;p51"/>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nvGrpSpPr>
            <p:cNvPr id="924" name="Google Shape;924;p51"/>
            <p:cNvGrpSpPr/>
            <p:nvPr/>
          </p:nvGrpSpPr>
          <p:grpSpPr>
            <a:xfrm>
              <a:off x="-2081387" y="3778985"/>
              <a:ext cx="403560" cy="403560"/>
              <a:chOff x="-2182000" y="2460775"/>
              <a:chExt cx="1679400" cy="1679400"/>
            </a:xfrm>
          </p:grpSpPr>
          <p:sp>
            <p:nvSpPr>
              <p:cNvPr id="925" name="Google Shape;925;p51"/>
              <p:cNvSpPr/>
              <p:nvPr/>
            </p:nvSpPr>
            <p:spPr>
              <a:xfrm>
                <a:off x="-2178850" y="2463925"/>
                <a:ext cx="1673100" cy="167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6" name="Google Shape;926;p51"/>
              <p:cNvCxnSpPr/>
              <p:nvPr/>
            </p:nvCxnSpPr>
            <p:spPr>
              <a:xfrm>
                <a:off x="-2182000" y="2460775"/>
                <a:ext cx="1679400" cy="167940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52"/>
          <p:cNvSpPr txBox="1"/>
          <p:nvPr>
            <p:ph idx="1" type="subTitle"/>
          </p:nvPr>
        </p:nvSpPr>
        <p:spPr>
          <a:xfrm>
            <a:off x="881475" y="701950"/>
            <a:ext cx="7846200" cy="421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Digital Marketing - Security Guard Services in Canada. https://www.karasgroup.ca/services/digital-marketing/.</a:t>
            </a:r>
            <a:endParaRPr/>
          </a:p>
          <a:p>
            <a:pPr indent="0" lvl="0" marL="0" rtl="0" algn="l">
              <a:spcBef>
                <a:spcPts val="0"/>
              </a:spcBef>
              <a:spcAft>
                <a:spcPts val="0"/>
              </a:spcAft>
              <a:buNone/>
            </a:pPr>
            <a:r>
              <a:rPr lang="en"/>
              <a:t>(2) Unlocking Success: The Inspiring Journey of Glen Group of Companies .... https://glengroup.ca/blog/unlocking-success-the-inspiring-journey-of-glen-group-of-companies/.</a:t>
            </a:r>
            <a:endParaRPr/>
          </a:p>
          <a:p>
            <a:pPr indent="0" lvl="0" marL="0" rtl="0" algn="l">
              <a:spcBef>
                <a:spcPts val="0"/>
              </a:spcBef>
              <a:spcAft>
                <a:spcPts val="0"/>
              </a:spcAft>
              <a:buNone/>
            </a:pPr>
            <a:r>
              <a:rPr lang="en"/>
              <a:t>(3) The Ultimate Guide to Marketing Strategies &amp; How to Improve Your .... https://blog.hubspot.com/marketing/digital-strategy-guide.</a:t>
            </a:r>
            <a:endParaRPr/>
          </a:p>
          <a:p>
            <a:pPr indent="0" lvl="0" marL="0" rtl="0" algn="l">
              <a:spcBef>
                <a:spcPts val="0"/>
              </a:spcBef>
              <a:spcAft>
                <a:spcPts val="0"/>
              </a:spcAft>
              <a:buNone/>
            </a:pPr>
            <a:r>
              <a:rPr lang="en"/>
              <a:t>(4) About Us – Glen Homes. https://glenhomes.ca/about-us/.</a:t>
            </a:r>
            <a:endParaRPr/>
          </a:p>
          <a:p>
            <a:pPr indent="0" lvl="0" marL="0" rtl="0" algn="l">
              <a:spcBef>
                <a:spcPts val="0"/>
              </a:spcBef>
              <a:spcAft>
                <a:spcPts val="0"/>
              </a:spcAft>
              <a:buNone/>
            </a:pPr>
            <a:r>
              <a:rPr lang="en"/>
              <a:t>(5) Unlock Your Hiring Success with the Best Employment Agency in canada!. https://glenrecruiters.ca/.</a:t>
            </a:r>
            <a:endParaRPr/>
          </a:p>
          <a:p>
            <a:pPr indent="0" lvl="0" marL="0" rtl="0" algn="l">
              <a:spcBef>
                <a:spcPts val="0"/>
              </a:spcBef>
              <a:spcAft>
                <a:spcPts val="0"/>
              </a:spcAft>
              <a:buNone/>
            </a:pPr>
            <a:r>
              <a:rPr lang="en"/>
              <a:t>(6) About Karas Security | Company Providing Security Services. https://www.karasgroup.ca/about-us/.</a:t>
            </a:r>
            <a:endParaRPr/>
          </a:p>
          <a:p>
            <a:pPr indent="0" lvl="0" marL="0" rtl="0" algn="l">
              <a:spcBef>
                <a:spcPts val="0"/>
              </a:spcBef>
              <a:spcAft>
                <a:spcPts val="0"/>
              </a:spcAft>
              <a:buNone/>
            </a:pPr>
            <a:r>
              <a:rPr lang="en"/>
              <a:t>(7) Unlock Security Excellence with Karas: Your Trusted Security Company. https://www.karasgroup.ca/.</a:t>
            </a:r>
            <a:endParaRPr/>
          </a:p>
          <a:p>
            <a:pPr indent="0" lvl="0" marL="0" rtl="0" algn="l">
              <a:spcBef>
                <a:spcPts val="0"/>
              </a:spcBef>
              <a:spcAft>
                <a:spcPts val="0"/>
              </a:spcAft>
              <a:buNone/>
            </a:pPr>
            <a:r>
              <a:rPr lang="en"/>
              <a:t>(8) Exploring Successful Group of Companies: A Case Study - glengroup.ca. https://glengroup.ca/blog/exploring-successful-group-of-companies-a-case-study/.</a:t>
            </a:r>
            <a:endParaRPr/>
          </a:p>
          <a:p>
            <a:pPr indent="0" lvl="0" marL="0" rtl="0" algn="l">
              <a:spcBef>
                <a:spcPts val="0"/>
              </a:spcBef>
              <a:spcAft>
                <a:spcPts val="0"/>
              </a:spcAft>
              <a:buNone/>
            </a:pPr>
            <a:r>
              <a:rPr lang="en"/>
              <a:t>(9) Glen Group Of Companies - About Us. https://glengroup.ca/about/.</a:t>
            </a:r>
            <a:endParaRPr/>
          </a:p>
          <a:p>
            <a:pPr indent="0" lvl="0" marL="0" rtl="0" algn="l">
              <a:spcBef>
                <a:spcPts val="0"/>
              </a:spcBef>
              <a:spcAft>
                <a:spcPts val="0"/>
              </a:spcAft>
              <a:buNone/>
            </a:pPr>
            <a:r>
              <a:rPr lang="en"/>
              <a:t>(10) Unparalleled Traffic Management Solutions | Trusted Experts. https://glentraffic.ca/.</a:t>
            </a:r>
            <a:endParaRPr/>
          </a:p>
          <a:p>
            <a:pPr indent="0" lvl="0" marL="0" rtl="0" algn="l">
              <a:spcBef>
                <a:spcPts val="0"/>
              </a:spcBef>
              <a:spcAft>
                <a:spcPts val="0"/>
              </a:spcAft>
              <a:buNone/>
            </a:pPr>
            <a:r>
              <a:rPr lang="en"/>
              <a:t>(11) About Us - Glen Traffic Solutions Inc.. https://glentraffic.ca/about-us/.</a:t>
            </a:r>
            <a:endParaRPr/>
          </a:p>
          <a:p>
            <a:pPr indent="0" lvl="0" marL="0" rtl="0" algn="l">
              <a:spcBef>
                <a:spcPts val="0"/>
              </a:spcBef>
              <a:spcAft>
                <a:spcPts val="0"/>
              </a:spcAft>
              <a:buNone/>
            </a:pPr>
            <a:r>
              <a:rPr lang="en"/>
              <a:t>(12) The Ultimate Guide to Efficient - glentraffic.ca. https://glentraffic.ca/the-ultimate-guide-to-efficient-traffic-management-services/.</a:t>
            </a:r>
            <a:endParaRPr/>
          </a:p>
          <a:p>
            <a:pPr indent="0" lvl="0" marL="0" rtl="0" algn="l">
              <a:spcBef>
                <a:spcPts val="0"/>
              </a:spcBef>
              <a:spcAft>
                <a:spcPts val="0"/>
              </a:spcAft>
              <a:buNone/>
            </a:pPr>
            <a:r>
              <a:rPr lang="en"/>
              <a:t>(13) About Us - Glen Recruiters. https://glenrecruiters.ca/about-us/.</a:t>
            </a:r>
            <a:endParaRPr/>
          </a:p>
          <a:p>
            <a:pPr indent="0" lvl="0" marL="0" rtl="0" algn="l">
              <a:spcBef>
                <a:spcPts val="0"/>
              </a:spcBef>
              <a:spcAft>
                <a:spcPts val="0"/>
              </a:spcAft>
              <a:buNone/>
            </a:pPr>
            <a:r>
              <a:rPr lang="en"/>
              <a:t>(14) Executive Hiring: Transforming Businesses with Top Talent - Glen Recruiters. https://glenrecruiters.ca/service/executive-hiring/.</a:t>
            </a:r>
            <a:endParaRPr/>
          </a:p>
          <a:p>
            <a:pPr indent="0" lvl="0" marL="0" rtl="0" algn="l">
              <a:spcBef>
                <a:spcPts val="0"/>
              </a:spcBef>
              <a:spcAft>
                <a:spcPts val="0"/>
              </a:spcAft>
              <a:buNone/>
            </a:pPr>
            <a:r>
              <a:rPr lang="en"/>
              <a:t>(15) Digital Marketing Strategies: 11 Essential Marketing Tips. https://business.adobe.com/blog/basics/digital-marketing-strategy.</a:t>
            </a:r>
            <a:endParaRPr/>
          </a:p>
          <a:p>
            <a:pPr indent="0" lvl="0" marL="0" rtl="0" algn="l">
              <a:spcBef>
                <a:spcPts val="0"/>
              </a:spcBef>
              <a:spcAft>
                <a:spcPts val="0"/>
              </a:spcAft>
              <a:buNone/>
            </a:pPr>
            <a:r>
              <a:rPr lang="en"/>
              <a:t>(16) Glen Homes – Home Renovation Experts. </a:t>
            </a:r>
            <a:r>
              <a:rPr lang="en" u="sng">
                <a:solidFill>
                  <a:schemeClr val="hlink"/>
                </a:solidFill>
                <a:hlinkClick r:id="rId3"/>
              </a:rPr>
              <a:t>https://glenhomes.ca/</a:t>
            </a:r>
            <a:r>
              <a:rPr lang="en"/>
              <a:t>.</a:t>
            </a:r>
            <a:endParaRPr/>
          </a:p>
          <a:p>
            <a:pPr indent="0" lvl="0" marL="0" rtl="0" algn="l">
              <a:spcBef>
                <a:spcPts val="0"/>
              </a:spcBef>
              <a:spcAft>
                <a:spcPts val="0"/>
              </a:spcAft>
              <a:buNone/>
            </a:pPr>
            <a:r>
              <a:rPr lang="en"/>
              <a:t>(17) SEOptimer.com</a:t>
            </a:r>
            <a:endParaRPr/>
          </a:p>
        </p:txBody>
      </p:sp>
      <p:sp>
        <p:nvSpPr>
          <p:cNvPr id="932" name="Google Shape;932;p52"/>
          <p:cNvSpPr txBox="1"/>
          <p:nvPr>
            <p:ph type="title"/>
          </p:nvPr>
        </p:nvSpPr>
        <p:spPr>
          <a:xfrm>
            <a:off x="2023500" y="292625"/>
            <a:ext cx="5260800" cy="424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Resources:</a:t>
            </a:r>
            <a:endParaRPr sz="2000">
              <a:highlight>
                <a:schemeClr val="accent1"/>
              </a:high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53"/>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938" name="Google Shape;938;p53"/>
          <p:cNvSpPr txBox="1"/>
          <p:nvPr/>
        </p:nvSpPr>
        <p:spPr>
          <a:xfrm>
            <a:off x="1929013" y="1388400"/>
            <a:ext cx="5286000" cy="82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800">
                <a:solidFill>
                  <a:srgbClr val="3A3A3A"/>
                </a:solidFill>
                <a:latin typeface="Domine"/>
                <a:ea typeface="Domine"/>
                <a:cs typeface="Domine"/>
                <a:sym typeface="Domine"/>
              </a:rPr>
              <a:t>Do you have any questions?</a:t>
            </a:r>
            <a:endParaRPr i="1" sz="1800">
              <a:solidFill>
                <a:srgbClr val="3A3A3A"/>
              </a:solidFill>
              <a:latin typeface="Domine"/>
              <a:ea typeface="Domine"/>
              <a:cs typeface="Domine"/>
              <a:sym typeface="Domine"/>
            </a:endParaRPr>
          </a:p>
          <a:p>
            <a:pPr indent="0" lvl="0" marL="0" rtl="0" algn="ctr">
              <a:spcBef>
                <a:spcPts val="1000"/>
              </a:spcBef>
              <a:spcAft>
                <a:spcPts val="0"/>
              </a:spcAft>
              <a:buNone/>
            </a:pPr>
            <a:r>
              <a:rPr lang="en" sz="1200">
                <a:solidFill>
                  <a:srgbClr val="3A3A3A"/>
                </a:solidFill>
                <a:latin typeface="Albert Sans"/>
                <a:ea typeface="Albert Sans"/>
                <a:cs typeface="Albert Sans"/>
                <a:sym typeface="Albert Sans"/>
              </a:rPr>
              <a:t>srijan.web3@gmail.com | +919179585554| </a:t>
            </a:r>
            <a:endParaRPr sz="1200">
              <a:solidFill>
                <a:srgbClr val="3A3A3A"/>
              </a:solidFill>
              <a:latin typeface="Albert Sans"/>
              <a:ea typeface="Albert Sans"/>
              <a:cs typeface="Albert Sans"/>
              <a:sym typeface="Albert Sans"/>
            </a:endParaRPr>
          </a:p>
        </p:txBody>
      </p:sp>
      <p:pic>
        <p:nvPicPr>
          <p:cNvPr id="939" name="Google Shape;939;p53"/>
          <p:cNvPicPr preferRelativeResize="0"/>
          <p:nvPr/>
        </p:nvPicPr>
        <p:blipFill>
          <a:blip r:embed="rId3">
            <a:alphaModFix/>
          </a:blip>
          <a:stretch>
            <a:fillRect/>
          </a:stretch>
        </p:blipFill>
        <p:spPr>
          <a:xfrm>
            <a:off x="3272313" y="2483500"/>
            <a:ext cx="2599375" cy="2097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mproving Conversation and Teamwork in the Company by Slidesgo">
  <a:themeElements>
    <a:clrScheme name="Simple Light">
      <a:dk1>
        <a:srgbClr val="1B1B1B"/>
      </a:dk1>
      <a:lt1>
        <a:srgbClr val="EFEFEF"/>
      </a:lt1>
      <a:dk2>
        <a:srgbClr val="999999"/>
      </a:dk2>
      <a:lt2>
        <a:srgbClr val="666666"/>
      </a:lt2>
      <a:accent1>
        <a:srgbClr val="C3F07B"/>
      </a:accent1>
      <a:accent2>
        <a:srgbClr val="FFFFFF"/>
      </a:accent2>
      <a:accent3>
        <a:srgbClr val="FFFFFF"/>
      </a:accent3>
      <a:accent4>
        <a:srgbClr val="FFFFFF"/>
      </a:accent4>
      <a:accent5>
        <a:srgbClr val="FFFFFF"/>
      </a:accent5>
      <a:accent6>
        <a:srgbClr val="FFFFFF"/>
      </a:accent6>
      <a:hlink>
        <a:srgbClr val="1B1B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